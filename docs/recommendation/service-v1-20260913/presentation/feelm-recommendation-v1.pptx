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33a38fe2d4ddf" /><Relationship Type="http://schemas.openxmlformats.org/officeDocument/2006/relationships/extended-properties" Target="/docProps/app.xml" Id="R0a3ddf2681ea455e" /><Relationship Type="http://schemas.openxmlformats.org/officeDocument/2006/relationships/officeDocument" Target="/ppt/presentation.xml" Id="Rd8aa94560c64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ed99304e9d4e86"/>
  </p:sldMasterIdLst>
  <p:notesMasterIdLst>
    <p:notesMasterId xmlns:r="http://schemas.openxmlformats.org/officeDocument/2006/relationships" r:id="R7a6fea6cdc0348da"/>
  </p:notesMasterIdLst>
  <p:sldIdLst>
    <p:sldId xmlns:r="http://schemas.openxmlformats.org/officeDocument/2006/relationships" id="256" r:id="Rb59876bc37124b0e"/>
    <p:sldId xmlns:r="http://schemas.openxmlformats.org/officeDocument/2006/relationships" id="257" r:id="R2bc07d5b06894cff"/>
    <p:sldId xmlns:r="http://schemas.openxmlformats.org/officeDocument/2006/relationships" id="258" r:id="R5f22bd41c4ad401d"/>
    <p:sldId xmlns:r="http://schemas.openxmlformats.org/officeDocument/2006/relationships" id="259" r:id="R993a8b5079c643fe"/>
    <p:sldId xmlns:r="http://schemas.openxmlformats.org/officeDocument/2006/relationships" id="260" r:id="R43d3a56e04364b5e"/>
    <p:sldId xmlns:r="http://schemas.openxmlformats.org/officeDocument/2006/relationships" id="261" r:id="R209f10d2be2043f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99998e6b94325" /><Relationship Type="http://schemas.openxmlformats.org/officeDocument/2006/relationships/slideMaster" Target="/ppt/slideMasters/slideMaster1.xml" Id="Re2ed99304e9d4e86" /><Relationship Type="http://schemas.openxmlformats.org/officeDocument/2006/relationships/notesMaster" Target="/ppt/notesMasters/notesMaster1.xml" Id="R7a6fea6cdc0348da" /><Relationship Type="http://schemas.openxmlformats.org/officeDocument/2006/relationships/presProps" Target="/ppt/presProps.xml" Id="Rc164a832be364b43" /><Relationship Type="http://schemas.openxmlformats.org/officeDocument/2006/relationships/tableStyles" Target="/ppt/tableStyles.xml" Id="R7c3826b9479c40b3" /><Relationship Type="http://schemas.openxmlformats.org/officeDocument/2006/relationships/slide" Target="/ppt/slides/slide1.xml" Id="Rb59876bc37124b0e" /><Relationship Type="http://schemas.openxmlformats.org/officeDocument/2006/relationships/slide" Target="/ppt/slides/slide2.xml" Id="R2bc07d5b06894cff" /><Relationship Type="http://schemas.openxmlformats.org/officeDocument/2006/relationships/slide" Target="/ppt/slides/slide3.xml" Id="R5f22bd41c4ad401d" /><Relationship Type="http://schemas.openxmlformats.org/officeDocument/2006/relationships/slide" Target="/ppt/slides/slide4.xml" Id="R993a8b5079c643fe" /><Relationship Type="http://schemas.openxmlformats.org/officeDocument/2006/relationships/slide" Target="/ppt/slides/slide5.xml" Id="R43d3a56e04364b5e" /><Relationship Type="http://schemas.openxmlformats.org/officeDocument/2006/relationships/slide" Target="/ppt/slides/slide6.xml" Id="R209f10d2be2043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69e777349e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63180a6c244a5" /><Relationship Type="http://schemas.openxmlformats.org/officeDocument/2006/relationships/notesMaster" Target="/ppt/notesMasters/notesMaster1.xml" Id="Ra5b8a4a1391c49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e71b4db793460a" /><Relationship Type="http://schemas.openxmlformats.org/officeDocument/2006/relationships/notesMaster" Target="/ppt/notesMasters/notesMaster1.xml" Id="R708dbd4871054a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f7a732482a499e" /><Relationship Type="http://schemas.openxmlformats.org/officeDocument/2006/relationships/notesMaster" Target="/ppt/notesMasters/notesMaster1.xml" Id="R2db0b9faca724c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1600af43af4977" /><Relationship Type="http://schemas.openxmlformats.org/officeDocument/2006/relationships/notesMaster" Target="/ppt/notesMasters/notesMaster1.xml" Id="R64ebde6582844b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c7ce4c2b8a4d5b" /><Relationship Type="http://schemas.openxmlformats.org/officeDocument/2006/relationships/notesMaster" Target="/ppt/notesMasters/notesMaster1.xml" Id="Rb71f2813435546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a59bff39b47ea" /><Relationship Type="http://schemas.openxmlformats.org/officeDocument/2006/relationships/notesMaster" Target="/ppt/notesMasters/notesMaster1.xml" Id="R02e1eb2caeae42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연구 자료. KOBIS 국적별 역대 관객 Top200 선택표본. 한국 사용자 전체로 일반화하지 않는다.</a:t>
            </a:r>
          </a:p>
          <a:p xmlns:a="http://schemas.openxmlformats.org/drawingml/2006/main">
            <a:r>
              <a:t>C:/higher/projects/FEELM-standalone/outputs/recommendation-evidence/tmdb-kobis-v1-20260913/summary.json</a:t>
            </a:r>
          </a:p>
          <a:p xmlns:a="http://schemas.openxmlformats.org/drawingml/2006/main">
            <a:r>
              <a:t>C:\higher\projects\FEELM-standalone\docs\research\tmdb-kobis-v1-20260913\data\coverage.csv</a:t>
            </a:r>
          </a:p>
          <a:p xmlns:a="http://schemas.openxmlformats.org/drawingml/2006/main">
            <a:r>
              <a:t>C:\higher\projects\FEELM-standalone\docs\research\tmdb-kobis-v1-20260913\data\count-and-rating-relations.csv</a:t>
            </a:r>
          </a:p>
          <a:p xmlns:a="http://schemas.openxmlformats.org/drawingml/2006/main">
            <a:r>
              <a:t>C:\higher\projects\FEELM-standalone\docs\research\tmdb-kobis-v1-20260913\data\between-film-rating-distributions.csv</a:t>
            </a:r>
          </a:p>
          <a:p xmlns:a="http://schemas.openxmlformats.org/drawingml/2006/main">
            <a:r>
              <a:t>C:\higher\projects\FEELM-standalone\docs\research\tmdb-kobis-v1-20260913\data\within-film-ml-sd-distributions.csv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연구 자료. KOBIS 국적별 역대 관객 Top200 선택표본. 한국 사용자 전체로 일반화하지 않는다.</a:t>
            </a:r>
          </a:p>
          <a:p xmlns:a="http://schemas.openxmlformats.org/drawingml/2006/main">
            <a:r>
              <a:t>새 편집용 차트 workbook은 비율을 표시 정밀도인 소수 둘째 자리로 반올림한다. 원정밀도는 연결된 CSV에 보존한다.</a:t>
            </a:r>
          </a:p>
          <a:p xmlns:a="http://schemas.openxmlformats.org/drawingml/2006/main">
            <a:r>
              <a:t>C:/higher/projects/FEELM-standalone/outputs/recommendation-evidence/tmdb-kobis-v1-20260913/summary.json</a:t>
            </a:r>
          </a:p>
          <a:p xmlns:a="http://schemas.openxmlformats.org/drawingml/2006/main">
            <a:r>
              <a:t>C:\higher\projects\FEELM-standalone\docs\research\tmdb-kobis-v1-20260913\data\coverage.csv</a:t>
            </a:r>
          </a:p>
          <a:p xmlns:a="http://schemas.openxmlformats.org/drawingml/2006/main">
            <a:r>
              <a:t>C:\higher\projects\FEELM-standalone\docs\research\tmdb-kobis-v1-20260913\data\count-and-rating-relations.csv</a:t>
            </a:r>
          </a:p>
          <a:p xmlns:a="http://schemas.openxmlformats.org/drawingml/2006/main">
            <a:r>
              <a:t>C:\higher\projects\FEELM-standalone\docs\research\tmdb-kobis-v1-20260913\data\between-film-rating-distributions.csv</a:t>
            </a:r>
          </a:p>
          <a:p xmlns:a="http://schemas.openxmlformats.org/drawingml/2006/main">
            <a:r>
              <a:t>C:\higher\projects\FEELM-standalone\docs\research\tmdb-kobis-v1-20260913\data\within-film-ml-sd-distributions.csv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연구 자료. KOBIS 국적별 역대 관객 Top200 선택표본. 한국 사용자 전체로 일반화하지 않는다.</a:t>
            </a:r>
          </a:p>
          <a:p xmlns:a="http://schemas.openxmlformats.org/drawingml/2006/main">
            <a:r>
              <a:t>C:/higher/projects/FEELM-standalone/outputs/recommendation-evidence/tmdb-kobis-v1-20260913/summary.json</a:t>
            </a:r>
          </a:p>
          <a:p xmlns:a="http://schemas.openxmlformats.org/drawingml/2006/main">
            <a:r>
              <a:t>C:\higher\projects\FEELM-standalone\docs\research\tmdb-kobis-v1-20260913\data\coverage.csv</a:t>
            </a:r>
          </a:p>
          <a:p xmlns:a="http://schemas.openxmlformats.org/drawingml/2006/main">
            <a:r>
              <a:t>C:\higher\projects\FEELM-standalone\docs\research\tmdb-kobis-v1-20260913\data\count-and-rating-relations.csv</a:t>
            </a:r>
          </a:p>
          <a:p xmlns:a="http://schemas.openxmlformats.org/drawingml/2006/main">
            <a:r>
              <a:t>C:\higher\projects\FEELM-standalone\docs\research\tmdb-kobis-v1-20260913\data\between-film-rating-distributions.csv</a:t>
            </a:r>
          </a:p>
          <a:p xmlns:a="http://schemas.openxmlformats.org/drawingml/2006/main">
            <a:r>
              <a:t>C:\higher\projects\FEELM-standalone\docs\research\tmdb-kobis-v1-20260913\data\within-film-ml-sd-distributions.csv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C:/higher/projects/FEELM-standalone/docs/recommendation/experiments/final344/RESULT.md §2,3,6</a:t>
            </a:r>
          </a:p>
          <a:p xmlns:a="http://schemas.openxmlformats.org/drawingml/2006/main">
            <a:r>
              <a:t>C:/higher/projects/FEELM-standalone/docs/recommendation/service-v1-20260913/README.md</a:t>
            </a:r>
          </a:p>
          <a:p xmlns:a="http://schemas.openxmlformats.org/drawingml/2006/main">
            <a:r>
              <a:t>같은 입력 4,997,069행 RH230. cap10. FM/GBT의 98.75% paired bootstrap CI는 0을 포함했다. 카탈로그 첫2편 대부분은 UNKNOWN. 분포 차이는 GBT의 서비스 우위를 직접 증명하지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C:/higher/projects/FEELM-standalone/docs/recommendation/service-v1-20260913/POLICY.md</a:t>
            </a:r>
          </a:p>
          <a:p xmlns:a="http://schemas.openxmlformats.org/drawingml/2006/main">
            <a:r>
              <a:t>C:/higher/projects/FEELM-standalone/docs/recommendation/service-v1-20260913/OPERATIONS.md</a:t>
            </a:r>
          </a:p>
          <a:p xmlns:a="http://schemas.openxmlformats.org/drawingml/2006/main">
            <a:r>
              <a:t>C:/higher/projects/FEELM-standalone/docs/recommendation/service-v1-20260913/config.v1.json</a:t>
            </a:r>
          </a:p>
          <a:p xmlns:a="http://schemas.openxmlformats.org/drawingml/2006/main">
            <a:r>
              <a:t>중간 Top100 절단 없음. 사용자 변경 시 기존 후보 membership을 현재 입력으로 재채점하면서 targeted 후보 갱신 요청. 새 KOBIS245열 모델 활성화에는 학습 및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C:/higher/projects/FEELM-standalone/docs/recommendation/service-v1-20260913/POLICY.md</a:t>
            </a:r>
          </a:p>
          <a:p xmlns:a="http://schemas.openxmlformats.org/drawingml/2006/main">
            <a:r>
              <a:t>C:/higher/projects/FEELM-standalone/docs/recommendation/service-v1-20260913/config.v1.json</a:t>
            </a:r>
          </a:p>
          <a:p xmlns:a="http://schemas.openxmlformats.org/drawingml/2006/main">
            <a:r>
              <a:t>공급 그룹 최대10, 그룹당최대10. 빈 그룹은 공급으로 세지 않고 부분 공급 그룹은1개로 센다. source별 gate 통과 rank만 사용. 추천 자격은 이력 선택/실제 별점 저장에 적용하지 않는다. 발견 소진 시 실제 유형을 표시하며 맞춤으로 보충한다.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213146d9949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495e6e6aa46ff" /><Relationship Type="http://schemas.openxmlformats.org/officeDocument/2006/relationships/slideLayout" Target="/ppt/slideLayouts/slideLayout1.xml" Id="Rb72afd23136b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2afd23136b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f10b59afb425d" /><Relationship Type="http://schemas.openxmlformats.org/officeDocument/2006/relationships/notesSlide" Target="/ppt/notesSlides/notesSlide1.xml" Id="Rb00e340146d9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98f6176a04027" /><Relationship Type="http://schemas.openxmlformats.org/officeDocument/2006/relationships/chart" Target="/ppt/slides/charts/chart1.xml" Id="R704838dfe8e847e5" /><Relationship Type="http://schemas.openxmlformats.org/officeDocument/2006/relationships/chart" Target="/ppt/slides/charts/chart2.xml" Id="R08c1b32b1bb34b7c" /><Relationship Type="http://schemas.openxmlformats.org/officeDocument/2006/relationships/notesSlide" Target="/ppt/notesSlides/notesSlide2.xml" Id="R3a30168ec15d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bf53083694a46" /><Relationship Type="http://schemas.openxmlformats.org/officeDocument/2006/relationships/notesSlide" Target="/ppt/notesSlides/notesSlide3.xml" Id="R58076bf8f68b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cf4c56e784ce1" /><Relationship Type="http://schemas.openxmlformats.org/officeDocument/2006/relationships/notesSlide" Target="/ppt/notesSlides/notesSlide4.xml" Id="R4792e7055e2f46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83357e29b493d" /><Relationship Type="http://schemas.openxmlformats.org/officeDocument/2006/relationships/notesSlide" Target="/ppt/notesSlides/notesSlide5.xml" Id="R6312b73107dd45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26c9aa34c479c" /><Relationship Type="http://schemas.openxmlformats.org/officeDocument/2006/relationships/notesSlide" Target="/ppt/notesSlides/notesSlide6.xml" Id="Ra870d3db260642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 투표 수 중앙값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827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TMDB 투표 수 중앙값</c:v>
          </c:tx>
          <c:spPr>
            <a:solidFill xmlns:a="http://schemas.openxmlformats.org/drawingml/2006/main">
              <a:srgbClr val="5575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7A2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575A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한국영화
(n=181)</c:v>
                </c:pt>
                <c:pt idx="1">
                  <c:v>외국영화
(n=190)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143</c:v>
                </c:pt>
                <c:pt idx="1">
                  <c:v>11693.5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82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CE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관객 100만 명당 투표 수 중앙값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827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관객 100만 명당 투표 수 중앙값</c:v>
          </c:tx>
          <c:spPr>
            <a:solidFill xmlns:a="http://schemas.openxmlformats.org/drawingml/2006/main">
              <a:srgbClr val="5575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7A2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575A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한국영화
(n=181)</c:v>
                </c:pt>
                <c:pt idx="1">
                  <c:v>외국영화
(n=190)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28.27</c:v>
                </c:pt>
                <c:pt idx="1">
                  <c:v>3281.66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11827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82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CE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0FBF4-5E8C-4873-A19E-2A10C37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TMDB와 KOBIS가 기록하는 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47767-2B85-4B14-87DF-F8F16C3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평균평점과 투표 수, 국내 극장 관객 수의 관측 범위를 구분한다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25A0D-7E38-4826-A8CD-40C5E46F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KOBIS 2026-09-13 조회, TMDB 2026-09-09 서비스 스냅샷. 같은 관객·같은 시점의 기록은 아니다.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06015-3128-4081-959D-C388062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137160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5810250"/>
                <a:gridCol w="5715000"/>
              </a:tblGrid>
              <a:tr h="889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관측하는 값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 범위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TMDB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영화 평균평점과 투표 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플랫폼에 남은 평가 기록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KOBIS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누적 극장 관객 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극장에서의 관람 규모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B5F6C-628C-4A74-A831-CF504DE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371편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ED29A-B8C4-4687-816C-8A9BFEB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34150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두 출처를 연결한 영화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한국 181편, 외국 190편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1D084-EEDF-4280-95ED-4E55685D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292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5575AD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5575AD"/>
                </a:solidFill>
                <a:latin typeface="Malgun Gothic"/>
                <a:ea typeface="Malgun Gothic"/>
                <a:cs typeface="Malgun Gothic"/>
              </a:rPr>
              <a:t>92.75%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985AA-C8F6-4AEC-91E3-451CE789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34150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KOBIS Top200씩 총 400편 중 연결 비율</a:t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 서비스 카탈로그의 연결률과는 분모가 다름</a:t>
            </a:r>
          </a:p>
        </p:txBody>
      </p:sp>
    </p:spTree>
    <p:extLst>
      <p:ext uri="{BB962C8B-B14F-4D97-AF65-F5344CB8AC3E}">
        <p14:creationId xmlns:p14="http://schemas.microsoft.com/office/powerpoint/2010/main" val="2139668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00DA1-DD6B-4D43-89E8-C72ABAD2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관객 규모에 비해 남은 TMDB 투표 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AEC90-0038-422D-8EAA-624C22E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국적별 관객 Top200에 연결된 371편의 영화별 중앙값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C178C-2800-4E4E-9F03-D09B67F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관객 100만 명당 투표 수는 기록량 비율이다. 투표 참여율이나 같은 사람의 평가 확률로 해석하지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570FF-DDA7-4996-B790-BC544835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6810375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4838dfe8e847e5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905750" y="2190750"/>
          <a:ext xmlns:a="http://schemas.openxmlformats.org/drawingml/2006/main" cx="6715125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1b32b1bb34b7c"/>
          </a:graphicData>
        </a:graphic>
      </p:graphicFrame>
    </p:spTree>
    <p:extLst>
      <p:ext uri="{BB962C8B-B14F-4D97-AF65-F5344CB8AC3E}">
        <p14:creationId xmlns:p14="http://schemas.microsoft.com/office/powerpoint/2010/main" val="2001115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A4364-F157-4F45-A34C-42531EE7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영화 평균의 차이와 영화 안의 의견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FAF02-4FF9-4249-AF21-061780C0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평균평점의 표준편차와 개별 별점의 표준편차를 구분한다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59802-DBA6-4255-8DD2-60149333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영화 평균의 SD는 영화마다 평균이 얼마나 다른지 나타낸다. 같은 영화에 대한 관객 의견의 분산을 대신하지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AFEF8-E35B-490C-BBA6-C43CD1F4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13716000" cy="3067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048500"/>
                <a:gridCol w="3333750"/>
                <a:gridCol w="3333750"/>
              </a:tblGrid>
              <a:tr h="10223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대상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TMDB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MovieLens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영화 간 평균평점 SD</a:t>
                      </a:r>
                    </a:p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337편, 한 영화 한 표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0.445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영화 안 개별별점 SD의 중앙값</a:t>
                      </a:r>
                    </a:p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2개 이상 334편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투표 분포 미관측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0.956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68CF4-07FB-4938-BCDC-F1DDAFA1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371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 평균은 10점을 2로 나눠 5점 눈금으로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259A4-DC32-494F-A08C-CBAD5A4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371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눈금 변환만 수행했다. 두 플랫폼의 평가 성향이 같아졌다는 뜻은 아니다.</a:t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KOBIS 관객 수로는 만족도나 개인 평점의 SD를 계산할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542238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58831-65D4-4784-8D03-777846A6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GBT를 기본으로, FM·ALS는 비교 모델로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99768-1999-4EDC-B73E-213DA77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서비스 입력 특성과 기존 개발 비교를 고려해 GBT를 v1 기본 모델로 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B3338-B0B9-4270-B077-331FAAC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기존 RH230, 3 seed. MSE 124명, NDCG@2 117명. 새 KOBIS245열 모델은 아직 학습 전이다.</a:t>
            </a:r>
          </a:p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고유 영화 수는 첫2편 248슬롯 기준. 대부분 정답 미관측으로 서비스 만족도 우위는 확인하지 못했다.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C801D-7E93-4113-9AB1-71C8B0BF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162175"/>
          <a:ext xmlns:a="http://schemas.openxmlformats.org/drawingml/2006/main" cx="13716000" cy="2819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905750"/>
                <a:gridCol w="2905125"/>
                <a:gridCol w="2905125"/>
              </a:tblGrid>
              <a:tr h="7048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개발 비교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FM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GBT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MSE (낮을수록 좋음)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0.6890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0.6793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NDCG@2 (높을수록 좋음)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0.8373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0.8359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카탈로그 첫2편의 고유 영화 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31~34편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120~182편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A8510-4681-4ACD-9E4C-532875C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FM과 GBT의 확실한 통계적 승자는 확인하지 못했다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62447-B451-4761-8414-E91625D2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GBT는 ALS factor가 없는 영화도 특징이 있으면 계산한다.</a:t>
            </a:r>
          </a:p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FM·ALS를 같은 요청에서 별도로 비교하고, ALS 자동 혼합은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59506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6DAA6-E726-4E53-91D4-AD120796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맞춤 후보 500편을 재정렬해 2편 제공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2D428-28E8-4A87-A83F-8E4CEB3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개인화 가능한 사용자의 배치 후보를 현재 입력으로 다시 채점한다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0097A-29D3-4227-9339-E037F266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v1 구현 기준이며 서비스 연결은 아직 구현 전이다.</a:t>
            </a:r>
          </a:p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500편, K10, 최신 원본10편은 운영 기본값이다. 후보 수와 전환점의 최적성을 검증한 수치는 아니다.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A9ED2-4C91-4475-8711-F3C4DCB7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162175"/>
          <a:ext xmlns:a="http://schemas.openxmlformats.org/drawingml/2006/main" cx="137160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7620000"/>
                <a:gridCol w="2667000"/>
              </a:tblGrid>
              <a:tr h="79771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편수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개인화 후보 배치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적격 카탈로그를 GBT로 채점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500편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입력으로 재정렬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원본10편과 사용자 반응을 반영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500편 전부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응답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제외와 세션 중복을 다시 확인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맞춤 2편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06500-89E6-4C66-B076-0EA873BA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371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실제 별점 10편부터 개인화, 10편 미만은 초기 추천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13D4-3AFC-40AD-B6D5-88E5879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00825"/>
            <a:ext cx="1371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10편 미만은 콘텐츠·대중 순위로 시작한다. 온보딩 선호는 별도로 반영한다.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입력 변경 시 재정렬과 후보 재생성을 함께 진행한다.</a:t>
            </a:r>
          </a:p>
        </p:txBody>
      </p:sp>
    </p:spTree>
    <p:extLst>
      <p:ext uri="{BB962C8B-B14F-4D97-AF65-F5344CB8AC3E}">
        <p14:creationId xmlns:p14="http://schemas.microsoft.com/office/powerpoint/2010/main" val="868569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B7C7B-3CA0-4CEE-815B-7FB1D40D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10개 그룹에서 10편씩 고른 뒤 발견 1편 제공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76DC2-4B2C-42CE-8168-398C442A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8맛 × 맛당128개 세부 그룹을 유지하고, 덜 본 그룹의 후보를 비교한다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26ED5-F7B7-4948-859D-D38BB6E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14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10×10은 사용자 결정, 21표·1만 관객은 운영 기본값이다.</a:t>
            </a:r>
          </a:p>
          <a:p xmlns:a="http://schemas.openxmlformats.org/drawingml/2006/main">
            <a:pPr algn="l">
              <a:def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부족하면 100편 미만을 유지하며, 11번째 공급 그룹으로 채우지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3EC59-C889-4084-ADBC-367B0793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62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525B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152650"/>
          <a:ext xmlns:a="http://schemas.openxmlformats.org/drawingml/2006/main" cx="13716000" cy="2819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86250"/>
                <a:gridCol w="9429750"/>
              </a:tblGrid>
              <a:tr h="7048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발견 후보 공급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정확한 규칙</a:t>
                      </a:r>
                    </a:p>
                  </a:txBody>
                  <a:tcPr marL="171450" marR="171450" marT="133350" marB="133350" anchor="ctr">
                    <a:solidFill>
                      <a:srgbClr val="F3F4F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선택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사용자와 비슷한 덜 본 그룹, 최대 10개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그룹별 후보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TMDB 또는 KOBIS의 앞선 순위에서 최대 10편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정렬과 응답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100편 이하를 GBT로 정렬하고 발견 1편 제공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E5723-7931-42DE-8E8F-76B9182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추천 최소 근거: TMDB 21표 이상 또는 KOBIS 관객 1만 명 이상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137A2-FCA3-464C-8EC0-FBE501AC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371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TMDB는 유효 평균평점, KOBIS는 검증된 동일 누적 범위가 필요하다.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맞춤2 + 발견1을 중복 없이 제공한다. 발견이 소진되면 맞춤으로 보충한다.</a:t>
            </a:r>
          </a:p>
        </p:txBody>
      </p:sp>
    </p:spTree>
    <p:extLst>
      <p:ext uri="{BB962C8B-B14F-4D97-AF65-F5344CB8AC3E}">
        <p14:creationId xmlns:p14="http://schemas.microsoft.com/office/powerpoint/2010/main" val="268469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2026-09-13T04:34:40.2560000Z</dcterms:created>
  <dcterms:modified xsi:type="dcterms:W3CDTF">2026-09-13T04:34:40.2560000Z</dcterms:modified>
</coreProperties>
</file>