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24fb1a93e05405b" /><Relationship Type="http://schemas.openxmlformats.org/officeDocument/2006/relationships/extended-properties" Target="/docProps/app.xml" Id="R54f8b615e6574890" /><Relationship Type="http://schemas.openxmlformats.org/officeDocument/2006/relationships/officeDocument" Target="/ppt/presentation.xml" Id="R08250d338f964331" /></Relationships>
</file>

<file path=ppt/presentation.xml><?xml version="1.0" encoding="utf-8"?>
<p:presentation xmlns:p="http://schemas.openxmlformats.org/presentationml/2006/main">
  <p:sldMasterIdLst>
    <p:sldMasterId xmlns:r="http://schemas.openxmlformats.org/officeDocument/2006/relationships" id="2147483648" r:id="R5c97dbfa9b3d4469"/>
  </p:sldMasterIdLst>
  <p:notesMasterIdLst>
    <p:notesMasterId xmlns:r="http://schemas.openxmlformats.org/officeDocument/2006/relationships" r:id="R327f568eebd543c1"/>
  </p:notesMasterIdLst>
  <p:sldIdLst>
    <p:sldId xmlns:r="http://schemas.openxmlformats.org/officeDocument/2006/relationships" id="256" r:id="R29621506365b46ec"/>
    <p:sldId xmlns:r="http://schemas.openxmlformats.org/officeDocument/2006/relationships" id="257" r:id="Rbabd2be4b4bc4718"/>
    <p:sldId xmlns:r="http://schemas.openxmlformats.org/officeDocument/2006/relationships" id="258" r:id="Rd43a04bc7319452c"/>
    <p:sldId xmlns:r="http://schemas.openxmlformats.org/officeDocument/2006/relationships" id="259" r:id="Rc806e6c2e3dd4123"/>
    <p:sldId xmlns:r="http://schemas.openxmlformats.org/officeDocument/2006/relationships" id="260" r:id="Reccd1849083143ee"/>
    <p:sldId xmlns:r="http://schemas.openxmlformats.org/officeDocument/2006/relationships" id="261" r:id="R6c74794a9c964a51"/>
    <p:sldId xmlns:r="http://schemas.openxmlformats.org/officeDocument/2006/relationships" id="262" r:id="R7f7b005b0de84ea6"/>
    <p:sldId xmlns:r="http://schemas.openxmlformats.org/officeDocument/2006/relationships" id="263" r:id="R9fae0f9703c345a6"/>
    <p:sldId xmlns:r="http://schemas.openxmlformats.org/officeDocument/2006/relationships" id="264" r:id="Ref18f0d71d914aaf"/>
    <p:sldId xmlns:r="http://schemas.openxmlformats.org/officeDocument/2006/relationships" id="265" r:id="Re7b6e6059a0443d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c3a11eeb2a4007" /><Relationship Type="http://schemas.openxmlformats.org/officeDocument/2006/relationships/slideMaster" Target="/ppt/slideMasters/slideMaster1.xml" Id="R5c97dbfa9b3d4469" /><Relationship Type="http://schemas.openxmlformats.org/officeDocument/2006/relationships/notesMaster" Target="/ppt/notesMasters/notesMaster1.xml" Id="R327f568eebd543c1" /><Relationship Type="http://schemas.openxmlformats.org/officeDocument/2006/relationships/presProps" Target="/ppt/presProps.xml" Id="Ree798357123b4571" /><Relationship Type="http://schemas.openxmlformats.org/officeDocument/2006/relationships/tableStyles" Target="/ppt/tableStyles.xml" Id="Rb45f0e3843d44325" /><Relationship Type="http://schemas.openxmlformats.org/officeDocument/2006/relationships/slide" Target="/ppt/slides/slide1.xml" Id="R29621506365b46ec" /><Relationship Type="http://schemas.openxmlformats.org/officeDocument/2006/relationships/slide" Target="/ppt/slides/slide2.xml" Id="Rbabd2be4b4bc4718" /><Relationship Type="http://schemas.openxmlformats.org/officeDocument/2006/relationships/slide" Target="/ppt/slides/slide3.xml" Id="Rd43a04bc7319452c" /><Relationship Type="http://schemas.openxmlformats.org/officeDocument/2006/relationships/slide" Target="/ppt/slides/slide4.xml" Id="Rc806e6c2e3dd4123" /><Relationship Type="http://schemas.openxmlformats.org/officeDocument/2006/relationships/slide" Target="/ppt/slides/slide5.xml" Id="Reccd1849083143ee" /><Relationship Type="http://schemas.openxmlformats.org/officeDocument/2006/relationships/slide" Target="/ppt/slides/slide6.xml" Id="R6c74794a9c964a51" /><Relationship Type="http://schemas.openxmlformats.org/officeDocument/2006/relationships/slide" Target="/ppt/slides/slide7.xml" Id="R7f7b005b0de84ea6" /><Relationship Type="http://schemas.openxmlformats.org/officeDocument/2006/relationships/slide" Target="/ppt/slides/slide8.xml" Id="R9fae0f9703c345a6" /><Relationship Type="http://schemas.openxmlformats.org/officeDocument/2006/relationships/slide" Target="/ppt/slides/slide9.xml" Id="Ref18f0d71d914aaf" /><Relationship Type="http://schemas.openxmlformats.org/officeDocument/2006/relationships/slide" Target="/ppt/slides/slide10.xml" Id="Re7b6e6059a0443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0f5833f8e34f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1e3abb7e0c4637" /><Relationship Type="http://schemas.openxmlformats.org/officeDocument/2006/relationships/notesMaster" Target="/ppt/notesMasters/notesMaster1.xml" Id="R62fa14e414d04c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31a45cf65a46ad" /><Relationship Type="http://schemas.openxmlformats.org/officeDocument/2006/relationships/notesMaster" Target="/ppt/notesMasters/notesMaster1.xml" Id="R92158659a5e146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0f094c0e674827" /><Relationship Type="http://schemas.openxmlformats.org/officeDocument/2006/relationships/notesMaster" Target="/ppt/notesMasters/notesMaster1.xml" Id="R31e06deda8ee40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bb8d21adaa49d8" /><Relationship Type="http://schemas.openxmlformats.org/officeDocument/2006/relationships/notesMaster" Target="/ppt/notesMasters/notesMaster1.xml" Id="R7f1ae80f554e4b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0d58801f3447ad" /><Relationship Type="http://schemas.openxmlformats.org/officeDocument/2006/relationships/notesMaster" Target="/ppt/notesMasters/notesMaster1.xml" Id="R842a6742843640d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b0f2fad9064431" /><Relationship Type="http://schemas.openxmlformats.org/officeDocument/2006/relationships/notesMaster" Target="/ppt/notesMasters/notesMaster1.xml" Id="Rb12dfbd1035543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3874a6e1614b57" /><Relationship Type="http://schemas.openxmlformats.org/officeDocument/2006/relationships/notesMaster" Target="/ppt/notesMasters/notesMaster1.xml" Id="Recf81feb4c9349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2e1bdd184d42eb" /><Relationship Type="http://schemas.openxmlformats.org/officeDocument/2006/relationships/notesMaster" Target="/ppt/notesMasters/notesMaster1.xml" Id="R43a3ce534fc342c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da259b78444709" /><Relationship Type="http://schemas.openxmlformats.org/officeDocument/2006/relationships/notesMaster" Target="/ppt/notesMasters/notesMaster1.xml" Id="R6a12938272b547e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df8d3bf6464651" /><Relationship Type="http://schemas.openxmlformats.org/officeDocument/2006/relationships/notesMaster" Target="/ppt/notesMasters/notesMaster1.xml" Id="R7037d32e923747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실험은 개인화가 인기도보다 좋다는 결론으로 끝내지 않았다. 한국 영화 데이터와 출시 전 피드백이 부족한 상황에서 무엇을 검증할 수 있는지 다시 설계했다.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MovieLens 한국 시장 기준 3분할에서 유명 외국 STRICT proxy는 전체 Rating의 78.73%, 한국 제작은 0.33%였다. 출시 전에는 추천 노출 뒤 시청과 평가를 되받는 실사용 순환도 관측할 수 없다.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MovieLens는 사용자 평가 행동의 학습과 오프라인 평가에 썼다. TMDB 구조 특징과 384차원 E5는 상호작용이 적거나 없는 영화의 표현에 썼다. Rating timestamp는 시청 순서로 해석하지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별점을 고정 임계값으로 자르지 않고 사용자 내 percentile로 바꿨다. 실제 화면과 같이 두 편을 평가했고, 평균 선호와 두 편 중 최저 선호를 동시에 사용했다.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별도 사용자 확인에서 K=6, 8, 14와 Binary, Percentile의 여섯 조합만 후속 모델 후보로 남겼다. 차트는 인코딩별 첫 3연속 통과 onset이다. K=30까지 plateau가 없었으므로 K=14를 최적값으로 선택하지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TMDB 구조는 masked pseudo-cold에서 신호가 있었지만 E5와 RRF의 증분, feature-only LightFM, 고정 anchor는 해결책이 되지 못했다. 그래서 E5를 다섯 BPR 표현 공간에 정렬하는 방법을 추가했다.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E5를 다섯 BPR seed 공간에 ridge 정렬한 head는 한국 target 여섯 조합 모두에서 평균 효용과 안전 개선이 양수였다. 그러나 181명의 동시추론 half-width가 최대 0.0681이었고 사전에 잠근 전체 조건을 통과한 cell은 없었다.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2020~2023 target의 평균 개선은 사전 margin 0.02보다 작았다. 여섯 cell의 평균 Top-2 선택률은 2022년과 2023년에 50% 아래였다. 한국 target에서는 Top-2 선택의 약 60%가 상위 10편에 집중됐다.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E5는 영화 내용을 표현하는 도구로 사용했다. 생성형 AI는 독립 심사자와 재현성 감사 역할로 사용해 label 누수, resume, hash 불변, 사후선택을 점검했다. 가설과 통과 기준, Locked Test 금지선은 결과를 보기 전에 고정했다.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label에서 유리한 모델만 다시 고르면 새 검증이 아니다. 현재 결과는 E5→BPR을 개발 후보로 남길 근거이며 제품 champion 근거가 아니다. 새 한국 사용자의 추천 노출, 시청 확인, 평가가 쌓인 뒤 사전등록된 온라인 실험으로 확인한다.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76aad0c9ea4c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0b25c07ebf4a96" /><Relationship Type="http://schemas.openxmlformats.org/officeDocument/2006/relationships/slideLayout" Target="/ppt/slideLayouts/slideLayout1.xml" Id="R40c571bd095240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c571bd095240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836ed35c824d19" /><Relationship Type="http://schemas.openxmlformats.org/officeDocument/2006/relationships/notesSlide" Target="/ppt/notesSlides/notesSlide1.xml" Id="Ra3e39946571648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c92fb8a135c47d9" /><Relationship Type="http://schemas.openxmlformats.org/officeDocument/2006/relationships/notesSlide" Target="/ppt/notesSlides/notesSlide2.xml" Id="Rebea060c62c643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2e6f1f5338d4128" /><Relationship Type="http://schemas.openxmlformats.org/officeDocument/2006/relationships/notesSlide" Target="/ppt/notesSlides/notesSlide3.xml" Id="R0c617841b39442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aa78d481a88486c" /><Relationship Type="http://schemas.openxmlformats.org/officeDocument/2006/relationships/notesSlide" Target="/ppt/notesSlides/notesSlide4.xml" Id="R9a330a267c2040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1dc2b8145d44e4c" /><Relationship Type="http://schemas.openxmlformats.org/officeDocument/2006/relationships/chart" Target="/ppt/slides/charts/chart1.xml" Id="R6fdf2e2d993c4bb8" /><Relationship Type="http://schemas.openxmlformats.org/officeDocument/2006/relationships/notesSlide" Target="/ppt/notesSlides/notesSlide5.xml" Id="R6ff51ab50d594f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5d921090bbc4e2f" /><Relationship Type="http://schemas.openxmlformats.org/officeDocument/2006/relationships/notesSlide" Target="/ppt/notesSlides/notesSlide6.xml" Id="R024effbfa0d34a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8213b4ea1a94cb1" /><Relationship Type="http://schemas.openxmlformats.org/officeDocument/2006/relationships/chart" Target="/ppt/slides/charts/chart2.xml" Id="Rd7e83b6520ee498b" /><Relationship Type="http://schemas.openxmlformats.org/officeDocument/2006/relationships/notesSlide" Target="/ppt/notesSlides/notesSlide7.xml" Id="Re20c5cd93fb1444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453cf6043db4bfc" /><Relationship Type="http://schemas.openxmlformats.org/officeDocument/2006/relationships/chart" Target="/ppt/slides/charts/chart3.xml" Id="Rca33145cf08a4a38" /><Relationship Type="http://schemas.openxmlformats.org/officeDocument/2006/relationships/notesSlide" Target="/ppt/notesSlides/notesSlide8.xml" Id="R887fc571990247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4fed6e7b2074462" /><Relationship Type="http://schemas.openxmlformats.org/officeDocument/2006/relationships/notesSlide" Target="/ppt/notesSlides/notesSlide9.xml" Id="R554a147176fa4c6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210af1c22724cb4" /><Relationship Type="http://schemas.openxmlformats.org/officeDocument/2006/relationships/notesSlide" Target="/ppt/notesSlides/notesSlide10.xml" Id="R8eb82254c4f14d96" /></Relationships>
</file>

<file path=ppt/slides/charts/chart1.xml><?xml version="1.0" encoding="utf-8"?>
<c:chartSpace xmlns:c="http://schemas.openxmlformats.org/drawingml/2006/chart">
  <c:lang val="en-US"/>
  <c:chart>
    <c:plotArea>
      <c:barChart>
        <c:barDir val="bar"/>
        <c:grouping val="clustered"/>
        <c:varyColors val="0"/>
        <c:ser>
          <c:idx val="0"/>
          <c:order val="0"/>
          <c:tx>
            <c:v>첫 3연속 통과 K</c:v>
          </c:tx>
          <c:spPr>
            <a:solidFill xmlns:a="http://schemas.openxmlformats.org/drawingml/2006/main">
              <a:srgbClr val="2258D7"/>
            </a:solidFill>
          </c:spPr>
          <c:dPt>
            <c:idx val="0"/>
            <c:invertIfNegative val="0"/>
            <c:spPr>
              <a:solidFill xmlns:a="http://schemas.openxmlformats.org/drawingml/2006/main">
                <a:srgbClr val="2258D7"/>
              </a:solidFill>
            </c:spPr>
          </c:dPt>
          <c:dPt>
            <c:idx val="1"/>
            <c:invertIfNegative val="0"/>
            <c:spPr>
              <a:solidFill xmlns:a="http://schemas.openxmlformats.org/drawingml/2006/main">
                <a:srgbClr val="438D89"/>
              </a:solidFill>
            </c:spPr>
          </c:dPt>
          <c:dPt>
            <c:idx val="2"/>
            <c:invertIfNegative val="0"/>
            <c:spPr>
              <a:solidFill xmlns:a="http://schemas.openxmlformats.org/drawingml/2006/main">
                <a:srgbClr val="B88A38"/>
              </a:solidFill>
            </c:spPr>
          </c:dPt>
          <c:cat>
            <c:strLit>
              <c:ptCount val="3"/>
              <c:pt idx="0">
                <c:v>Binary</c:v>
              </c:pt>
              <c:pt idx="1">
                <c:v>Percentile</c:v>
              </c:pt>
              <c:pt idx="2">
                <c:v>Ordinal</c:v>
              </c:pt>
            </c:strLit>
          </c:cat>
          <c:val>
            <c:numLit>
              <c:formatCode>General</c:formatCode>
              <c:ptCount val="3"/>
              <c:pt idx="0">
                <c:v>8</c:v>
              </c:pt>
              <c:pt idx="1">
                <c:v>6</c:v>
              </c:pt>
              <c:pt idx="2">
                <c:v>14</c:v>
              </c:pt>
            </c:numLit>
          </c:val>
        </c:ser>
        <c:dLbls>
          <c:txPr>
            <a:bodyPr xmlns:a="http://schemas.openxmlformats.org/drawingml/2006/main" anchorCtr="1"/>
            <a:lstStyle xmlns:a="http://schemas.openxmlformats.org/drawingml/2006/main"/>
            <a:p xmlns:a="http://schemas.openxmlformats.org/drawingml/2006/main">
              <a:pPr>
                <a:defRPr sz="1200" b="1">
                  <a:solidFill>
                    <a:srgbClr val="252A31"/>
                  </a:solidFill>
                  <a:latin typeface="Noto Sans KR"/>
                  <a:ea typeface="Noto Sans KR"/>
                  <a:cs typeface="Noto Sans KR"/>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majorGridlines>
          <c:spPr>
            <a:ln xmlns:a="http://schemas.openxmlformats.org/drawingml/2006/main" w="9525">
              <a:solidFill>
                <a:srgbClr val="DEDAD2"/>
              </a:solidFill>
              <a:prstDash val="solid"/>
            </a:ln>
          </c:spPr>
        </c:majorGridlines>
        <c:numFmt formatCode="0"/>
        <c:majorTickMark val="none"/>
        <c:minorTickMark val="none"/>
        <c:spPr>
          <a:ln xmlns:a="http://schemas.openxmlformats.org/drawingml/2006/main" w="9525">
            <a:solidFill>
              <a:srgbClr val="DEDAD2"/>
            </a:solidFill>
            <a:prstDash val="solid"/>
          </a:ln>
        </c:spPr>
        <c:txPr>
          <a:bodyPr xmlns:a="http://schemas.openxmlformats.org/drawingml/2006/main" anchorCtr="1"/>
          <a:lstStyle xmlns:a="http://schemas.openxmlformats.org/drawingml/2006/main"/>
          <a:p xmlns:a="http://schemas.openxmlformats.org/drawingml/2006/main">
            <a:pPr>
              <a:defRPr sz="1125">
                <a:solidFill>
                  <a:srgbClr val="68707B"/>
                </a:solidFill>
                <a:latin typeface="Noto Sans KR"/>
                <a:ea typeface="Noto Sans KR"/>
                <a:cs typeface="Noto Sans KR"/>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EDAD2"/>
            </a:solidFill>
            <a:prstDash val="solid"/>
          </a:ln>
        </c:spPr>
        <c:txPr>
          <a:bodyPr xmlns:a="http://schemas.openxmlformats.org/drawingml/2006/main" anchorCtr="1"/>
          <a:lstStyle xmlns:a="http://schemas.openxmlformats.org/drawingml/2006/main"/>
          <a:p xmlns:a="http://schemas.openxmlformats.org/drawingml/2006/main">
            <a:pPr>
              <a:defRPr sz="1275" b="1">
                <a:solidFill>
                  <a:srgbClr val="252A31"/>
                </a:solidFill>
                <a:latin typeface="Noto Sans KR"/>
                <a:ea typeface="Noto Sans KR"/>
                <a:cs typeface="Noto Sans KR"/>
              </a:defRPr>
            </a:pPr>
          </a:p>
        </c:txPr>
        <c:crossAx val="48650112"/>
        <c:crossBetween val="between"/>
      </c:valAx>
      <c:spPr>
        <a:solidFill xmlns:a="http://schemas.openxmlformats.org/drawingml/2006/main">
          <a:srgbClr val="F7F5F0"/>
        </a:solidFill>
        <a:ln xmlns:a="http://schemas.openxmlformats.org/drawingml/2006/main" w="0">
          <a:noFill/>
        </a:ln>
      </c:spPr>
    </c:plotArea>
    <c:plotVisOnly val="1"/>
  </c:chart>
  <c:spPr>
    <a:solidFill xmlns:a="http://schemas.openxmlformats.org/drawingml/2006/main">
      <a:srgbClr val="F7F5F0"/>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효용 개선</c:v>
          </c:tx>
          <c:spPr>
            <a:solidFill xmlns:a="http://schemas.openxmlformats.org/drawingml/2006/main">
              <a:srgbClr val="2258D7"/>
            </a:solidFill>
          </c:spPr>
          <c:cat>
            <c:strLit>
              <c:ptCount val="6"/>
              <c:pt idx="0">
                <c:v>B6</c:v>
              </c:pt>
              <c:pt idx="1">
                <c:v>P6</c:v>
              </c:pt>
              <c:pt idx="2">
                <c:v>B8</c:v>
              </c:pt>
              <c:pt idx="3">
                <c:v>P8</c:v>
              </c:pt>
              <c:pt idx="4">
                <c:v>B14</c:v>
              </c:pt>
              <c:pt idx="5">
                <c:v>P14</c:v>
              </c:pt>
            </c:strLit>
          </c:cat>
          <c:val>
            <c:numLit>
              <c:formatCode>0.000</c:formatCode>
              <c:ptCount val="6"/>
              <c:pt idx="0">
                <c:v>0.030908</c:v>
              </c:pt>
              <c:pt idx="1">
                <c:v>0.047798</c:v>
              </c:pt>
              <c:pt idx="2">
                <c:v>0.039057</c:v>
              </c:pt>
              <c:pt idx="3">
                <c:v>0.051078</c:v>
              </c:pt>
              <c:pt idx="4">
                <c:v>0.045289</c:v>
              </c:pt>
              <c:pt idx="5">
                <c:v>0.048862</c:v>
              </c:pt>
            </c:numLit>
          </c:val>
        </c:ser>
        <c:ser>
          <c:idx val="1"/>
          <c:order val="1"/>
          <c:tx>
            <c:v>안전 개선</c:v>
          </c:tx>
          <c:spPr>
            <a:solidFill xmlns:a="http://schemas.openxmlformats.org/drawingml/2006/main">
              <a:srgbClr val="438D89"/>
            </a:solidFill>
          </c:spPr>
          <c:cat>
            <c:strLit>
              <c:ptCount val="6"/>
              <c:pt idx="0">
                <c:v>B6</c:v>
              </c:pt>
              <c:pt idx="1">
                <c:v>P6</c:v>
              </c:pt>
              <c:pt idx="2">
                <c:v>B8</c:v>
              </c:pt>
              <c:pt idx="3">
                <c:v>P8</c:v>
              </c:pt>
              <c:pt idx="4">
                <c:v>B14</c:v>
              </c:pt>
              <c:pt idx="5">
                <c:v>P14</c:v>
              </c:pt>
            </c:strLit>
          </c:cat>
          <c:val>
            <c:numLit>
              <c:formatCode>0.000</c:formatCode>
              <c:ptCount val="6"/>
              <c:pt idx="0">
                <c:v>0.03421</c:v>
              </c:pt>
              <c:pt idx="1">
                <c:v>0.050573</c:v>
              </c:pt>
              <c:pt idx="2">
                <c:v>0.040173</c:v>
              </c:pt>
              <c:pt idx="3">
                <c:v>0.058189</c:v>
              </c:pt>
              <c:pt idx="4">
                <c:v>0.053309</c:v>
              </c:pt>
              <c:pt idx="5">
                <c:v>0.051129</c:v>
              </c:pt>
            </c:numLit>
          </c:val>
        </c:ser>
        <c:dLbls>
          <c:txPr>
            <a:bodyPr xmlns:a="http://schemas.openxmlformats.org/drawingml/2006/main" anchorCtr="1"/>
            <a:lstStyle xmlns:a="http://schemas.openxmlformats.org/drawingml/2006/main"/>
            <a:p xmlns:a="http://schemas.openxmlformats.org/drawingml/2006/main">
              <a:pPr>
                <a:defRPr sz="900" b="1">
                  <a:solidFill>
                    <a:srgbClr val="252A31"/>
                  </a:solidFill>
                  <a:latin typeface="Noto Sans KR"/>
                  <a:ea typeface="Noto Sans KR"/>
                  <a:cs typeface="Noto Sans KR"/>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EDAD2"/>
            </a:solidFill>
            <a:prstDash val="solid"/>
          </a:ln>
        </c:spPr>
        <c:txPr>
          <a:bodyPr xmlns:a="http://schemas.openxmlformats.org/drawingml/2006/main" anchorCtr="1"/>
          <a:lstStyle xmlns:a="http://schemas.openxmlformats.org/drawingml/2006/main"/>
          <a:p xmlns:a="http://schemas.openxmlformats.org/drawingml/2006/main">
            <a:pPr>
              <a:defRPr sz="1125">
                <a:solidFill>
                  <a:srgbClr val="252A31"/>
                </a:solidFill>
                <a:latin typeface="Noto Sans KR"/>
                <a:ea typeface="Noto Sans KR"/>
                <a:cs typeface="Noto Sans KR"/>
              </a:defRPr>
            </a:pPr>
          </a:p>
        </c:txPr>
        <c:crossAx val="48672768"/>
      </c:catAx>
      <c:valAx>
        <c:axId val="48672768"/>
        <c:scaling>
          <c:orientation val="minMax"/>
          <c:max val="0.07"/>
          <c:min val="0"/>
        </c:scaling>
        <c:delete val="0"/>
        <c:axPos val="l"/>
        <c:majorGridlines>
          <c:spPr>
            <a:ln xmlns:a="http://schemas.openxmlformats.org/drawingml/2006/main" w="9525">
              <a:solidFill>
                <a:srgbClr val="DEDAD2"/>
              </a:solidFill>
              <a:prstDash val="solid"/>
            </a:ln>
          </c:spPr>
        </c:majorGridlines>
        <c:numFmt formatCode="0.00"/>
        <c:majorTickMark val="none"/>
        <c:minorTickMark val="none"/>
        <c:spPr>
          <a:ln xmlns:a="http://schemas.openxmlformats.org/drawingml/2006/main" w="9525">
            <a:solidFill>
              <a:srgbClr val="DEDAD2"/>
            </a:solidFill>
            <a:prstDash val="solid"/>
          </a:ln>
        </c:spPr>
        <c:txPr>
          <a:bodyPr xmlns:a="http://schemas.openxmlformats.org/drawingml/2006/main" anchorCtr="1"/>
          <a:lstStyle xmlns:a="http://schemas.openxmlformats.org/drawingml/2006/main"/>
          <a:p xmlns:a="http://schemas.openxmlformats.org/drawingml/2006/main">
            <a:pPr>
              <a:defRPr sz="975">
                <a:solidFill>
                  <a:srgbClr val="68707B"/>
                </a:solidFill>
                <a:latin typeface="Noto Sans KR"/>
                <a:ea typeface="Noto Sans KR"/>
                <a:cs typeface="Noto Sans KR"/>
              </a:defRPr>
            </a:pPr>
          </a:p>
        </c:txPr>
        <c:crossAx val="48650112"/>
        <c:crossBetween val="between"/>
        <c:majorUnit val="0.01"/>
      </c:valAx>
      <c:spPr>
        <a:solidFill xmlns:a="http://schemas.openxmlformats.org/drawingml/2006/main">
          <a:srgbClr val="F7F5F0"/>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252A31"/>
              </a:solidFill>
              <a:latin typeface="Noto Sans KR"/>
              <a:ea typeface="Noto Sans KR"/>
              <a:cs typeface="Noto Sans KR"/>
            </a:defRPr>
          </a:pPr>
        </a:p>
      </c:txPr>
    </c:legend>
    <c:plotVisOnly val="1"/>
  </c:chart>
  <c:spPr>
    <a:solidFill xmlns:a="http://schemas.openxmlformats.org/drawingml/2006/main">
      <a:srgbClr val="F7F5F0"/>
    </a:solidFill>
    <a:ln xmlns:a="http://schemas.openxmlformats.org/drawingml/2006/main" w="0">
      <a:noFill/>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Top-2 선택률 평균</c:v>
          </c:tx>
          <c:spPr>
            <a:solidFill xmlns:a="http://schemas.openxmlformats.org/drawingml/2006/main">
              <a:srgbClr val="2258D7"/>
            </a:solidFill>
          </c:spPr>
          <c:cat>
            <c:numLit>
              <c:formatCode>General</c:formatCode>
              <c:ptCount val="4"/>
              <c:pt idx="0">
                <c:v>2020</c:v>
              </c:pt>
              <c:pt idx="1">
                <c:v>2021</c:v>
              </c:pt>
              <c:pt idx="2">
                <c:v>2022</c:v>
              </c:pt>
              <c:pt idx="3">
                <c:v>2023</c:v>
              </c:pt>
            </c:numLit>
          </c:cat>
          <c:val>
            <c:numLit>
              <c:formatCode>0.0%</c:formatCode>
              <c:ptCount val="4"/>
              <c:pt idx="0">
                <c:v>0.5088</c:v>
              </c:pt>
              <c:pt idx="1">
                <c:v>0.524</c:v>
              </c:pt>
              <c:pt idx="2">
                <c:v>0.461</c:v>
              </c:pt>
              <c:pt idx="3">
                <c:v>0.4651</c:v>
              </c:pt>
            </c:numLit>
          </c:val>
        </c:ser>
        <c:dLbls>
          <c:txPr>
            <a:bodyPr xmlns:a="http://schemas.openxmlformats.org/drawingml/2006/main" anchorCtr="1"/>
            <a:lstStyle xmlns:a="http://schemas.openxmlformats.org/drawingml/2006/main"/>
            <a:p xmlns:a="http://schemas.openxmlformats.org/drawingml/2006/main">
              <a:pPr>
                <a:defRPr sz="1125" b="1">
                  <a:solidFill>
                    <a:srgbClr val="252A31"/>
                  </a:solidFill>
                  <a:latin typeface="Noto Sans KR"/>
                  <a:ea typeface="Noto Sans KR"/>
                  <a:cs typeface="Noto Sans KR"/>
                </a:defRPr>
              </a:pPr>
            </a:p>
          </c:txPr>
          <c:dLblPos val="outEnd"/>
          <c:showLegendKey val="0"/>
          <c:showVal val="1"/>
          <c:showCatName val="0"/>
          <c:showSerName val="0"/>
          <c:showPercent val="0"/>
          <c:showBubbleSize val="0"/>
          <c:showLeaderLines val="0"/>
        </c:dLbls>
        <c:gapWidth val="7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EDAD2"/>
            </a:solidFill>
            <a:prstDash val="solid"/>
          </a:ln>
        </c:spPr>
        <c:txPr>
          <a:bodyPr xmlns:a="http://schemas.openxmlformats.org/drawingml/2006/main" anchorCtr="1"/>
          <a:lstStyle xmlns:a="http://schemas.openxmlformats.org/drawingml/2006/main"/>
          <a:p xmlns:a="http://schemas.openxmlformats.org/drawingml/2006/main">
            <a:pPr>
              <a:defRPr sz="1200" b="1">
                <a:solidFill>
                  <a:srgbClr val="252A31"/>
                </a:solidFill>
                <a:latin typeface="Noto Sans KR"/>
                <a:ea typeface="Noto Sans KR"/>
                <a:cs typeface="Noto Sans KR"/>
              </a:defRPr>
            </a:pPr>
          </a:p>
        </c:txPr>
        <c:crossAx val="48672768"/>
      </c:catAx>
      <c:valAx>
        <c:axId val="48672768"/>
        <c:scaling>
          <c:orientation val="minMax"/>
          <c:max val="0.55"/>
          <c:min val="0.4"/>
        </c:scaling>
        <c:delete val="0"/>
        <c:axPos val="l"/>
        <c:majorGridlines>
          <c:spPr>
            <a:ln xmlns:a="http://schemas.openxmlformats.org/drawingml/2006/main" w="9525">
              <a:solidFill>
                <a:srgbClr val="DEDAD2"/>
              </a:solidFill>
              <a:prstDash val="solid"/>
            </a:ln>
          </c:spPr>
        </c:majorGridlines>
        <c:numFmt formatCode="0%"/>
        <c:majorTickMark val="none"/>
        <c:minorTickMark val="none"/>
        <c:spPr>
          <a:ln xmlns:a="http://schemas.openxmlformats.org/drawingml/2006/main" w="9525">
            <a:solidFill>
              <a:srgbClr val="DEDAD2"/>
            </a:solidFill>
            <a:prstDash val="solid"/>
          </a:ln>
        </c:spPr>
        <c:txPr>
          <a:bodyPr xmlns:a="http://schemas.openxmlformats.org/drawingml/2006/main" anchorCtr="1"/>
          <a:lstStyle xmlns:a="http://schemas.openxmlformats.org/drawingml/2006/main"/>
          <a:p xmlns:a="http://schemas.openxmlformats.org/drawingml/2006/main">
            <a:pPr>
              <a:defRPr sz="1050">
                <a:solidFill>
                  <a:srgbClr val="68707B"/>
                </a:solidFill>
                <a:latin typeface="Noto Sans KR"/>
                <a:ea typeface="Noto Sans KR"/>
                <a:cs typeface="Noto Sans KR"/>
              </a:defRPr>
            </a:pPr>
          </a:p>
        </c:txPr>
        <c:crossAx val="48650112"/>
        <c:crossBetween val="between"/>
        <c:majorUnit val="0.05"/>
      </c:valAx>
      <c:spPr>
        <a:solidFill xmlns:a="http://schemas.openxmlformats.org/drawingml/2006/main">
          <a:srgbClr val="F7F5F0"/>
        </a:solidFill>
        <a:ln xmlns:a="http://schemas.openxmlformats.org/drawingml/2006/main" w="0">
          <a:noFill/>
        </a:ln>
      </c:spPr>
    </c:plotArea>
    <c:plotVisOnly val="1"/>
  </c:chart>
  <c:spPr>
    <a:solidFill xmlns:a="http://schemas.openxmlformats.org/drawingml/2006/main">
      <a:srgbClr val="F7F5F0"/>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1526037-8E19-480F-99F4-E6D2A6ADCC26}"/>
              </a:ext>
            </a:extLst>
          </p:cNvPr>
          <p:cNvSpPr>
            <a:spLocks xmlns:a="http://schemas.openxmlformats.org/drawingml/2006/main" noGrp="1"/>
          </p:cNvSpPr>
          <p:nvPr/>
        </p:nvSpPr>
        <p:spPr>
          <a:xfrm xmlns:a="http://schemas.openxmlformats.org/drawingml/2006/main">
            <a:off x="685800" y="1257300"/>
            <a:ext cx="8858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252A31"/>
                </a:solidFill>
                <a:latin typeface="Noto Sans KR"/>
                <a:ea typeface="Noto Sans KR"/>
                <a:cs typeface="Noto Sans KR"/>
              </a:defRPr>
            </a:pPr>
            <a:r>
              <a:rPr sz="3900" b="1">
                <a:solidFill>
                  <a:srgbClr val="252A31"/>
                </a:solidFill>
                <a:latin typeface="Noto Sans KR"/>
                <a:ea typeface="Noto Sans KR"/>
                <a:cs typeface="Noto Sans KR"/>
              </a:rPr>
              <a:t>MovieLens 편향에서</a:t>
            </a:r>
          </a:p>
          <a:p xmlns:a="http://schemas.openxmlformats.org/drawingml/2006/main">
            <a:pPr algn="l">
              <a:defRPr sz="3900" b="1">
                <a:solidFill>
                  <a:srgbClr val="252A31"/>
                </a:solidFill>
                <a:latin typeface="Noto Sans KR"/>
                <a:ea typeface="Noto Sans KR"/>
                <a:cs typeface="Noto Sans KR"/>
              </a:defRPr>
            </a:pPr>
            <a:r>
              <a:rPr sz="3900" b="1">
                <a:solidFill>
                  <a:srgbClr val="252A31"/>
                </a:solidFill>
                <a:latin typeface="Noto Sans KR"/>
                <a:ea typeface="Noto Sans KR"/>
                <a:cs typeface="Noto Sans KR"/>
              </a:rPr>
              <a:t>제품 결론까지</a:t>
            </a:r>
          </a:p>
        </p:txBody>
      </p:sp>
      <p:sp>
        <p:nvSpPr>
          <p:cNvPr id="2" name="">
            <a:extLst xmlns:a="http://schemas.openxmlformats.org/drawingml/2006/main">
              <a:ext uri="{FF2B5EF4-FFF2-40B4-BE49-F238E27FC236}">
                <a16:creationId xmlns:a16="http://schemas.microsoft.com/office/drawing/2014/main" id="{F7C2EA37-35BF-4C6C-A53C-6E250C18412F}"/>
              </a:ext>
            </a:extLst>
          </p:cNvPr>
          <p:cNvSpPr>
            <a:spLocks xmlns:a="http://schemas.openxmlformats.org/drawingml/2006/main" noGrp="1"/>
          </p:cNvSpPr>
          <p:nvPr/>
        </p:nvSpPr>
        <p:spPr>
          <a:xfrm xmlns:a="http://schemas.openxmlformats.org/drawingml/2006/main">
            <a:off x="723900" y="3390900"/>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258D7"/>
                </a:solidFill>
                <a:latin typeface="Noto Sans KR"/>
                <a:ea typeface="Noto Sans KR"/>
                <a:cs typeface="Noto Sans KR"/>
              </a:defRPr>
            </a:pPr>
            <a:r>
              <a:rPr sz="1575" b="1">
                <a:solidFill>
                  <a:srgbClr val="2258D7"/>
                </a:solidFill>
                <a:latin typeface="Noto Sans KR"/>
                <a:ea typeface="Noto Sans KR"/>
                <a:cs typeface="Noto Sans KR"/>
              </a:rPr>
              <a:t>FEELM 추천 실험 REC-EV-022~026</a:t>
            </a:r>
          </a:p>
        </p:txBody>
      </p:sp>
      <p:sp>
        <p:nvSpPr>
          <p:cNvPr id="3" name="">
            <a:extLst xmlns:a="http://schemas.openxmlformats.org/drawingml/2006/main">
              <a:ext uri="{FF2B5EF4-FFF2-40B4-BE49-F238E27FC236}">
                <a16:creationId xmlns:a16="http://schemas.microsoft.com/office/drawing/2014/main" id="{F6D9BE8D-03C0-465C-8461-1CF7641C3DDA}"/>
              </a:ext>
            </a:extLst>
          </p:cNvPr>
          <p:cNvSpPr>
            <a:spLocks xmlns:a="http://schemas.openxmlformats.org/drawingml/2006/main" noGrp="1"/>
          </p:cNvSpPr>
          <p:nvPr/>
        </p:nvSpPr>
        <p:spPr>
          <a:xfrm xmlns:a="http://schemas.openxmlformats.org/drawingml/2006/main">
            <a:off x="723900" y="3943350"/>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8707B"/>
                </a:solidFill>
                <a:latin typeface="Noto Sans KR"/>
                <a:ea typeface="Noto Sans KR"/>
                <a:cs typeface="Noto Sans KR"/>
              </a:defRPr>
            </a:pPr>
            <a:r>
              <a:rPr sz="1650" b="0">
                <a:solidFill>
                  <a:srgbClr val="68707B"/>
                </a:solidFill>
                <a:latin typeface="Noto Sans KR"/>
                <a:ea typeface="Noto Sans KR"/>
                <a:cs typeface="Noto Sans KR"/>
              </a:rPr>
              <a:t>한국 영화와 출시 전 피드백 부재를 다룬 오프라인 검증</a:t>
            </a:r>
          </a:p>
        </p:txBody>
      </p:sp>
      <p:sp>
        <p:nvSpPr>
          <p:cNvPr id="4" name="">
            <a:extLst xmlns:a="http://schemas.openxmlformats.org/drawingml/2006/main">
              <a:ext uri="{FF2B5EF4-FFF2-40B4-BE49-F238E27FC236}">
                <a16:creationId xmlns:a16="http://schemas.microsoft.com/office/drawing/2014/main" id="{ECBA2E74-37D2-4997-B3DE-4AC6780AA0D7}"/>
              </a:ext>
            </a:extLst>
          </p:cNvPr>
          <p:cNvSpPr>
            <a:spLocks xmlns:a="http://schemas.openxmlformats.org/drawingml/2006/main" noGrp="1"/>
          </p:cNvSpPr>
          <p:nvPr/>
        </p:nvSpPr>
        <p:spPr>
          <a:xfrm xmlns:a="http://schemas.openxmlformats.org/drawingml/2006/main">
            <a:off x="609600" y="62103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68707B"/>
                </a:solidFill>
                <a:latin typeface="Noto Sans KR"/>
                <a:ea typeface="Noto Sans KR"/>
                <a:cs typeface="Noto Sans KR"/>
              </a:defRPr>
            </a:pPr>
            <a:r>
              <a:rPr sz="975" b="0">
                <a:solidFill>
                  <a:srgbClr val="68707B"/>
                </a:solidFill>
                <a:latin typeface="Noto Sans KR"/>
                <a:ea typeface="Noto Sans KR"/>
                <a:cs typeface="Noto Sans KR"/>
              </a:rPr>
              <a:t>Validation only · Locked Test 미개봉 · champion=null · 2026.09.05</a:t>
            </a:r>
          </a:p>
        </p:txBody>
      </p:sp>
    </p:spTree>
    <p:extLst>
      <p:ext uri="{BB962C8B-B14F-4D97-AF65-F5344CB8AC3E}">
        <p14:creationId xmlns:p14="http://schemas.microsoft.com/office/powerpoint/2010/main" val="1181818124"/>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A01319F-24E7-400E-AC80-5E37F892C5A8}"/>
              </a:ext>
            </a:extLst>
          </p:cNvPr>
          <p:cNvSpPr>
            <a:spLocks xmlns:a="http://schemas.openxmlformats.org/drawingml/2006/main" noGrp="1"/>
          </p:cNvSpPr>
          <p:nvPr/>
        </p:nvSpPr>
        <p:spPr>
          <a:xfrm xmlns:a="http://schemas.openxmlformats.org/drawingml/2006/main">
            <a:off x="609600" y="381000"/>
            <a:ext cx="10429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52A31"/>
                </a:solidFill>
                <a:latin typeface="Noto Sans KR"/>
                <a:ea typeface="Noto Sans KR"/>
                <a:cs typeface="Noto Sans KR"/>
              </a:defRPr>
            </a:pPr>
            <a:r>
              <a:rPr sz="2550" b="1">
                <a:solidFill>
                  <a:srgbClr val="252A31"/>
                </a:solidFill>
                <a:latin typeface="Noto Sans KR"/>
                <a:ea typeface="Noto Sans KR"/>
                <a:cs typeface="Noto Sans KR"/>
              </a:rPr>
              <a:t>서비스 개발에서 만난 두 문제</a:t>
            </a:r>
          </a:p>
        </p:txBody>
      </p:sp>
      <p:sp>
        <p:nvSpPr>
          <p:cNvPr id="2" name="">
            <a:extLst xmlns:a="http://schemas.openxmlformats.org/drawingml/2006/main">
              <a:ext uri="{FF2B5EF4-FFF2-40B4-BE49-F238E27FC236}">
                <a16:creationId xmlns:a16="http://schemas.microsoft.com/office/drawing/2014/main" id="{1905608F-2328-4F08-BE28-58EB57447F1F}"/>
              </a:ext>
            </a:extLst>
          </p:cNvPr>
          <p:cNvSpPr>
            <a:spLocks xmlns:a="http://schemas.openxmlformats.org/drawingml/2006/main" noGrp="1"/>
          </p:cNvSpPr>
          <p:nvPr/>
        </p:nvSpPr>
        <p:spPr>
          <a:xfrm xmlns:a="http://schemas.openxmlformats.org/drawingml/2006/main">
            <a:off x="1123950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8707B"/>
                </a:solidFill>
                <a:latin typeface="Noto Sans KR"/>
                <a:ea typeface="Noto Sans KR"/>
                <a:cs typeface="Noto Sans KR"/>
              </a:defRPr>
            </a:pPr>
            <a:r>
              <a:rPr sz="1200" b="1">
                <a:solidFill>
                  <a:srgbClr val="68707B"/>
                </a:solidFill>
                <a:latin typeface="Noto Sans KR"/>
                <a:ea typeface="Noto Sans KR"/>
                <a:cs typeface="Noto Sans KR"/>
              </a:rPr>
              <a:t>02</a:t>
            </a:r>
          </a:p>
        </p:txBody>
      </p:sp>
      <p:sp>
        <p:nvSpPr>
          <p:cNvPr id="3" name="">
            <a:extLst xmlns:a="http://schemas.openxmlformats.org/drawingml/2006/main">
              <a:ext uri="{FF2B5EF4-FFF2-40B4-BE49-F238E27FC236}">
                <a16:creationId xmlns:a16="http://schemas.microsoft.com/office/drawing/2014/main" id="{7C105DCE-573B-4836-9290-2AB0B544297A}"/>
              </a:ext>
            </a:extLst>
          </p:cNvPr>
          <p:cNvSpPr>
            <a:spLocks xmlns:a="http://schemas.openxmlformats.org/drawingml/2006/main" noGrp="1"/>
          </p:cNvSpPr>
          <p:nvPr/>
        </p:nvSpPr>
        <p:spPr>
          <a:xfrm xmlns:a="http://schemas.openxmlformats.org/drawingml/2006/main">
            <a:off x="685800" y="135255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258D7"/>
                </a:solidFill>
                <a:latin typeface="Noto Sans KR"/>
                <a:ea typeface="Noto Sans KR"/>
                <a:cs typeface="Noto Sans KR"/>
              </a:defRPr>
            </a:pPr>
            <a:r>
              <a:rPr sz="1575" b="1">
                <a:solidFill>
                  <a:srgbClr val="2258D7"/>
                </a:solidFill>
                <a:latin typeface="Noto Sans KR"/>
                <a:ea typeface="Noto Sans KR"/>
                <a:cs typeface="Noto Sans KR"/>
              </a:rPr>
              <a:t>MovieLens의 목표 시장 불일치</a:t>
            </a:r>
          </a:p>
        </p:txBody>
      </p:sp>
      <p:sp>
        <p:nvSpPr>
          <p:cNvPr id="4" name="">
            <a:extLst xmlns:a="http://schemas.openxmlformats.org/drawingml/2006/main">
              <a:ext uri="{FF2B5EF4-FFF2-40B4-BE49-F238E27FC236}">
                <a16:creationId xmlns:a16="http://schemas.microsoft.com/office/drawing/2014/main" id="{589016C0-2C38-4E62-9940-93DCF63BE6CB}"/>
              </a:ext>
            </a:extLst>
          </p:cNvPr>
          <p:cNvSpPr>
            <a:spLocks xmlns:a="http://schemas.openxmlformats.org/drawingml/2006/main" noGrp="1"/>
          </p:cNvSpPr>
          <p:nvPr/>
        </p:nvSpPr>
        <p:spPr>
          <a:xfrm xmlns:a="http://schemas.openxmlformats.org/drawingml/2006/main">
            <a:off x="685800" y="1981200"/>
            <a:ext cx="304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2258D7"/>
                </a:solidFill>
                <a:latin typeface="Noto Sans KR"/>
                <a:ea typeface="Noto Sans KR"/>
                <a:cs typeface="Noto Sans KR"/>
              </a:defRPr>
            </a:pPr>
            <a:r>
              <a:rPr sz="3900" b="1">
                <a:solidFill>
                  <a:srgbClr val="2258D7"/>
                </a:solidFill>
                <a:latin typeface="Noto Sans KR"/>
                <a:ea typeface="Noto Sans KR"/>
                <a:cs typeface="Noto Sans KR"/>
              </a:rPr>
              <a:t>78.73%</a:t>
            </a:r>
          </a:p>
        </p:txBody>
      </p:sp>
      <p:sp>
        <p:nvSpPr>
          <p:cNvPr id="5" name="">
            <a:extLst xmlns:a="http://schemas.openxmlformats.org/drawingml/2006/main">
              <a:ext uri="{FF2B5EF4-FFF2-40B4-BE49-F238E27FC236}">
                <a16:creationId xmlns:a16="http://schemas.microsoft.com/office/drawing/2014/main" id="{50F2F3E4-A98E-4DC9-AADC-9428B8CADE74}"/>
              </a:ext>
            </a:extLst>
          </p:cNvPr>
          <p:cNvSpPr>
            <a:spLocks xmlns:a="http://schemas.openxmlformats.org/drawingml/2006/main" noGrp="1"/>
          </p:cNvSpPr>
          <p:nvPr/>
        </p:nvSpPr>
        <p:spPr>
          <a:xfrm xmlns:a="http://schemas.openxmlformats.org/drawingml/2006/main">
            <a:off x="723900" y="27241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8707B"/>
                </a:solidFill>
                <a:latin typeface="Noto Sans KR"/>
                <a:ea typeface="Noto Sans KR"/>
                <a:cs typeface="Noto Sans KR"/>
              </a:defRPr>
            </a:pPr>
            <a:r>
              <a:rPr sz="1425" b="0">
                <a:solidFill>
                  <a:srgbClr val="68707B"/>
                </a:solidFill>
                <a:latin typeface="Noto Sans KR"/>
                <a:ea typeface="Noto Sans KR"/>
                <a:cs typeface="Noto Sans KR"/>
              </a:rPr>
              <a:t>유명 외국 영화 proxy Rating</a:t>
            </a:r>
          </a:p>
        </p:txBody>
      </p:sp>
      <p:sp>
        <p:nvSpPr>
          <p:cNvPr id="6" name="">
            <a:extLst xmlns:a="http://schemas.openxmlformats.org/drawingml/2006/main">
              <a:ext uri="{FF2B5EF4-FFF2-40B4-BE49-F238E27FC236}">
                <a16:creationId xmlns:a16="http://schemas.microsoft.com/office/drawing/2014/main" id="{1C3E1AAB-A36C-4B20-9438-E8750704052D}"/>
              </a:ext>
            </a:extLst>
          </p:cNvPr>
          <p:cNvSpPr>
            <a:spLocks xmlns:a="http://schemas.openxmlformats.org/drawingml/2006/main" noGrp="1"/>
          </p:cNvSpPr>
          <p:nvPr/>
        </p:nvSpPr>
        <p:spPr>
          <a:xfrm xmlns:a="http://schemas.openxmlformats.org/drawingml/2006/main">
            <a:off x="685800" y="3352800"/>
            <a:ext cx="304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E75F57"/>
                </a:solidFill>
                <a:latin typeface="Noto Sans KR"/>
                <a:ea typeface="Noto Sans KR"/>
                <a:cs typeface="Noto Sans KR"/>
              </a:defRPr>
            </a:pPr>
            <a:r>
              <a:rPr sz="3900" b="1">
                <a:solidFill>
                  <a:srgbClr val="E75F57"/>
                </a:solidFill>
                <a:latin typeface="Noto Sans KR"/>
                <a:ea typeface="Noto Sans KR"/>
                <a:cs typeface="Noto Sans KR"/>
              </a:rPr>
              <a:t>0.33%</a:t>
            </a:r>
          </a:p>
        </p:txBody>
      </p:sp>
      <p:sp>
        <p:nvSpPr>
          <p:cNvPr id="7" name="">
            <a:extLst xmlns:a="http://schemas.openxmlformats.org/drawingml/2006/main">
              <a:ext uri="{FF2B5EF4-FFF2-40B4-BE49-F238E27FC236}">
                <a16:creationId xmlns:a16="http://schemas.microsoft.com/office/drawing/2014/main" id="{E74A7E58-4146-4090-ACA8-4FC4DE4285A2}"/>
              </a:ext>
            </a:extLst>
          </p:cNvPr>
          <p:cNvSpPr>
            <a:spLocks xmlns:a="http://schemas.openxmlformats.org/drawingml/2006/main" noGrp="1"/>
          </p:cNvSpPr>
          <p:nvPr/>
        </p:nvSpPr>
        <p:spPr>
          <a:xfrm xmlns:a="http://schemas.openxmlformats.org/drawingml/2006/main">
            <a:off x="723900" y="40957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8707B"/>
                </a:solidFill>
                <a:latin typeface="Noto Sans KR"/>
                <a:ea typeface="Noto Sans KR"/>
                <a:cs typeface="Noto Sans KR"/>
              </a:defRPr>
            </a:pPr>
            <a:r>
              <a:rPr sz="1425" b="0">
                <a:solidFill>
                  <a:srgbClr val="68707B"/>
                </a:solidFill>
                <a:latin typeface="Noto Sans KR"/>
                <a:ea typeface="Noto Sans KR"/>
                <a:cs typeface="Noto Sans KR"/>
              </a:rPr>
              <a:t>한국 제작 영화 Rating</a:t>
            </a:r>
          </a:p>
        </p:txBody>
      </p:sp>
      <p:sp>
        <p:nvSpPr>
          <p:cNvPr id="8" name="">
            <a:extLst xmlns:a="http://schemas.openxmlformats.org/drawingml/2006/main">
              <a:ext uri="{FF2B5EF4-FFF2-40B4-BE49-F238E27FC236}">
                <a16:creationId xmlns:a16="http://schemas.microsoft.com/office/drawing/2014/main" id="{1F86B498-121D-4AAF-8496-5219046D19E7}"/>
              </a:ext>
            </a:extLst>
          </p:cNvPr>
          <p:cNvSpPr>
            <a:spLocks xmlns:a="http://schemas.openxmlformats.org/drawingml/2006/main" noGrp="1"/>
          </p:cNvSpPr>
          <p:nvPr/>
        </p:nvSpPr>
        <p:spPr>
          <a:xfrm xmlns:a="http://schemas.openxmlformats.org/drawingml/2006/main">
            <a:off x="685800" y="495300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52A31"/>
                </a:solidFill>
                <a:latin typeface="Noto Sans KR"/>
                <a:ea typeface="Noto Sans KR"/>
                <a:cs typeface="Noto Sans KR"/>
              </a:defRPr>
            </a:pPr>
            <a:r>
              <a:rPr sz="1875" b="1">
                <a:solidFill>
                  <a:srgbClr val="252A31"/>
                </a:solidFill>
                <a:latin typeface="Noto Sans KR"/>
                <a:ea typeface="Noto Sans KR"/>
                <a:cs typeface="Noto Sans KR"/>
              </a:rPr>
              <a:t>수록 이후 영화에는 사용자 상호작용이 없다</a:t>
            </a:r>
          </a:p>
        </p:txBody>
      </p:sp>
      <p:sp>
        <p:nvSpPr>
          <p:cNvPr id="9" name="">
            <a:extLst xmlns:a="http://schemas.openxmlformats.org/drawingml/2006/main">
              <a:ext uri="{FF2B5EF4-FFF2-40B4-BE49-F238E27FC236}">
                <a16:creationId xmlns:a16="http://schemas.microsoft.com/office/drawing/2014/main" id="{CA05BBD8-BBB9-4243-B985-D2BD8B5EEB13}"/>
              </a:ext>
            </a:extLst>
          </p:cNvPr>
          <p:cNvSpPr>
            <a:spLocks xmlns:a="http://schemas.openxmlformats.org/drawingml/2006/main" noGrp="1"/>
          </p:cNvSpPr>
          <p:nvPr/>
        </p:nvSpPr>
        <p:spPr>
          <a:xfrm xmlns:a="http://schemas.openxmlformats.org/drawingml/2006/main">
            <a:off x="6572250" y="135255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E75F57"/>
                </a:solidFill>
                <a:latin typeface="Noto Sans KR"/>
                <a:ea typeface="Noto Sans KR"/>
                <a:cs typeface="Noto Sans KR"/>
              </a:defRPr>
            </a:pPr>
            <a:r>
              <a:rPr sz="1575" b="1">
                <a:solidFill>
                  <a:srgbClr val="E75F57"/>
                </a:solidFill>
                <a:latin typeface="Noto Sans KR"/>
                <a:ea typeface="Noto Sans KR"/>
                <a:cs typeface="Noto Sans KR"/>
              </a:rPr>
              <a:t>출시 전 피드백 부재</a:t>
            </a:r>
          </a:p>
        </p:txBody>
      </p:sp>
      <p:sp>
        <p:nvSpPr>
          <p:cNvPr id="10" name="">
            <a:extLst xmlns:a="http://schemas.openxmlformats.org/drawingml/2006/main">
              <a:ext uri="{FF2B5EF4-FFF2-40B4-BE49-F238E27FC236}">
                <a16:creationId xmlns:a16="http://schemas.microsoft.com/office/drawing/2014/main" id="{E6DD87C7-60B2-44E6-B467-66C817F324A4}"/>
              </a:ext>
            </a:extLst>
          </p:cNvPr>
          <p:cNvSpPr>
            <a:spLocks xmlns:a="http://schemas.openxmlformats.org/drawingml/2006/main" noGrp="1"/>
          </p:cNvSpPr>
          <p:nvPr/>
        </p:nvSpPr>
        <p:spPr>
          <a:xfrm xmlns:a="http://schemas.openxmlformats.org/drawingml/2006/main">
            <a:off x="6572250" y="21145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52A31"/>
                </a:solidFill>
                <a:latin typeface="Noto Sans KR"/>
                <a:ea typeface="Noto Sans KR"/>
                <a:cs typeface="Noto Sans KR"/>
              </a:defRPr>
            </a:pPr>
            <a:r>
              <a:rPr sz="2325" b="1">
                <a:solidFill>
                  <a:srgbClr val="252A31"/>
                </a:solidFill>
                <a:latin typeface="Noto Sans KR"/>
                <a:ea typeface="Noto Sans KR"/>
                <a:cs typeface="Noto Sans KR"/>
              </a:rPr>
              <a:t>추천 뒤 시청과 평가</a:t>
            </a:r>
          </a:p>
        </p:txBody>
      </p:sp>
      <p:sp>
        <p:nvSpPr>
          <p:cNvPr id="11" name="">
            <a:extLst xmlns:a="http://schemas.openxmlformats.org/drawingml/2006/main">
              <a:ext uri="{FF2B5EF4-FFF2-40B4-BE49-F238E27FC236}">
                <a16:creationId xmlns:a16="http://schemas.microsoft.com/office/drawing/2014/main" id="{4278F8C5-4C0A-42F8-A189-4B1203361BCB}"/>
              </a:ext>
            </a:extLst>
          </p:cNvPr>
          <p:cNvSpPr>
            <a:spLocks xmlns:a="http://schemas.openxmlformats.org/drawingml/2006/main" noGrp="1"/>
          </p:cNvSpPr>
          <p:nvPr/>
        </p:nvSpPr>
        <p:spPr>
          <a:xfrm xmlns:a="http://schemas.openxmlformats.org/drawingml/2006/main">
            <a:off x="6572250" y="272415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E75F57"/>
                </a:solidFill>
                <a:latin typeface="Noto Sans KR"/>
                <a:ea typeface="Noto Sans KR"/>
                <a:cs typeface="Noto Sans KR"/>
              </a:defRPr>
            </a:pPr>
            <a:r>
              <a:rPr sz="3600" b="1">
                <a:solidFill>
                  <a:srgbClr val="E75F57"/>
                </a:solidFill>
                <a:latin typeface="Noto Sans KR"/>
                <a:ea typeface="Noto Sans KR"/>
                <a:cs typeface="Noto Sans KR"/>
              </a:rPr>
              <a:t>관측 불가</a:t>
            </a:r>
          </a:p>
        </p:txBody>
      </p:sp>
      <p:sp>
        <p:nvSpPr>
          <p:cNvPr id="12" name="">
            <a:extLst xmlns:a="http://schemas.openxmlformats.org/drawingml/2006/main">
              <a:ext uri="{FF2B5EF4-FFF2-40B4-BE49-F238E27FC236}">
                <a16:creationId xmlns:a16="http://schemas.microsoft.com/office/drawing/2014/main" id="{3C69675F-FD75-4B24-B543-DDF5E23A013F}"/>
              </a:ext>
            </a:extLst>
          </p:cNvPr>
          <p:cNvSpPr>
            <a:spLocks xmlns:a="http://schemas.openxmlformats.org/drawingml/2006/main" noGrp="1"/>
          </p:cNvSpPr>
          <p:nvPr/>
        </p:nvSpPr>
        <p:spPr>
          <a:xfrm xmlns:a="http://schemas.openxmlformats.org/drawingml/2006/main">
            <a:off x="6572250" y="3733800"/>
            <a:ext cx="4762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52A31"/>
                </a:solidFill>
                <a:latin typeface="Noto Sans KR"/>
                <a:ea typeface="Noto Sans KR"/>
                <a:cs typeface="Noto Sans KR"/>
              </a:defRPr>
            </a:pPr>
            <a:r>
              <a:rPr sz="1875" b="0">
                <a:solidFill>
                  <a:srgbClr val="252A31"/>
                </a:solidFill>
                <a:latin typeface="Noto Sans KR"/>
                <a:ea typeface="Noto Sans KR"/>
                <a:cs typeface="Noto Sans KR"/>
              </a:rPr>
              <a:t>실제 FEELM 사용자의 만족도를</a:t>
            </a:r>
          </a:p>
          <a:p xmlns:a="http://schemas.openxmlformats.org/drawingml/2006/main">
            <a:pPr algn="l">
              <a:defRPr sz="1875" b="0">
                <a:solidFill>
                  <a:srgbClr val="252A31"/>
                </a:solidFill>
                <a:latin typeface="Noto Sans KR"/>
                <a:ea typeface="Noto Sans KR"/>
                <a:cs typeface="Noto Sans KR"/>
              </a:defRPr>
            </a:pPr>
            <a:r>
              <a:rPr sz="1875" b="0">
                <a:solidFill>
                  <a:srgbClr val="252A31"/>
                </a:solidFill>
                <a:latin typeface="Noto Sans KR"/>
                <a:ea typeface="Noto Sans KR"/>
                <a:cs typeface="Noto Sans KR"/>
              </a:rPr>
              <a:t>오프라인 정답으로 삼을 수 없었다</a:t>
            </a:r>
          </a:p>
        </p:txBody>
      </p:sp>
      <p:sp>
        <p:nvSpPr>
          <p:cNvPr id="13" name="">
            <a:extLst xmlns:a="http://schemas.openxmlformats.org/drawingml/2006/main">
              <a:ext uri="{FF2B5EF4-FFF2-40B4-BE49-F238E27FC236}">
                <a16:creationId xmlns:a16="http://schemas.microsoft.com/office/drawing/2014/main" id="{F4C4FAC8-59F2-47B9-9A23-940FCAC177EF}"/>
              </a:ext>
            </a:extLst>
          </p:cNvPr>
          <p:cNvSpPr>
            <a:spLocks xmlns:a="http://schemas.openxmlformats.org/drawingml/2006/main" noGrp="1"/>
          </p:cNvSpPr>
          <p:nvPr/>
        </p:nvSpPr>
        <p:spPr>
          <a:xfrm xmlns:a="http://schemas.openxmlformats.org/drawingml/2006/main">
            <a:off x="609600" y="62103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68707B"/>
                </a:solidFill>
                <a:latin typeface="Noto Sans KR"/>
                <a:ea typeface="Noto Sans KR"/>
                <a:cs typeface="Noto Sans KR"/>
              </a:defRPr>
            </a:pPr>
            <a:r>
              <a:rPr sz="975" b="0">
                <a:solidFill>
                  <a:srgbClr val="68707B"/>
                </a:solidFill>
                <a:latin typeface="Noto Sans KR"/>
                <a:ea typeface="Noto Sans KR"/>
                <a:cs typeface="Noto Sans KR"/>
              </a:rPr>
              <a:t>근거: REC-DATA-006 · MovieLens 사용자는 한국 사용자가 아님</a:t>
            </a:r>
          </a:p>
        </p:txBody>
      </p:sp>
    </p:spTree>
    <p:extLst>
      <p:ext uri="{BB962C8B-B14F-4D97-AF65-F5344CB8AC3E}">
        <p14:creationId xmlns:p14="http://schemas.microsoft.com/office/powerpoint/2010/main" val="1490632952"/>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C55588A-2150-43ED-97B7-7ADB210DE192}"/>
              </a:ext>
            </a:extLst>
          </p:cNvPr>
          <p:cNvSpPr>
            <a:spLocks xmlns:a="http://schemas.openxmlformats.org/drawingml/2006/main" noGrp="1"/>
          </p:cNvSpPr>
          <p:nvPr/>
        </p:nvSpPr>
        <p:spPr>
          <a:xfrm xmlns:a="http://schemas.openxmlformats.org/drawingml/2006/main">
            <a:off x="609600" y="381000"/>
            <a:ext cx="10429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52A31"/>
                </a:solidFill>
                <a:latin typeface="Noto Sans KR"/>
                <a:ea typeface="Noto Sans KR"/>
                <a:cs typeface="Noto Sans KR"/>
              </a:defRPr>
            </a:pPr>
            <a:r>
              <a:rPr sz="2550" b="1">
                <a:solidFill>
                  <a:srgbClr val="252A31"/>
                </a:solidFill>
                <a:latin typeface="Noto Sans KR"/>
                <a:ea typeface="Noto Sans KR"/>
                <a:cs typeface="Noto Sans KR"/>
              </a:rPr>
              <a:t>데이터 역할 분리</a:t>
            </a:r>
          </a:p>
        </p:txBody>
      </p:sp>
      <p:sp>
        <p:nvSpPr>
          <p:cNvPr id="2" name="">
            <a:extLst xmlns:a="http://schemas.openxmlformats.org/drawingml/2006/main">
              <a:ext uri="{FF2B5EF4-FFF2-40B4-BE49-F238E27FC236}">
                <a16:creationId xmlns:a16="http://schemas.microsoft.com/office/drawing/2014/main" id="{9833C726-1BC1-41F5-96E3-A6BF16FE71CC}"/>
              </a:ext>
            </a:extLst>
          </p:cNvPr>
          <p:cNvSpPr>
            <a:spLocks xmlns:a="http://schemas.openxmlformats.org/drawingml/2006/main" noGrp="1"/>
          </p:cNvSpPr>
          <p:nvPr/>
        </p:nvSpPr>
        <p:spPr>
          <a:xfrm xmlns:a="http://schemas.openxmlformats.org/drawingml/2006/main">
            <a:off x="1123950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8707B"/>
                </a:solidFill>
                <a:latin typeface="Noto Sans KR"/>
                <a:ea typeface="Noto Sans KR"/>
                <a:cs typeface="Noto Sans KR"/>
              </a:defRPr>
            </a:pPr>
            <a:r>
              <a:rPr sz="1200" b="1">
                <a:solidFill>
                  <a:srgbClr val="68707B"/>
                </a:solidFill>
                <a:latin typeface="Noto Sans KR"/>
                <a:ea typeface="Noto Sans KR"/>
                <a:cs typeface="Noto Sans KR"/>
              </a:rPr>
              <a:t>03</a:t>
            </a:r>
          </a:p>
        </p:txBody>
      </p:sp>
      <p:sp>
        <p:nvSpPr>
          <p:cNvPr id="3" name="">
            <a:extLst xmlns:a="http://schemas.openxmlformats.org/drawingml/2006/main">
              <a:ext uri="{FF2B5EF4-FFF2-40B4-BE49-F238E27FC236}">
                <a16:creationId xmlns:a16="http://schemas.microsoft.com/office/drawing/2014/main" id="{8D1162CF-3857-4578-954E-E7BAAEFA6E1D}"/>
              </a:ext>
            </a:extLst>
          </p:cNvPr>
          <p:cNvSpPr>
            <a:spLocks xmlns:a="http://schemas.openxmlformats.org/drawingml/2006/main" noGrp="1"/>
          </p:cNvSpPr>
          <p:nvPr/>
        </p:nvSpPr>
        <p:spPr>
          <a:xfrm xmlns:a="http://schemas.openxmlformats.org/drawingml/2006/main">
            <a:off x="685800" y="14478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258D7"/>
                </a:solidFill>
                <a:latin typeface="Noto Sans KR"/>
                <a:ea typeface="Noto Sans KR"/>
                <a:cs typeface="Noto Sans KR"/>
              </a:defRPr>
            </a:pPr>
            <a:r>
              <a:rPr sz="1575" b="1">
                <a:solidFill>
                  <a:srgbClr val="2258D7"/>
                </a:solidFill>
                <a:latin typeface="Noto Sans KR"/>
                <a:ea typeface="Noto Sans KR"/>
                <a:cs typeface="Noto Sans KR"/>
              </a:rPr>
              <a:t>MovieLens</a:t>
            </a:r>
          </a:p>
        </p:txBody>
      </p:sp>
      <p:sp>
        <p:nvSpPr>
          <p:cNvPr id="4" name="">
            <a:extLst xmlns:a="http://schemas.openxmlformats.org/drawingml/2006/main">
              <a:ext uri="{FF2B5EF4-FFF2-40B4-BE49-F238E27FC236}">
                <a16:creationId xmlns:a16="http://schemas.microsoft.com/office/drawing/2014/main" id="{C236A6F4-10EF-4FC0-BA6B-0ACFE1E4721B}"/>
              </a:ext>
            </a:extLst>
          </p:cNvPr>
          <p:cNvSpPr>
            <a:spLocks xmlns:a="http://schemas.openxmlformats.org/drawingml/2006/main" noGrp="1"/>
          </p:cNvSpPr>
          <p:nvPr/>
        </p:nvSpPr>
        <p:spPr>
          <a:xfrm xmlns:a="http://schemas.openxmlformats.org/drawingml/2006/main">
            <a:off x="685800" y="201930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52A31"/>
                </a:solidFill>
                <a:latin typeface="Noto Sans KR"/>
                <a:ea typeface="Noto Sans KR"/>
                <a:cs typeface="Noto Sans KR"/>
              </a:defRPr>
            </a:pPr>
            <a:r>
              <a:rPr sz="2100" b="1">
                <a:solidFill>
                  <a:srgbClr val="252A31"/>
                </a:solidFill>
                <a:latin typeface="Noto Sans KR"/>
                <a:ea typeface="Noto Sans KR"/>
                <a:cs typeface="Noto Sans KR"/>
              </a:rPr>
              <a:t>사용자 평가 행동</a:t>
            </a:r>
          </a:p>
        </p:txBody>
      </p:sp>
      <p:sp>
        <p:nvSpPr>
          <p:cNvPr id="5" name="">
            <a:extLst xmlns:a="http://schemas.openxmlformats.org/drawingml/2006/main">
              <a:ext uri="{FF2B5EF4-FFF2-40B4-BE49-F238E27FC236}">
                <a16:creationId xmlns:a16="http://schemas.microsoft.com/office/drawing/2014/main" id="{A48F22D2-1479-432A-943C-85A3B0894D01}"/>
              </a:ext>
            </a:extLst>
          </p:cNvPr>
          <p:cNvSpPr>
            <a:spLocks xmlns:a="http://schemas.openxmlformats.org/drawingml/2006/main" noGrp="1"/>
          </p:cNvSpPr>
          <p:nvPr/>
        </p:nvSpPr>
        <p:spPr>
          <a:xfrm xmlns:a="http://schemas.openxmlformats.org/drawingml/2006/main">
            <a:off x="685800" y="2686050"/>
            <a:ext cx="44767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52A31"/>
                </a:solidFill>
                <a:latin typeface="Noto Sans KR"/>
                <a:ea typeface="Noto Sans KR"/>
                <a:cs typeface="Noto Sans KR"/>
              </a:defRPr>
            </a:pPr>
            <a:r>
              <a:rPr sz="1875" b="0">
                <a:solidFill>
                  <a:srgbClr val="252A31"/>
                </a:solidFill>
                <a:latin typeface="Noto Sans KR"/>
                <a:ea typeface="Noto Sans KR"/>
                <a:cs typeface="Noto Sans KR"/>
              </a:rPr>
              <a:t>모델 학습</a:t>
            </a:r>
          </a:p>
          <a:p xmlns:a="http://schemas.openxmlformats.org/drawingml/2006/main">
            <a:pPr algn="l">
              <a:defRPr sz="1875" b="0">
                <a:solidFill>
                  <a:srgbClr val="252A31"/>
                </a:solidFill>
                <a:latin typeface="Noto Sans KR"/>
                <a:ea typeface="Noto Sans KR"/>
                <a:cs typeface="Noto Sans KR"/>
              </a:defRPr>
            </a:pPr>
            <a:r>
              <a:rPr sz="1875" b="0">
                <a:solidFill>
                  <a:srgbClr val="252A31"/>
                </a:solidFill>
                <a:latin typeface="Noto Sans KR"/>
                <a:ea typeface="Noto Sans KR"/>
                <a:cs typeface="Noto Sans KR"/>
              </a:rPr>
              <a:t>사용자 내 별점 percentile</a:t>
            </a:r>
          </a:p>
          <a:p xmlns:a="http://schemas.openxmlformats.org/drawingml/2006/main">
            <a:pPr algn="l">
              <a:defRPr sz="1875" b="0">
                <a:solidFill>
                  <a:srgbClr val="252A31"/>
                </a:solidFill>
                <a:latin typeface="Noto Sans KR"/>
                <a:ea typeface="Noto Sans KR"/>
                <a:cs typeface="Noto Sans KR"/>
              </a:defRPr>
            </a:pPr>
            <a:r>
              <a:rPr sz="1875" b="0">
                <a:solidFill>
                  <a:srgbClr val="252A31"/>
                </a:solidFill>
                <a:latin typeface="Noto Sans KR"/>
                <a:ea typeface="Noto Sans KR"/>
                <a:cs typeface="Noto Sans KR"/>
              </a:rPr>
              <a:t>오프라인 선호 복원</a:t>
            </a:r>
          </a:p>
        </p:txBody>
      </p:sp>
      <p:sp>
        <p:nvSpPr>
          <p:cNvPr id="6" name="">
            <a:extLst xmlns:a="http://schemas.openxmlformats.org/drawingml/2006/main">
              <a:ext uri="{FF2B5EF4-FFF2-40B4-BE49-F238E27FC236}">
                <a16:creationId xmlns:a16="http://schemas.microsoft.com/office/drawing/2014/main" id="{E0280CF0-35FE-4701-9415-212E7F80210D}"/>
              </a:ext>
            </a:extLst>
          </p:cNvPr>
          <p:cNvSpPr>
            <a:spLocks xmlns:a="http://schemas.openxmlformats.org/drawingml/2006/main" noGrp="1"/>
          </p:cNvSpPr>
          <p:nvPr/>
        </p:nvSpPr>
        <p:spPr>
          <a:xfrm xmlns:a="http://schemas.openxmlformats.org/drawingml/2006/main">
            <a:off x="6572250" y="14478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438D89"/>
                </a:solidFill>
                <a:latin typeface="Noto Sans KR"/>
                <a:ea typeface="Noto Sans KR"/>
                <a:cs typeface="Noto Sans KR"/>
              </a:defRPr>
            </a:pPr>
            <a:r>
              <a:rPr sz="1575" b="1">
                <a:solidFill>
                  <a:srgbClr val="438D89"/>
                </a:solidFill>
                <a:latin typeface="Noto Sans KR"/>
                <a:ea typeface="Noto Sans KR"/>
                <a:cs typeface="Noto Sans KR"/>
              </a:rPr>
              <a:t>TMDB + E5</a:t>
            </a:r>
          </a:p>
        </p:txBody>
      </p:sp>
      <p:sp>
        <p:nvSpPr>
          <p:cNvPr id="7" name="">
            <a:extLst xmlns:a="http://schemas.openxmlformats.org/drawingml/2006/main">
              <a:ext uri="{FF2B5EF4-FFF2-40B4-BE49-F238E27FC236}">
                <a16:creationId xmlns:a16="http://schemas.microsoft.com/office/drawing/2014/main" id="{3298F8F8-62D0-4E38-B420-6F9AF2C333B6}"/>
              </a:ext>
            </a:extLst>
          </p:cNvPr>
          <p:cNvSpPr>
            <a:spLocks xmlns:a="http://schemas.openxmlformats.org/drawingml/2006/main" noGrp="1"/>
          </p:cNvSpPr>
          <p:nvPr/>
        </p:nvSpPr>
        <p:spPr>
          <a:xfrm xmlns:a="http://schemas.openxmlformats.org/drawingml/2006/main">
            <a:off x="6572250" y="201930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52A31"/>
                </a:solidFill>
                <a:latin typeface="Noto Sans KR"/>
                <a:ea typeface="Noto Sans KR"/>
                <a:cs typeface="Noto Sans KR"/>
              </a:defRPr>
            </a:pPr>
            <a:r>
              <a:rPr sz="2100" b="1">
                <a:solidFill>
                  <a:srgbClr val="252A31"/>
                </a:solidFill>
                <a:latin typeface="Noto Sans KR"/>
                <a:ea typeface="Noto Sans KR"/>
                <a:cs typeface="Noto Sans KR"/>
              </a:rPr>
              <a:t>영화 콘텐츠 표현</a:t>
            </a:r>
          </a:p>
        </p:txBody>
      </p:sp>
      <p:sp>
        <p:nvSpPr>
          <p:cNvPr id="8" name="">
            <a:extLst xmlns:a="http://schemas.openxmlformats.org/drawingml/2006/main">
              <a:ext uri="{FF2B5EF4-FFF2-40B4-BE49-F238E27FC236}">
                <a16:creationId xmlns:a16="http://schemas.microsoft.com/office/drawing/2014/main" id="{5511E9A7-A7C8-4101-9112-814DCBA05CC0}"/>
              </a:ext>
            </a:extLst>
          </p:cNvPr>
          <p:cNvSpPr>
            <a:spLocks xmlns:a="http://schemas.openxmlformats.org/drawingml/2006/main" noGrp="1"/>
          </p:cNvSpPr>
          <p:nvPr/>
        </p:nvSpPr>
        <p:spPr>
          <a:xfrm xmlns:a="http://schemas.openxmlformats.org/drawingml/2006/main">
            <a:off x="6572250" y="2686050"/>
            <a:ext cx="48577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52A31"/>
                </a:solidFill>
                <a:latin typeface="Noto Sans KR"/>
                <a:ea typeface="Noto Sans KR"/>
                <a:cs typeface="Noto Sans KR"/>
              </a:defRPr>
            </a:pPr>
            <a:r>
              <a:rPr sz="1875" b="0">
                <a:solidFill>
                  <a:srgbClr val="252A31"/>
                </a:solidFill>
                <a:latin typeface="Noto Sans KR"/>
                <a:ea typeface="Noto Sans KR"/>
                <a:cs typeface="Noto Sans KR"/>
              </a:rPr>
              <a:t>장르, 언어, 인물, 키워드</a:t>
            </a:r>
          </a:p>
          <a:p xmlns:a="http://schemas.openxmlformats.org/drawingml/2006/main">
            <a:pPr algn="l">
              <a:defRPr sz="1875" b="0">
                <a:solidFill>
                  <a:srgbClr val="252A31"/>
                </a:solidFill>
                <a:latin typeface="Noto Sans KR"/>
                <a:ea typeface="Noto Sans KR"/>
                <a:cs typeface="Noto Sans KR"/>
              </a:defRPr>
            </a:pPr>
            <a:r>
              <a:rPr sz="1875" b="0">
                <a:solidFill>
                  <a:srgbClr val="252A31"/>
                </a:solidFill>
                <a:latin typeface="Noto Sans KR"/>
                <a:ea typeface="Noto Sans KR"/>
                <a:cs typeface="Noto Sans KR"/>
              </a:rPr>
              <a:t>384차원 다국어 임베딩</a:t>
            </a:r>
          </a:p>
          <a:p xmlns:a="http://schemas.openxmlformats.org/drawingml/2006/main">
            <a:pPr algn="l">
              <a:defRPr sz="1875" b="0">
                <a:solidFill>
                  <a:srgbClr val="252A31"/>
                </a:solidFill>
                <a:latin typeface="Noto Sans KR"/>
                <a:ea typeface="Noto Sans KR"/>
                <a:cs typeface="Noto Sans KR"/>
              </a:defRPr>
            </a:pPr>
            <a:r>
              <a:rPr sz="1875" b="0">
                <a:solidFill>
                  <a:srgbClr val="252A31"/>
                </a:solidFill>
                <a:latin typeface="Noto Sans KR"/>
                <a:ea typeface="Noto Sans KR"/>
                <a:cs typeface="Noto Sans KR"/>
              </a:rPr>
              <a:t>상호작용이 적은 영화 후보화</a:t>
            </a:r>
          </a:p>
        </p:txBody>
      </p:sp>
      <p:sp>
        <p:nvSpPr>
          <p:cNvPr id="9" name="">
            <a:extLst xmlns:a="http://schemas.openxmlformats.org/drawingml/2006/main">
              <a:ext uri="{FF2B5EF4-FFF2-40B4-BE49-F238E27FC236}">
                <a16:creationId xmlns:a16="http://schemas.microsoft.com/office/drawing/2014/main" id="{951F0477-7532-4349-AEBF-1B591C14E67F}"/>
              </a:ext>
            </a:extLst>
          </p:cNvPr>
          <p:cNvSpPr>
            <a:spLocks xmlns:a="http://schemas.openxmlformats.org/drawingml/2006/main" noGrp="1"/>
          </p:cNvSpPr>
          <p:nvPr/>
        </p:nvSpPr>
        <p:spPr>
          <a:xfrm xmlns:a="http://schemas.openxmlformats.org/drawingml/2006/main">
            <a:off x="685800" y="525780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E75F57"/>
                </a:solidFill>
                <a:latin typeface="Noto Sans KR"/>
                <a:ea typeface="Noto Sans KR"/>
                <a:cs typeface="Noto Sans KR"/>
              </a:defRPr>
            </a:pPr>
            <a:r>
              <a:rPr sz="2100" b="1">
                <a:solidFill>
                  <a:srgbClr val="E75F57"/>
                </a:solidFill>
                <a:latin typeface="Noto Sans KR"/>
                <a:ea typeface="Noto Sans KR"/>
                <a:cs typeface="Noto Sans KR"/>
              </a:rPr>
              <a:t>한 모델이 두 문제를 동시에 해결한다고 가정하지 않았다</a:t>
            </a:r>
          </a:p>
        </p:txBody>
      </p:sp>
      <p:sp>
        <p:nvSpPr>
          <p:cNvPr id="10" name="">
            <a:extLst xmlns:a="http://schemas.openxmlformats.org/drawingml/2006/main">
              <a:ext uri="{FF2B5EF4-FFF2-40B4-BE49-F238E27FC236}">
                <a16:creationId xmlns:a16="http://schemas.microsoft.com/office/drawing/2014/main" id="{E86F764D-B41C-4C1D-997C-F6E4A1C02490}"/>
              </a:ext>
            </a:extLst>
          </p:cNvPr>
          <p:cNvSpPr>
            <a:spLocks xmlns:a="http://schemas.openxmlformats.org/drawingml/2006/main" noGrp="1"/>
          </p:cNvSpPr>
          <p:nvPr/>
        </p:nvSpPr>
        <p:spPr>
          <a:xfrm xmlns:a="http://schemas.openxmlformats.org/drawingml/2006/main">
            <a:off x="609600" y="62103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68707B"/>
                </a:solidFill>
                <a:latin typeface="Noto Sans KR"/>
                <a:ea typeface="Noto Sans KR"/>
                <a:cs typeface="Noto Sans KR"/>
              </a:defRPr>
            </a:pPr>
            <a:r>
              <a:rPr sz="975" b="0">
                <a:solidFill>
                  <a:srgbClr val="68707B"/>
                </a:solidFill>
                <a:latin typeface="Noto Sans KR"/>
                <a:ea typeface="Noto Sans KR"/>
                <a:cs typeface="Noto Sans KR"/>
              </a:rPr>
              <a:t>Rating timestamp는 시청 순서로 해석하지 않음</a:t>
            </a:r>
          </a:p>
        </p:txBody>
      </p:sp>
    </p:spTree>
    <p:extLst>
      <p:ext uri="{BB962C8B-B14F-4D97-AF65-F5344CB8AC3E}">
        <p14:creationId xmlns:p14="http://schemas.microsoft.com/office/powerpoint/2010/main" val="1483244940"/>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8ABAB68-097C-4436-80DB-F86445DFB906}"/>
              </a:ext>
            </a:extLst>
          </p:cNvPr>
          <p:cNvSpPr>
            <a:spLocks xmlns:a="http://schemas.openxmlformats.org/drawingml/2006/main" noGrp="1"/>
          </p:cNvSpPr>
          <p:nvPr/>
        </p:nvSpPr>
        <p:spPr>
          <a:xfrm xmlns:a="http://schemas.openxmlformats.org/drawingml/2006/main">
            <a:off x="609600" y="381000"/>
            <a:ext cx="10429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52A31"/>
                </a:solidFill>
                <a:latin typeface="Noto Sans KR"/>
                <a:ea typeface="Noto Sans KR"/>
                <a:cs typeface="Noto Sans KR"/>
              </a:defRPr>
            </a:pPr>
            <a:r>
              <a:rPr sz="2550" b="1">
                <a:solidFill>
                  <a:srgbClr val="252A31"/>
                </a:solidFill>
                <a:latin typeface="Noto Sans KR"/>
                <a:ea typeface="Noto Sans KR"/>
                <a:cs typeface="Noto Sans KR"/>
              </a:rPr>
              <a:t>입력 정책과 Top-2 평가</a:t>
            </a:r>
          </a:p>
        </p:txBody>
      </p:sp>
      <p:sp>
        <p:nvSpPr>
          <p:cNvPr id="2" name="">
            <a:extLst xmlns:a="http://schemas.openxmlformats.org/drawingml/2006/main">
              <a:ext uri="{FF2B5EF4-FFF2-40B4-BE49-F238E27FC236}">
                <a16:creationId xmlns:a16="http://schemas.microsoft.com/office/drawing/2014/main" id="{9831D2C0-ADCB-487C-B021-D4BB7AD79E66}"/>
              </a:ext>
            </a:extLst>
          </p:cNvPr>
          <p:cNvSpPr>
            <a:spLocks xmlns:a="http://schemas.openxmlformats.org/drawingml/2006/main" noGrp="1"/>
          </p:cNvSpPr>
          <p:nvPr/>
        </p:nvSpPr>
        <p:spPr>
          <a:xfrm xmlns:a="http://schemas.openxmlformats.org/drawingml/2006/main">
            <a:off x="1123950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8707B"/>
                </a:solidFill>
                <a:latin typeface="Noto Sans KR"/>
                <a:ea typeface="Noto Sans KR"/>
                <a:cs typeface="Noto Sans KR"/>
              </a:defRPr>
            </a:pPr>
            <a:r>
              <a:rPr sz="1200" b="1">
                <a:solidFill>
                  <a:srgbClr val="68707B"/>
                </a:solidFill>
                <a:latin typeface="Noto Sans KR"/>
                <a:ea typeface="Noto Sans KR"/>
                <a:cs typeface="Noto Sans KR"/>
              </a:rPr>
              <a:t>04</a:t>
            </a:r>
          </a:p>
        </p:txBody>
      </p:sp>
      <p:sp>
        <p:nvSpPr>
          <p:cNvPr id="3" name="">
            <a:extLst xmlns:a="http://schemas.openxmlformats.org/drawingml/2006/main">
              <a:ext uri="{FF2B5EF4-FFF2-40B4-BE49-F238E27FC236}">
                <a16:creationId xmlns:a16="http://schemas.microsoft.com/office/drawing/2014/main" id="{03AA4BC7-9C78-4B25-9326-5973EB6CF793}"/>
              </a:ext>
            </a:extLst>
          </p:cNvPr>
          <p:cNvSpPr>
            <a:spLocks xmlns:a="http://schemas.openxmlformats.org/drawingml/2006/main" noGrp="1"/>
          </p:cNvSpPr>
          <p:nvPr/>
        </p:nvSpPr>
        <p:spPr>
          <a:xfrm xmlns:a="http://schemas.openxmlformats.org/drawingml/2006/main">
            <a:off x="685800" y="13525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258D7"/>
                </a:solidFill>
                <a:latin typeface="Noto Sans KR"/>
                <a:ea typeface="Noto Sans KR"/>
                <a:cs typeface="Noto Sans KR"/>
              </a:defRPr>
            </a:pPr>
            <a:r>
              <a:rPr sz="1575" b="1">
                <a:solidFill>
                  <a:srgbClr val="2258D7"/>
                </a:solidFill>
                <a:latin typeface="Noto Sans KR"/>
                <a:ea typeface="Noto Sans KR"/>
                <a:cs typeface="Noto Sans KR"/>
              </a:rPr>
              <a:t>입력 수</a:t>
            </a:r>
          </a:p>
        </p:txBody>
      </p:sp>
      <p:sp>
        <p:nvSpPr>
          <p:cNvPr id="4" name="">
            <a:extLst xmlns:a="http://schemas.openxmlformats.org/drawingml/2006/main">
              <a:ext uri="{FF2B5EF4-FFF2-40B4-BE49-F238E27FC236}">
                <a16:creationId xmlns:a16="http://schemas.microsoft.com/office/drawing/2014/main" id="{BAAD7A3E-248C-490A-B0F2-FC4E2C9AECA2}"/>
              </a:ext>
            </a:extLst>
          </p:cNvPr>
          <p:cNvSpPr>
            <a:spLocks xmlns:a="http://schemas.openxmlformats.org/drawingml/2006/main" noGrp="1"/>
          </p:cNvSpPr>
          <p:nvPr/>
        </p:nvSpPr>
        <p:spPr>
          <a:xfrm xmlns:a="http://schemas.openxmlformats.org/drawingml/2006/main">
            <a:off x="685800" y="1905000"/>
            <a:ext cx="4572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258D7"/>
                </a:solidFill>
                <a:latin typeface="Noto Sans KR"/>
                <a:ea typeface="Noto Sans KR"/>
                <a:cs typeface="Noto Sans KR"/>
              </a:defRPr>
            </a:pPr>
            <a:r>
              <a:rPr sz="3450" b="1">
                <a:solidFill>
                  <a:srgbClr val="2258D7"/>
                </a:solidFill>
                <a:latin typeface="Noto Sans KR"/>
                <a:ea typeface="Noto Sans KR"/>
                <a:cs typeface="Noto Sans KR"/>
              </a:rPr>
              <a:t>K = 0 ~ 30</a:t>
            </a:r>
          </a:p>
        </p:txBody>
      </p:sp>
      <p:sp>
        <p:nvSpPr>
          <p:cNvPr id="5" name="">
            <a:extLst xmlns:a="http://schemas.openxmlformats.org/drawingml/2006/main">
              <a:ext uri="{FF2B5EF4-FFF2-40B4-BE49-F238E27FC236}">
                <a16:creationId xmlns:a16="http://schemas.microsoft.com/office/drawing/2014/main" id="{11D07A59-CF4E-4FA2-ACDA-F71B2B38108F}"/>
              </a:ext>
            </a:extLst>
          </p:cNvPr>
          <p:cNvSpPr>
            <a:spLocks xmlns:a="http://schemas.openxmlformats.org/drawingml/2006/main" noGrp="1"/>
          </p:cNvSpPr>
          <p:nvPr/>
        </p:nvSpPr>
        <p:spPr>
          <a:xfrm xmlns:a="http://schemas.openxmlformats.org/drawingml/2006/main">
            <a:off x="723900" y="264795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8707B"/>
                </a:solidFill>
                <a:latin typeface="Noto Sans KR"/>
                <a:ea typeface="Noto Sans KR"/>
                <a:cs typeface="Noto Sans KR"/>
              </a:defRPr>
            </a:pPr>
            <a:r>
              <a:rPr sz="1575" b="0">
                <a:solidFill>
                  <a:srgbClr val="68707B"/>
                </a:solidFill>
                <a:latin typeface="Noto Sans KR"/>
                <a:ea typeface="Noto Sans KR"/>
                <a:cs typeface="Noto Sans KR"/>
              </a:rPr>
              <a:t>한 값부터 정하지 않고 전 구간을 탐색</a:t>
            </a:r>
          </a:p>
        </p:txBody>
      </p:sp>
      <p:sp>
        <p:nvSpPr>
          <p:cNvPr id="6" name="">
            <a:extLst xmlns:a="http://schemas.openxmlformats.org/drawingml/2006/main">
              <a:ext uri="{FF2B5EF4-FFF2-40B4-BE49-F238E27FC236}">
                <a16:creationId xmlns:a16="http://schemas.microsoft.com/office/drawing/2014/main" id="{4FBFB379-BB4D-4F22-A0D8-C06F3C642559}"/>
              </a:ext>
            </a:extLst>
          </p:cNvPr>
          <p:cNvSpPr>
            <a:spLocks xmlns:a="http://schemas.openxmlformats.org/drawingml/2006/main" noGrp="1"/>
          </p:cNvSpPr>
          <p:nvPr/>
        </p:nvSpPr>
        <p:spPr>
          <a:xfrm xmlns:a="http://schemas.openxmlformats.org/drawingml/2006/main">
            <a:off x="685800" y="35814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438D89"/>
                </a:solidFill>
                <a:latin typeface="Noto Sans KR"/>
                <a:ea typeface="Noto Sans KR"/>
                <a:cs typeface="Noto Sans KR"/>
              </a:defRPr>
            </a:pPr>
            <a:r>
              <a:rPr sz="1575" b="1">
                <a:solidFill>
                  <a:srgbClr val="438D89"/>
                </a:solidFill>
                <a:latin typeface="Noto Sans KR"/>
                <a:ea typeface="Noto Sans KR"/>
                <a:cs typeface="Noto Sans KR"/>
              </a:rPr>
              <a:t>별점 해석</a:t>
            </a:r>
          </a:p>
        </p:txBody>
      </p:sp>
      <p:sp>
        <p:nvSpPr>
          <p:cNvPr id="7" name="">
            <a:extLst xmlns:a="http://schemas.openxmlformats.org/drawingml/2006/main">
              <a:ext uri="{FF2B5EF4-FFF2-40B4-BE49-F238E27FC236}">
                <a16:creationId xmlns:a16="http://schemas.microsoft.com/office/drawing/2014/main" id="{CA7EEB44-E67A-4314-8CC9-7FA4319D6A7D}"/>
              </a:ext>
            </a:extLst>
          </p:cNvPr>
          <p:cNvSpPr>
            <a:spLocks xmlns:a="http://schemas.openxmlformats.org/drawingml/2006/main" noGrp="1"/>
          </p:cNvSpPr>
          <p:nvPr/>
        </p:nvSpPr>
        <p:spPr>
          <a:xfrm xmlns:a="http://schemas.openxmlformats.org/drawingml/2006/main">
            <a:off x="685800" y="4114800"/>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52A31"/>
                </a:solidFill>
                <a:latin typeface="Noto Sans KR"/>
                <a:ea typeface="Noto Sans KR"/>
                <a:cs typeface="Noto Sans KR"/>
              </a:defRPr>
            </a:pPr>
            <a:r>
              <a:rPr sz="2550" b="1">
                <a:solidFill>
                  <a:srgbClr val="252A31"/>
                </a:solidFill>
                <a:latin typeface="Noto Sans KR"/>
                <a:ea typeface="Noto Sans KR"/>
                <a:cs typeface="Noto Sans KR"/>
              </a:rPr>
              <a:t>사용자 내 percentile</a:t>
            </a:r>
          </a:p>
        </p:txBody>
      </p:sp>
      <p:sp>
        <p:nvSpPr>
          <p:cNvPr id="8" name="">
            <a:extLst xmlns:a="http://schemas.openxmlformats.org/drawingml/2006/main">
              <a:ext uri="{FF2B5EF4-FFF2-40B4-BE49-F238E27FC236}">
                <a16:creationId xmlns:a16="http://schemas.microsoft.com/office/drawing/2014/main" id="{3D58EAF9-C34E-4DF9-9AA7-CA68E757D03E}"/>
              </a:ext>
            </a:extLst>
          </p:cNvPr>
          <p:cNvSpPr>
            <a:spLocks xmlns:a="http://schemas.openxmlformats.org/drawingml/2006/main" noGrp="1"/>
          </p:cNvSpPr>
          <p:nvPr/>
        </p:nvSpPr>
        <p:spPr>
          <a:xfrm xmlns:a="http://schemas.openxmlformats.org/drawingml/2006/main">
            <a:off x="723900" y="478155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8707B"/>
                </a:solidFill>
                <a:latin typeface="Noto Sans KR"/>
                <a:ea typeface="Noto Sans KR"/>
                <a:cs typeface="Noto Sans KR"/>
              </a:defRPr>
            </a:pPr>
            <a:r>
              <a:rPr sz="1575" b="0">
                <a:solidFill>
                  <a:srgbClr val="68707B"/>
                </a:solidFill>
                <a:latin typeface="Noto Sans KR"/>
                <a:ea typeface="Noto Sans KR"/>
                <a:cs typeface="Noto Sans KR"/>
              </a:rPr>
              <a:t>Binary · Percentile · Ordinal 비교</a:t>
            </a:r>
          </a:p>
        </p:txBody>
      </p:sp>
      <p:sp>
        <p:nvSpPr>
          <p:cNvPr id="9" name="">
            <a:extLst xmlns:a="http://schemas.openxmlformats.org/drawingml/2006/main">
              <a:ext uri="{FF2B5EF4-FFF2-40B4-BE49-F238E27FC236}">
                <a16:creationId xmlns:a16="http://schemas.microsoft.com/office/drawing/2014/main" id="{F1B2457B-FE85-4909-9CCB-46B340CE8956}"/>
              </a:ext>
            </a:extLst>
          </p:cNvPr>
          <p:cNvSpPr>
            <a:spLocks xmlns:a="http://schemas.openxmlformats.org/drawingml/2006/main" noGrp="1"/>
          </p:cNvSpPr>
          <p:nvPr/>
        </p:nvSpPr>
        <p:spPr>
          <a:xfrm xmlns:a="http://schemas.openxmlformats.org/drawingml/2006/main">
            <a:off x="6667500" y="135255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E75F57"/>
                </a:solidFill>
                <a:latin typeface="Noto Sans KR"/>
                <a:ea typeface="Noto Sans KR"/>
                <a:cs typeface="Noto Sans KR"/>
              </a:defRPr>
            </a:pPr>
            <a:r>
              <a:rPr sz="1575" b="1">
                <a:solidFill>
                  <a:srgbClr val="E75F57"/>
                </a:solidFill>
                <a:latin typeface="Noto Sans KR"/>
                <a:ea typeface="Noto Sans KR"/>
                <a:cs typeface="Noto Sans KR"/>
              </a:rPr>
              <a:t>화면과 같은 두 편</a:t>
            </a:r>
          </a:p>
        </p:txBody>
      </p:sp>
      <p:sp>
        <p:nvSpPr>
          <p:cNvPr id="10" name="">
            <a:extLst xmlns:a="http://schemas.openxmlformats.org/drawingml/2006/main">
              <a:ext uri="{FF2B5EF4-FFF2-40B4-BE49-F238E27FC236}">
                <a16:creationId xmlns:a16="http://schemas.microsoft.com/office/drawing/2014/main" id="{FE61E8B0-C187-4606-9BE7-60E2DE5A832C}"/>
              </a:ext>
            </a:extLst>
          </p:cNvPr>
          <p:cNvSpPr>
            <a:spLocks xmlns:a="http://schemas.openxmlformats.org/drawingml/2006/main" noGrp="1"/>
          </p:cNvSpPr>
          <p:nvPr/>
        </p:nvSpPr>
        <p:spPr>
          <a:xfrm xmlns:a="http://schemas.openxmlformats.org/drawingml/2006/main">
            <a:off x="6667500" y="203835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52A31"/>
                </a:solidFill>
                <a:latin typeface="Noto Sans KR"/>
                <a:ea typeface="Noto Sans KR"/>
                <a:cs typeface="Noto Sans KR"/>
              </a:defRPr>
            </a:pPr>
            <a:r>
              <a:rPr sz="2550" b="1">
                <a:solidFill>
                  <a:srgbClr val="252A31"/>
                </a:solidFill>
                <a:latin typeface="Noto Sans KR"/>
                <a:ea typeface="Noto Sans KR"/>
                <a:cs typeface="Noto Sans KR"/>
              </a:rPr>
              <a:t>평균 선호</a:t>
            </a:r>
          </a:p>
        </p:txBody>
      </p:sp>
      <p:sp>
        <p:nvSpPr>
          <p:cNvPr id="11" name="">
            <a:extLst xmlns:a="http://schemas.openxmlformats.org/drawingml/2006/main">
              <a:ext uri="{FF2B5EF4-FFF2-40B4-BE49-F238E27FC236}">
                <a16:creationId xmlns:a16="http://schemas.microsoft.com/office/drawing/2014/main" id="{9F6CD17F-0B42-4D4C-BAFB-7FCDCBC3D093}"/>
              </a:ext>
            </a:extLst>
          </p:cNvPr>
          <p:cNvSpPr>
            <a:spLocks xmlns:a="http://schemas.openxmlformats.org/drawingml/2006/main" noGrp="1"/>
          </p:cNvSpPr>
          <p:nvPr/>
        </p:nvSpPr>
        <p:spPr>
          <a:xfrm xmlns:a="http://schemas.openxmlformats.org/drawingml/2006/main">
            <a:off x="6667500" y="2781300"/>
            <a:ext cx="76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68707B"/>
                </a:solidFill>
                <a:latin typeface="Noto Sans KR"/>
                <a:ea typeface="Noto Sans KR"/>
                <a:cs typeface="Noto Sans KR"/>
              </a:defRPr>
            </a:pPr>
            <a:r>
              <a:rPr sz="2250" b="1">
                <a:solidFill>
                  <a:srgbClr val="68707B"/>
                </a:solidFill>
                <a:latin typeface="Noto Sans KR"/>
                <a:ea typeface="Noto Sans KR"/>
                <a:cs typeface="Noto Sans KR"/>
              </a:rPr>
              <a:t>+</a:t>
            </a:r>
          </a:p>
        </p:txBody>
      </p:sp>
      <p:sp>
        <p:nvSpPr>
          <p:cNvPr id="12" name="">
            <a:extLst xmlns:a="http://schemas.openxmlformats.org/drawingml/2006/main">
              <a:ext uri="{FF2B5EF4-FFF2-40B4-BE49-F238E27FC236}">
                <a16:creationId xmlns:a16="http://schemas.microsoft.com/office/drawing/2014/main" id="{9308D0E9-E0DE-4AAA-BBCC-BF6648744FF6}"/>
              </a:ext>
            </a:extLst>
          </p:cNvPr>
          <p:cNvSpPr>
            <a:spLocks xmlns:a="http://schemas.openxmlformats.org/drawingml/2006/main" noGrp="1"/>
          </p:cNvSpPr>
          <p:nvPr/>
        </p:nvSpPr>
        <p:spPr>
          <a:xfrm xmlns:a="http://schemas.openxmlformats.org/drawingml/2006/main">
            <a:off x="6667500" y="3371850"/>
            <a:ext cx="447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52A31"/>
                </a:solidFill>
                <a:latin typeface="Noto Sans KR"/>
                <a:ea typeface="Noto Sans KR"/>
                <a:cs typeface="Noto Sans KR"/>
              </a:defRPr>
            </a:pPr>
            <a:r>
              <a:rPr sz="2550" b="1">
                <a:solidFill>
                  <a:srgbClr val="252A31"/>
                </a:solidFill>
                <a:latin typeface="Noto Sans KR"/>
                <a:ea typeface="Noto Sans KR"/>
                <a:cs typeface="Noto Sans KR"/>
              </a:rPr>
              <a:t>두 편 중 최저 선호</a:t>
            </a:r>
          </a:p>
        </p:txBody>
      </p:sp>
      <p:sp>
        <p:nvSpPr>
          <p:cNvPr id="13" name="">
            <a:extLst xmlns:a="http://schemas.openxmlformats.org/drawingml/2006/main">
              <a:ext uri="{FF2B5EF4-FFF2-40B4-BE49-F238E27FC236}">
                <a16:creationId xmlns:a16="http://schemas.microsoft.com/office/drawing/2014/main" id="{C7D18E15-990F-4C9B-A1A8-FB576F952F35}"/>
              </a:ext>
            </a:extLst>
          </p:cNvPr>
          <p:cNvSpPr>
            <a:spLocks xmlns:a="http://schemas.openxmlformats.org/drawingml/2006/main" noGrp="1"/>
          </p:cNvSpPr>
          <p:nvPr/>
        </p:nvSpPr>
        <p:spPr>
          <a:xfrm xmlns:a="http://schemas.openxmlformats.org/drawingml/2006/main">
            <a:off x="6667500" y="4381500"/>
            <a:ext cx="4762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E75F57"/>
                </a:solidFill>
                <a:latin typeface="Noto Sans KR"/>
                <a:ea typeface="Noto Sans KR"/>
                <a:cs typeface="Noto Sans KR"/>
              </a:defRPr>
            </a:pPr>
            <a:r>
              <a:rPr sz="1875" b="0">
                <a:solidFill>
                  <a:srgbClr val="E75F57"/>
                </a:solidFill>
                <a:latin typeface="Noto Sans KR"/>
                <a:ea typeface="Noto Sans KR"/>
                <a:cs typeface="Noto Sans KR"/>
              </a:rPr>
              <a:t>좋은 한 편만 맞히고 싫은 한 편을</a:t>
            </a:r>
          </a:p>
          <a:p xmlns:a="http://schemas.openxmlformats.org/drawingml/2006/main">
            <a:pPr algn="l">
              <a:defRPr sz="1875" b="0">
                <a:solidFill>
                  <a:srgbClr val="E75F57"/>
                </a:solidFill>
                <a:latin typeface="Noto Sans KR"/>
                <a:ea typeface="Noto Sans KR"/>
                <a:cs typeface="Noto Sans KR"/>
              </a:defRPr>
            </a:pPr>
            <a:r>
              <a:rPr sz="1875" b="0">
                <a:solidFill>
                  <a:srgbClr val="E75F57"/>
                </a:solidFill>
                <a:latin typeface="Noto Sans KR"/>
                <a:ea typeface="Noto Sans KR"/>
                <a:cs typeface="Noto Sans KR"/>
              </a:rPr>
              <a:t>섞는 모델을 통과시키지 않음</a:t>
            </a:r>
          </a:p>
        </p:txBody>
      </p:sp>
      <p:sp>
        <p:nvSpPr>
          <p:cNvPr id="14" name="">
            <a:extLst xmlns:a="http://schemas.openxmlformats.org/drawingml/2006/main">
              <a:ext uri="{FF2B5EF4-FFF2-40B4-BE49-F238E27FC236}">
                <a16:creationId xmlns:a16="http://schemas.microsoft.com/office/drawing/2014/main" id="{7CCF47E5-475A-472C-80F2-A067B53642F5}"/>
              </a:ext>
            </a:extLst>
          </p:cNvPr>
          <p:cNvSpPr>
            <a:spLocks xmlns:a="http://schemas.openxmlformats.org/drawingml/2006/main" noGrp="1"/>
          </p:cNvSpPr>
          <p:nvPr/>
        </p:nvSpPr>
        <p:spPr>
          <a:xfrm xmlns:a="http://schemas.openxmlformats.org/drawingml/2006/main">
            <a:off x="609600" y="62103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68707B"/>
                </a:solidFill>
                <a:latin typeface="Noto Sans KR"/>
                <a:ea typeface="Noto Sans KR"/>
                <a:cs typeface="Noto Sans KR"/>
              </a:defRPr>
            </a:pPr>
            <a:r>
              <a:rPr sz="975" b="0">
                <a:solidFill>
                  <a:srgbClr val="68707B"/>
                </a:solidFill>
                <a:latin typeface="Noto Sans KR"/>
                <a:ea typeface="Noto Sans KR"/>
                <a:cs typeface="Noto Sans KR"/>
              </a:rPr>
              <a:t>평가 단위는 사용자 · 동일 사용자 네 개의 분리 panel</a:t>
            </a:r>
          </a:p>
        </p:txBody>
      </p:sp>
    </p:spTree>
    <p:extLst>
      <p:ext uri="{BB962C8B-B14F-4D97-AF65-F5344CB8AC3E}">
        <p14:creationId xmlns:p14="http://schemas.microsoft.com/office/powerpoint/2010/main" val="121386255"/>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C86CC3B-9A14-49F1-9977-F7AD0992B6CB}"/>
              </a:ext>
            </a:extLst>
          </p:cNvPr>
          <p:cNvSpPr>
            <a:spLocks xmlns:a="http://schemas.openxmlformats.org/drawingml/2006/main" noGrp="1"/>
          </p:cNvSpPr>
          <p:nvPr/>
        </p:nvSpPr>
        <p:spPr>
          <a:xfrm xmlns:a="http://schemas.openxmlformats.org/drawingml/2006/main">
            <a:off x="609600" y="381000"/>
            <a:ext cx="10429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52A31"/>
                </a:solidFill>
                <a:latin typeface="Noto Sans KR"/>
                <a:ea typeface="Noto Sans KR"/>
                <a:cs typeface="Noto Sans KR"/>
              </a:defRPr>
            </a:pPr>
            <a:r>
              <a:rPr sz="2550" b="1">
                <a:solidFill>
                  <a:srgbClr val="252A31"/>
                </a:solidFill>
                <a:latin typeface="Noto Sans KR"/>
                <a:ea typeface="Noto Sans KR"/>
                <a:cs typeface="Noto Sans KR"/>
              </a:rPr>
              <a:t>K=6·8·14를 모델 개발 후보로 유지</a:t>
            </a:r>
          </a:p>
        </p:txBody>
      </p:sp>
      <p:sp>
        <p:nvSpPr>
          <p:cNvPr id="2" name="">
            <a:extLst xmlns:a="http://schemas.openxmlformats.org/drawingml/2006/main">
              <a:ext uri="{FF2B5EF4-FFF2-40B4-BE49-F238E27FC236}">
                <a16:creationId xmlns:a16="http://schemas.microsoft.com/office/drawing/2014/main" id="{8EA6F392-4135-4F97-847E-04B31DDE95DE}"/>
              </a:ext>
            </a:extLst>
          </p:cNvPr>
          <p:cNvSpPr>
            <a:spLocks xmlns:a="http://schemas.openxmlformats.org/drawingml/2006/main" noGrp="1"/>
          </p:cNvSpPr>
          <p:nvPr/>
        </p:nvSpPr>
        <p:spPr>
          <a:xfrm xmlns:a="http://schemas.openxmlformats.org/drawingml/2006/main">
            <a:off x="1123950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8707B"/>
                </a:solidFill>
                <a:latin typeface="Noto Sans KR"/>
                <a:ea typeface="Noto Sans KR"/>
                <a:cs typeface="Noto Sans KR"/>
              </a:defRPr>
            </a:pPr>
            <a:r>
              <a:rPr sz="1200" b="1">
                <a:solidFill>
                  <a:srgbClr val="68707B"/>
                </a:solidFill>
                <a:latin typeface="Noto Sans KR"/>
                <a:ea typeface="Noto Sans KR"/>
                <a:cs typeface="Noto Sans KR"/>
              </a:rPr>
              <a:t>05</a:t>
            </a:r>
          </a:p>
        </p:txBody>
      </p:sp>
      <p:graphicFrame>
        <p:nvGraphicFramePr>
          <p:cNvPr id="11" name="Chart"/>
          <p:cNvGraphicFramePr/>
          <p:nvPr/>
        </p:nvGraphicFramePr>
        <p:xfrm>
          <a:off xmlns:a="http://schemas.openxmlformats.org/drawingml/2006/main" x="609600" y="1352550"/>
          <a:ext xmlns:a="http://schemas.openxmlformats.org/drawingml/2006/main" cx="6858000" cy="4095750"/>
        </p:xfrm>
        <a:graphic xmlns:a="http://schemas.openxmlformats.org/drawingml/2006/main">
          <a:graphicData uri="http://schemas.openxmlformats.org/drawingml/2006/chart">
            <c:chart xmlns:r="http://schemas.openxmlformats.org/officeDocument/2006/relationships" xmlns:c="http://schemas.openxmlformats.org/drawingml/2006/chart" r:id="R6fdf2e2d993c4bb8"/>
          </a:graphicData>
        </a:graphic>
      </p:graphicFrame>
      <p:sp>
        <p:nvSpPr>
          <p:cNvPr id="4" name="">
            <a:extLst xmlns:a="http://schemas.openxmlformats.org/drawingml/2006/main">
              <a:ext uri="{FF2B5EF4-FFF2-40B4-BE49-F238E27FC236}">
                <a16:creationId xmlns:a16="http://schemas.microsoft.com/office/drawing/2014/main" id="{E04B1495-CCF7-465A-B2F2-0D51171AB7F0}"/>
              </a:ext>
            </a:extLst>
          </p:cNvPr>
          <p:cNvSpPr>
            <a:spLocks xmlns:a="http://schemas.openxmlformats.org/drawingml/2006/main" noGrp="1"/>
          </p:cNvSpPr>
          <p:nvPr/>
        </p:nvSpPr>
        <p:spPr>
          <a:xfrm xmlns:a="http://schemas.openxmlformats.org/drawingml/2006/main">
            <a:off x="8096250" y="15811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258D7"/>
                </a:solidFill>
                <a:latin typeface="Noto Sans KR"/>
                <a:ea typeface="Noto Sans KR"/>
                <a:cs typeface="Noto Sans KR"/>
              </a:defRPr>
            </a:pPr>
            <a:r>
              <a:rPr sz="1575" b="1">
                <a:solidFill>
                  <a:srgbClr val="2258D7"/>
                </a:solidFill>
                <a:latin typeface="Noto Sans KR"/>
                <a:ea typeface="Noto Sans KR"/>
                <a:cs typeface="Noto Sans KR"/>
              </a:rPr>
              <a:t>후속 모델 비교</a:t>
            </a:r>
          </a:p>
        </p:txBody>
      </p:sp>
      <p:sp>
        <p:nvSpPr>
          <p:cNvPr id="5" name="">
            <a:extLst xmlns:a="http://schemas.openxmlformats.org/drawingml/2006/main">
              <a:ext uri="{FF2B5EF4-FFF2-40B4-BE49-F238E27FC236}">
                <a16:creationId xmlns:a16="http://schemas.microsoft.com/office/drawing/2014/main" id="{4577F7F2-B5CC-475F-8AD6-0292AD190C64}"/>
              </a:ext>
            </a:extLst>
          </p:cNvPr>
          <p:cNvSpPr>
            <a:spLocks xmlns:a="http://schemas.openxmlformats.org/drawingml/2006/main" noGrp="1"/>
          </p:cNvSpPr>
          <p:nvPr/>
        </p:nvSpPr>
        <p:spPr>
          <a:xfrm xmlns:a="http://schemas.openxmlformats.org/drawingml/2006/main">
            <a:off x="8096250" y="2152650"/>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258D7"/>
                </a:solidFill>
                <a:latin typeface="Noto Sans KR"/>
                <a:ea typeface="Noto Sans KR"/>
                <a:cs typeface="Noto Sans KR"/>
              </a:defRPr>
            </a:pPr>
            <a:r>
              <a:rPr sz="3375" b="1">
                <a:solidFill>
                  <a:srgbClr val="2258D7"/>
                </a:solidFill>
                <a:latin typeface="Noto Sans KR"/>
                <a:ea typeface="Noto Sans KR"/>
                <a:cs typeface="Noto Sans KR"/>
              </a:rPr>
              <a:t>6개 cell</a:t>
            </a:r>
          </a:p>
        </p:txBody>
      </p:sp>
      <p:sp>
        <p:nvSpPr>
          <p:cNvPr id="6" name="">
            <a:extLst xmlns:a="http://schemas.openxmlformats.org/drawingml/2006/main">
              <a:ext uri="{FF2B5EF4-FFF2-40B4-BE49-F238E27FC236}">
                <a16:creationId xmlns:a16="http://schemas.microsoft.com/office/drawing/2014/main" id="{EDFA287A-859E-47F7-B6E0-5DFAEF4CBFC5}"/>
              </a:ext>
            </a:extLst>
          </p:cNvPr>
          <p:cNvSpPr>
            <a:spLocks xmlns:a="http://schemas.openxmlformats.org/drawingml/2006/main" noGrp="1"/>
          </p:cNvSpPr>
          <p:nvPr/>
        </p:nvSpPr>
        <p:spPr>
          <a:xfrm xmlns:a="http://schemas.openxmlformats.org/drawingml/2006/main">
            <a:off x="8096250" y="2952750"/>
            <a:ext cx="333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52A31"/>
                </a:solidFill>
                <a:latin typeface="Noto Sans KR"/>
                <a:ea typeface="Noto Sans KR"/>
                <a:cs typeface="Noto Sans KR"/>
              </a:defRPr>
            </a:pPr>
            <a:r>
              <a:rPr sz="2025" b="1">
                <a:solidFill>
                  <a:srgbClr val="252A31"/>
                </a:solidFill>
                <a:latin typeface="Noto Sans KR"/>
                <a:ea typeface="Noto Sans KR"/>
                <a:cs typeface="Noto Sans KR"/>
              </a:rPr>
              <a:t>K=6·8·14</a:t>
            </a:r>
          </a:p>
          <a:p xmlns:a="http://schemas.openxmlformats.org/drawingml/2006/main">
            <a:pPr algn="l">
              <a:defRPr sz="2025" b="1">
                <a:solidFill>
                  <a:srgbClr val="252A31"/>
                </a:solidFill>
                <a:latin typeface="Noto Sans KR"/>
                <a:ea typeface="Noto Sans KR"/>
                <a:cs typeface="Noto Sans KR"/>
              </a:defRPr>
            </a:pPr>
            <a:r>
              <a:rPr sz="2025" b="1">
                <a:solidFill>
                  <a:srgbClr val="252A31"/>
                </a:solidFill>
                <a:latin typeface="Noto Sans KR"/>
                <a:ea typeface="Noto Sans KR"/>
                <a:cs typeface="Noto Sans KR"/>
              </a:rPr>
              <a:t>Binary, Percentile</a:t>
            </a:r>
          </a:p>
        </p:txBody>
      </p:sp>
      <p:sp>
        <p:nvSpPr>
          <p:cNvPr id="7" name="">
            <a:extLst xmlns:a="http://schemas.openxmlformats.org/drawingml/2006/main">
              <a:ext uri="{FF2B5EF4-FFF2-40B4-BE49-F238E27FC236}">
                <a16:creationId xmlns:a16="http://schemas.microsoft.com/office/drawing/2014/main" id="{A243593A-FEC3-4187-80E0-87A7BA51EB47}"/>
              </a:ext>
            </a:extLst>
          </p:cNvPr>
          <p:cNvSpPr>
            <a:spLocks xmlns:a="http://schemas.openxmlformats.org/drawingml/2006/main" noGrp="1"/>
          </p:cNvSpPr>
          <p:nvPr/>
        </p:nvSpPr>
        <p:spPr>
          <a:xfrm xmlns:a="http://schemas.openxmlformats.org/drawingml/2006/main">
            <a:off x="8096250" y="4400550"/>
            <a:ext cx="342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E75F57"/>
                </a:solidFill>
                <a:latin typeface="Noto Sans KR"/>
                <a:ea typeface="Noto Sans KR"/>
                <a:cs typeface="Noto Sans KR"/>
              </a:defRPr>
            </a:pPr>
            <a:r>
              <a:rPr sz="1725" b="0">
                <a:solidFill>
                  <a:srgbClr val="E75F57"/>
                </a:solidFill>
                <a:latin typeface="Noto Sans KR"/>
                <a:ea typeface="Noto Sans KR"/>
                <a:cs typeface="Noto Sans KR"/>
              </a:rPr>
              <a:t>K=30까지 plateau 없음</a:t>
            </a:r>
          </a:p>
          <a:p xmlns:a="http://schemas.openxmlformats.org/drawingml/2006/main">
            <a:pPr algn="l">
              <a:defRPr sz="1725" b="0">
                <a:solidFill>
                  <a:srgbClr val="E75F57"/>
                </a:solidFill>
                <a:latin typeface="Noto Sans KR"/>
                <a:ea typeface="Noto Sans KR"/>
                <a:cs typeface="Noto Sans KR"/>
              </a:defRPr>
            </a:pPr>
            <a:r>
              <a:rPr sz="1725" b="0">
                <a:solidFill>
                  <a:srgbClr val="E75F57"/>
                </a:solidFill>
                <a:latin typeface="Noto Sans KR"/>
                <a:ea typeface="Noto Sans KR"/>
                <a:cs typeface="Noto Sans KR"/>
              </a:rPr>
              <a:t>K=14 최적 결론 없음</a:t>
            </a:r>
          </a:p>
        </p:txBody>
      </p:sp>
      <p:sp>
        <p:nvSpPr>
          <p:cNvPr id="8" name="">
            <a:extLst xmlns:a="http://schemas.openxmlformats.org/drawingml/2006/main">
              <a:ext uri="{FF2B5EF4-FFF2-40B4-BE49-F238E27FC236}">
                <a16:creationId xmlns:a16="http://schemas.microsoft.com/office/drawing/2014/main" id="{BBCCAEDF-7D9E-47A1-B22D-2923F23AB399}"/>
              </a:ext>
            </a:extLst>
          </p:cNvPr>
          <p:cNvSpPr>
            <a:spLocks xmlns:a="http://schemas.openxmlformats.org/drawingml/2006/main" noGrp="1"/>
          </p:cNvSpPr>
          <p:nvPr/>
        </p:nvSpPr>
        <p:spPr>
          <a:xfrm xmlns:a="http://schemas.openxmlformats.org/drawingml/2006/main">
            <a:off x="609600" y="62103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68707B"/>
                </a:solidFill>
                <a:latin typeface="Noto Sans KR"/>
                <a:ea typeface="Noto Sans KR"/>
                <a:cs typeface="Noto Sans KR"/>
              </a:defRPr>
            </a:pPr>
            <a:r>
              <a:rPr sz="975" b="0">
                <a:solidFill>
                  <a:srgbClr val="68707B"/>
                </a:solidFill>
                <a:latin typeface="Noto Sans KR"/>
                <a:ea typeface="Noto Sans KR"/>
                <a:cs typeface="Noto Sans KR"/>
              </a:rPr>
              <a:t>REC-EV-022B · 제품 K와 입력 UI는 미승인</a:t>
            </a:r>
          </a:p>
        </p:txBody>
      </p:sp>
    </p:spTree>
    <p:extLst>
      <p:ext uri="{BB962C8B-B14F-4D97-AF65-F5344CB8AC3E}">
        <p14:creationId xmlns:p14="http://schemas.microsoft.com/office/powerpoint/2010/main" val="1062016191"/>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26D2441-AD94-43DB-A121-9DC45CFA74B5}"/>
              </a:ext>
            </a:extLst>
          </p:cNvPr>
          <p:cNvSpPr>
            <a:spLocks xmlns:a="http://schemas.openxmlformats.org/drawingml/2006/main" noGrp="1"/>
          </p:cNvSpPr>
          <p:nvPr/>
        </p:nvSpPr>
        <p:spPr>
          <a:xfrm xmlns:a="http://schemas.openxmlformats.org/drawingml/2006/main">
            <a:off x="609600" y="381000"/>
            <a:ext cx="10429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52A31"/>
                </a:solidFill>
                <a:latin typeface="Noto Sans KR"/>
                <a:ea typeface="Noto Sans KR"/>
                <a:cs typeface="Noto Sans KR"/>
              </a:defRPr>
            </a:pPr>
            <a:r>
              <a:rPr sz="2550" b="1">
                <a:solidFill>
                  <a:srgbClr val="252A31"/>
                </a:solidFill>
                <a:latin typeface="Noto Sans KR"/>
                <a:ea typeface="Noto Sans KR"/>
                <a:cs typeface="Noto Sans KR"/>
              </a:rPr>
              <a:t>콘텐츠 방법을 바꾼 실험 흐름</a:t>
            </a:r>
          </a:p>
        </p:txBody>
      </p:sp>
      <p:sp>
        <p:nvSpPr>
          <p:cNvPr id="2" name="">
            <a:extLst xmlns:a="http://schemas.openxmlformats.org/drawingml/2006/main">
              <a:ext uri="{FF2B5EF4-FFF2-40B4-BE49-F238E27FC236}">
                <a16:creationId xmlns:a16="http://schemas.microsoft.com/office/drawing/2014/main" id="{C86BBCB8-0539-40A3-AAEC-CC4D3BBA30B7}"/>
              </a:ext>
            </a:extLst>
          </p:cNvPr>
          <p:cNvSpPr>
            <a:spLocks xmlns:a="http://schemas.openxmlformats.org/drawingml/2006/main" noGrp="1"/>
          </p:cNvSpPr>
          <p:nvPr/>
        </p:nvSpPr>
        <p:spPr>
          <a:xfrm xmlns:a="http://schemas.openxmlformats.org/drawingml/2006/main">
            <a:off x="1123950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8707B"/>
                </a:solidFill>
                <a:latin typeface="Noto Sans KR"/>
                <a:ea typeface="Noto Sans KR"/>
                <a:cs typeface="Noto Sans KR"/>
              </a:defRPr>
            </a:pPr>
            <a:r>
              <a:rPr sz="1200" b="1">
                <a:solidFill>
                  <a:srgbClr val="68707B"/>
                </a:solidFill>
                <a:latin typeface="Noto Sans KR"/>
                <a:ea typeface="Noto Sans KR"/>
                <a:cs typeface="Noto Sans KR"/>
              </a:rPr>
              <a:t>06</a:t>
            </a:r>
          </a:p>
        </p:txBody>
      </p:sp>
      <p:sp>
        <p:nvSpPr>
          <p:cNvPr id="3" name="">
            <a:extLst xmlns:a="http://schemas.openxmlformats.org/drawingml/2006/main">
              <a:ext uri="{FF2B5EF4-FFF2-40B4-BE49-F238E27FC236}">
                <a16:creationId xmlns:a16="http://schemas.microsoft.com/office/drawing/2014/main" id="{4A167C05-BD70-49BD-9853-7FF6137A7272}"/>
              </a:ext>
            </a:extLst>
          </p:cNvPr>
          <p:cNvSpPr>
            <a:spLocks xmlns:a="http://schemas.openxmlformats.org/drawingml/2006/main" noGrp="1"/>
          </p:cNvSpPr>
          <p:nvPr/>
        </p:nvSpPr>
        <p:spPr>
          <a:xfrm xmlns:a="http://schemas.openxmlformats.org/drawingml/2006/main">
            <a:off x="685800" y="1276350"/>
            <a:ext cx="123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68707B"/>
                </a:solidFill>
                <a:latin typeface="Noto Sans KR"/>
                <a:ea typeface="Noto Sans KR"/>
                <a:cs typeface="Noto Sans KR"/>
              </a:defRPr>
            </a:pPr>
            <a:r>
              <a:rPr sz="1500" b="1">
                <a:solidFill>
                  <a:srgbClr val="68707B"/>
                </a:solidFill>
                <a:latin typeface="Noto Sans KR"/>
                <a:ea typeface="Noto Sans KR"/>
                <a:cs typeface="Noto Sans KR"/>
              </a:rPr>
              <a:t>023B/C</a:t>
            </a:r>
          </a:p>
        </p:txBody>
      </p:sp>
      <p:sp>
        <p:nvSpPr>
          <p:cNvPr id="4" name="">
            <a:extLst xmlns:a="http://schemas.openxmlformats.org/drawingml/2006/main">
              <a:ext uri="{FF2B5EF4-FFF2-40B4-BE49-F238E27FC236}">
                <a16:creationId xmlns:a16="http://schemas.microsoft.com/office/drawing/2014/main" id="{97DC46A9-C878-453D-AD75-9AA54DA816CD}"/>
              </a:ext>
            </a:extLst>
          </p:cNvPr>
          <p:cNvSpPr>
            <a:spLocks xmlns:a="http://schemas.openxmlformats.org/drawingml/2006/main" noGrp="1"/>
          </p:cNvSpPr>
          <p:nvPr/>
        </p:nvSpPr>
        <p:spPr>
          <a:xfrm xmlns:a="http://schemas.openxmlformats.org/drawingml/2006/main">
            <a:off x="2133600" y="127635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52A31"/>
                </a:solidFill>
                <a:latin typeface="Noto Sans KR"/>
                <a:ea typeface="Noto Sans KR"/>
                <a:cs typeface="Noto Sans KR"/>
              </a:defRPr>
            </a:pPr>
            <a:r>
              <a:rPr sz="1875" b="1">
                <a:solidFill>
                  <a:srgbClr val="252A31"/>
                </a:solidFill>
                <a:latin typeface="Noto Sans KR"/>
                <a:ea typeface="Noto Sans KR"/>
                <a:cs typeface="Noto Sans KR"/>
              </a:rPr>
              <a:t>TMDB 구조</a:t>
            </a:r>
          </a:p>
        </p:txBody>
      </p:sp>
      <p:sp>
        <p:nvSpPr>
          <p:cNvPr id="5" name="">
            <a:extLst xmlns:a="http://schemas.openxmlformats.org/drawingml/2006/main">
              <a:ext uri="{FF2B5EF4-FFF2-40B4-BE49-F238E27FC236}">
                <a16:creationId xmlns:a16="http://schemas.microsoft.com/office/drawing/2014/main" id="{68052148-74D0-422F-A73F-B3B767B0A873}"/>
              </a:ext>
            </a:extLst>
          </p:cNvPr>
          <p:cNvSpPr>
            <a:spLocks xmlns:a="http://schemas.openxmlformats.org/drawingml/2006/main" noGrp="1"/>
          </p:cNvSpPr>
          <p:nvPr/>
        </p:nvSpPr>
        <p:spPr>
          <a:xfrm xmlns:a="http://schemas.openxmlformats.org/drawingml/2006/main">
            <a:off x="6096000" y="12763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52A31"/>
                </a:solidFill>
                <a:latin typeface="Noto Sans KR"/>
                <a:ea typeface="Noto Sans KR"/>
                <a:cs typeface="Noto Sans KR"/>
              </a:defRPr>
            </a:pPr>
            <a:r>
              <a:rPr sz="1650" b="0">
                <a:solidFill>
                  <a:srgbClr val="252A31"/>
                </a:solidFill>
                <a:latin typeface="Noto Sans KR"/>
                <a:ea typeface="Noto Sans KR"/>
                <a:cs typeface="Noto Sans KR"/>
              </a:rPr>
              <a:t>masked pseudo-cold 신호 유지</a:t>
            </a:r>
          </a:p>
        </p:txBody>
      </p:sp>
      <p:sp>
        <p:nvSpPr>
          <p:cNvPr id="6" name="">
            <a:extLst xmlns:a="http://schemas.openxmlformats.org/drawingml/2006/main">
              <a:ext uri="{FF2B5EF4-FFF2-40B4-BE49-F238E27FC236}">
                <a16:creationId xmlns:a16="http://schemas.microsoft.com/office/drawing/2014/main" id="{BD0B3AF9-D6F3-4F4C-BDF2-623517BB5A87}"/>
              </a:ext>
            </a:extLst>
          </p:cNvPr>
          <p:cNvSpPr>
            <a:spLocks xmlns:a="http://schemas.openxmlformats.org/drawingml/2006/main" noGrp="1"/>
          </p:cNvSpPr>
          <p:nvPr/>
        </p:nvSpPr>
        <p:spPr>
          <a:xfrm xmlns:a="http://schemas.openxmlformats.org/drawingml/2006/main">
            <a:off x="685800" y="2019300"/>
            <a:ext cx="123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68707B"/>
                </a:solidFill>
                <a:latin typeface="Noto Sans KR"/>
                <a:ea typeface="Noto Sans KR"/>
                <a:cs typeface="Noto Sans KR"/>
              </a:defRPr>
            </a:pPr>
            <a:r>
              <a:rPr sz="1500" b="1">
                <a:solidFill>
                  <a:srgbClr val="68707B"/>
                </a:solidFill>
                <a:latin typeface="Noto Sans KR"/>
                <a:ea typeface="Noto Sans KR"/>
                <a:cs typeface="Noto Sans KR"/>
              </a:rPr>
              <a:t>023D</a:t>
            </a:r>
          </a:p>
        </p:txBody>
      </p:sp>
      <p:sp>
        <p:nvSpPr>
          <p:cNvPr id="7" name="">
            <a:extLst xmlns:a="http://schemas.openxmlformats.org/drawingml/2006/main">
              <a:ext uri="{FF2B5EF4-FFF2-40B4-BE49-F238E27FC236}">
                <a16:creationId xmlns:a16="http://schemas.microsoft.com/office/drawing/2014/main" id="{64A1D779-6C0E-4AED-B52B-7B197C7E3DD6}"/>
              </a:ext>
            </a:extLst>
          </p:cNvPr>
          <p:cNvSpPr>
            <a:spLocks xmlns:a="http://schemas.openxmlformats.org/drawingml/2006/main" noGrp="1"/>
          </p:cNvSpPr>
          <p:nvPr/>
        </p:nvSpPr>
        <p:spPr>
          <a:xfrm xmlns:a="http://schemas.openxmlformats.org/drawingml/2006/main">
            <a:off x="2133600" y="201930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52A31"/>
                </a:solidFill>
                <a:latin typeface="Noto Sans KR"/>
                <a:ea typeface="Noto Sans KR"/>
                <a:cs typeface="Noto Sans KR"/>
              </a:defRPr>
            </a:pPr>
            <a:r>
              <a:rPr sz="1875" b="1">
                <a:solidFill>
                  <a:srgbClr val="252A31"/>
                </a:solidFill>
                <a:latin typeface="Noto Sans KR"/>
                <a:ea typeface="Noto Sans KR"/>
                <a:cs typeface="Noto Sans KR"/>
              </a:rPr>
              <a:t>E5·RRF·LightFM</a:t>
            </a:r>
          </a:p>
        </p:txBody>
      </p:sp>
      <p:sp>
        <p:nvSpPr>
          <p:cNvPr id="8" name="">
            <a:extLst xmlns:a="http://schemas.openxmlformats.org/drawingml/2006/main">
              <a:ext uri="{FF2B5EF4-FFF2-40B4-BE49-F238E27FC236}">
                <a16:creationId xmlns:a16="http://schemas.microsoft.com/office/drawing/2014/main" id="{2250222E-3EF3-4E48-B876-06ED95238EEA}"/>
              </a:ext>
            </a:extLst>
          </p:cNvPr>
          <p:cNvSpPr>
            <a:spLocks xmlns:a="http://schemas.openxmlformats.org/drawingml/2006/main" noGrp="1"/>
          </p:cNvSpPr>
          <p:nvPr/>
        </p:nvSpPr>
        <p:spPr>
          <a:xfrm xmlns:a="http://schemas.openxmlformats.org/drawingml/2006/main">
            <a:off x="6096000" y="20193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52A31"/>
                </a:solidFill>
                <a:latin typeface="Noto Sans KR"/>
                <a:ea typeface="Noto Sans KR"/>
                <a:cs typeface="Noto Sans KR"/>
              </a:defRPr>
            </a:pPr>
            <a:r>
              <a:rPr sz="1650" b="0">
                <a:solidFill>
                  <a:srgbClr val="252A31"/>
                </a:solidFill>
                <a:latin typeface="Noto Sans KR"/>
                <a:ea typeface="Noto Sans KR"/>
                <a:cs typeface="Noto Sans KR"/>
              </a:rPr>
              <a:t>증분 근거 없음</a:t>
            </a:r>
          </a:p>
        </p:txBody>
      </p:sp>
      <p:sp>
        <p:nvSpPr>
          <p:cNvPr id="9" name="">
            <a:extLst xmlns:a="http://schemas.openxmlformats.org/drawingml/2006/main">
              <a:ext uri="{FF2B5EF4-FFF2-40B4-BE49-F238E27FC236}">
                <a16:creationId xmlns:a16="http://schemas.microsoft.com/office/drawing/2014/main" id="{5A515330-5188-46E5-A25E-A0DE21996634}"/>
              </a:ext>
            </a:extLst>
          </p:cNvPr>
          <p:cNvSpPr>
            <a:spLocks xmlns:a="http://schemas.openxmlformats.org/drawingml/2006/main" noGrp="1"/>
          </p:cNvSpPr>
          <p:nvPr/>
        </p:nvSpPr>
        <p:spPr>
          <a:xfrm xmlns:a="http://schemas.openxmlformats.org/drawingml/2006/main">
            <a:off x="685800" y="2762250"/>
            <a:ext cx="123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68707B"/>
                </a:solidFill>
                <a:latin typeface="Noto Sans KR"/>
                <a:ea typeface="Noto Sans KR"/>
                <a:cs typeface="Noto Sans KR"/>
              </a:defRPr>
            </a:pPr>
            <a:r>
              <a:rPr sz="1500" b="1">
                <a:solidFill>
                  <a:srgbClr val="68707B"/>
                </a:solidFill>
                <a:latin typeface="Noto Sans KR"/>
                <a:ea typeface="Noto Sans KR"/>
                <a:cs typeface="Noto Sans KR"/>
              </a:rPr>
              <a:t>023E/F</a:t>
            </a:r>
          </a:p>
        </p:txBody>
      </p:sp>
      <p:sp>
        <p:nvSpPr>
          <p:cNvPr id="10" name="">
            <a:extLst xmlns:a="http://schemas.openxmlformats.org/drawingml/2006/main">
              <a:ext uri="{FF2B5EF4-FFF2-40B4-BE49-F238E27FC236}">
                <a16:creationId xmlns:a16="http://schemas.microsoft.com/office/drawing/2014/main" id="{64237E9A-9C85-4805-A3FB-E90B24BBFF96}"/>
              </a:ext>
            </a:extLst>
          </p:cNvPr>
          <p:cNvSpPr>
            <a:spLocks xmlns:a="http://schemas.openxmlformats.org/drawingml/2006/main" noGrp="1"/>
          </p:cNvSpPr>
          <p:nvPr/>
        </p:nvSpPr>
        <p:spPr>
          <a:xfrm xmlns:a="http://schemas.openxmlformats.org/drawingml/2006/main">
            <a:off x="2133600" y="276225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52A31"/>
                </a:solidFill>
                <a:latin typeface="Noto Sans KR"/>
                <a:ea typeface="Noto Sans KR"/>
                <a:cs typeface="Noto Sans KR"/>
              </a:defRPr>
            </a:pPr>
            <a:r>
              <a:rPr sz="1875" b="1">
                <a:solidFill>
                  <a:srgbClr val="252A31"/>
                </a:solidFill>
                <a:latin typeface="Noto Sans KR"/>
                <a:ea typeface="Noto Sans KR"/>
                <a:cs typeface="Noto Sans KR"/>
              </a:rPr>
              <a:t>한국·최근 target</a:t>
            </a:r>
          </a:p>
        </p:txBody>
      </p:sp>
      <p:sp>
        <p:nvSpPr>
          <p:cNvPr id="11" name="">
            <a:extLst xmlns:a="http://schemas.openxmlformats.org/drawingml/2006/main">
              <a:ext uri="{FF2B5EF4-FFF2-40B4-BE49-F238E27FC236}">
                <a16:creationId xmlns:a16="http://schemas.microsoft.com/office/drawing/2014/main" id="{672AF35C-8BF4-465F-9C4F-75116EB56086}"/>
              </a:ext>
            </a:extLst>
          </p:cNvPr>
          <p:cNvSpPr>
            <a:spLocks xmlns:a="http://schemas.openxmlformats.org/drawingml/2006/main" noGrp="1"/>
          </p:cNvSpPr>
          <p:nvPr/>
        </p:nvSpPr>
        <p:spPr>
          <a:xfrm xmlns:a="http://schemas.openxmlformats.org/drawingml/2006/main">
            <a:off x="6096000" y="27622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52A31"/>
                </a:solidFill>
                <a:latin typeface="Noto Sans KR"/>
                <a:ea typeface="Noto Sans KR"/>
                <a:cs typeface="Noto Sans KR"/>
              </a:defRPr>
            </a:pPr>
            <a:r>
              <a:rPr sz="1650" b="0">
                <a:solidFill>
                  <a:srgbClr val="252A31"/>
                </a:solidFill>
                <a:latin typeface="Noto Sans KR"/>
                <a:ea typeface="Noto Sans KR"/>
                <a:cs typeface="Noto Sans KR"/>
              </a:rPr>
              <a:t>robust target 신호 없음</a:t>
            </a:r>
          </a:p>
        </p:txBody>
      </p:sp>
      <p:sp>
        <p:nvSpPr>
          <p:cNvPr id="12" name="">
            <a:extLst xmlns:a="http://schemas.openxmlformats.org/drawingml/2006/main">
              <a:ext uri="{FF2B5EF4-FFF2-40B4-BE49-F238E27FC236}">
                <a16:creationId xmlns:a16="http://schemas.microsoft.com/office/drawing/2014/main" id="{6D1C8B3E-2144-454C-9D7F-F8B96E26AFA0}"/>
              </a:ext>
            </a:extLst>
          </p:cNvPr>
          <p:cNvSpPr>
            <a:spLocks xmlns:a="http://schemas.openxmlformats.org/drawingml/2006/main" noGrp="1"/>
          </p:cNvSpPr>
          <p:nvPr/>
        </p:nvSpPr>
        <p:spPr>
          <a:xfrm xmlns:a="http://schemas.openxmlformats.org/drawingml/2006/main">
            <a:off x="685800" y="3505200"/>
            <a:ext cx="123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68707B"/>
                </a:solidFill>
                <a:latin typeface="Noto Sans KR"/>
                <a:ea typeface="Noto Sans KR"/>
                <a:cs typeface="Noto Sans KR"/>
              </a:defRPr>
            </a:pPr>
            <a:r>
              <a:rPr sz="1500" b="1">
                <a:solidFill>
                  <a:srgbClr val="68707B"/>
                </a:solidFill>
                <a:latin typeface="Noto Sans KR"/>
                <a:ea typeface="Noto Sans KR"/>
                <a:cs typeface="Noto Sans KR"/>
              </a:rPr>
              <a:t>024</a:t>
            </a:r>
          </a:p>
        </p:txBody>
      </p:sp>
      <p:sp>
        <p:nvSpPr>
          <p:cNvPr id="13" name="">
            <a:extLst xmlns:a="http://schemas.openxmlformats.org/drawingml/2006/main">
              <a:ext uri="{FF2B5EF4-FFF2-40B4-BE49-F238E27FC236}">
                <a16:creationId xmlns:a16="http://schemas.microsoft.com/office/drawing/2014/main" id="{C8203C06-CF2D-4A47-9D74-78FBF778722D}"/>
              </a:ext>
            </a:extLst>
          </p:cNvPr>
          <p:cNvSpPr>
            <a:spLocks xmlns:a="http://schemas.openxmlformats.org/drawingml/2006/main" noGrp="1"/>
          </p:cNvSpPr>
          <p:nvPr/>
        </p:nvSpPr>
        <p:spPr>
          <a:xfrm xmlns:a="http://schemas.openxmlformats.org/drawingml/2006/main">
            <a:off x="2133600" y="350520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52A31"/>
                </a:solidFill>
                <a:latin typeface="Noto Sans KR"/>
                <a:ea typeface="Noto Sans KR"/>
                <a:cs typeface="Noto Sans KR"/>
              </a:defRPr>
            </a:pPr>
            <a:r>
              <a:rPr sz="1875" b="1">
                <a:solidFill>
                  <a:srgbClr val="252A31"/>
                </a:solidFill>
                <a:latin typeface="Noto Sans KR"/>
                <a:ea typeface="Noto Sans KR"/>
                <a:cs typeface="Noto Sans KR"/>
              </a:rPr>
              <a:t>고정 anchor 두 편</a:t>
            </a:r>
          </a:p>
        </p:txBody>
      </p:sp>
      <p:sp>
        <p:nvSpPr>
          <p:cNvPr id="14" name="">
            <a:extLst xmlns:a="http://schemas.openxmlformats.org/drawingml/2006/main">
              <a:ext uri="{FF2B5EF4-FFF2-40B4-BE49-F238E27FC236}">
                <a16:creationId xmlns:a16="http://schemas.microsoft.com/office/drawing/2014/main" id="{0793AA3B-A506-4C29-95D1-F99FEF0AC53E}"/>
              </a:ext>
            </a:extLst>
          </p:cNvPr>
          <p:cNvSpPr>
            <a:spLocks xmlns:a="http://schemas.openxmlformats.org/drawingml/2006/main" noGrp="1"/>
          </p:cNvSpPr>
          <p:nvPr/>
        </p:nvSpPr>
        <p:spPr>
          <a:xfrm xmlns:a="http://schemas.openxmlformats.org/drawingml/2006/main">
            <a:off x="6096000" y="35052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52A31"/>
                </a:solidFill>
                <a:latin typeface="Noto Sans KR"/>
                <a:ea typeface="Noto Sans KR"/>
                <a:cs typeface="Noto Sans KR"/>
              </a:defRPr>
            </a:pPr>
            <a:r>
              <a:rPr sz="1650" b="0">
                <a:solidFill>
                  <a:srgbClr val="252A31"/>
                </a:solidFill>
                <a:latin typeface="Noto Sans KR"/>
                <a:ea typeface="Noto Sans KR"/>
                <a:cs typeface="Noto Sans KR"/>
              </a:rPr>
              <a:t>입력만으로 해결 못함</a:t>
            </a:r>
          </a:p>
        </p:txBody>
      </p:sp>
      <p:sp>
        <p:nvSpPr>
          <p:cNvPr id="15" name="">
            <a:extLst xmlns:a="http://schemas.openxmlformats.org/drawingml/2006/main">
              <a:ext uri="{FF2B5EF4-FFF2-40B4-BE49-F238E27FC236}">
                <a16:creationId xmlns:a16="http://schemas.microsoft.com/office/drawing/2014/main" id="{074281F6-9380-431C-8905-2419A3CB3F06}"/>
              </a:ext>
            </a:extLst>
          </p:cNvPr>
          <p:cNvSpPr>
            <a:spLocks xmlns:a="http://schemas.openxmlformats.org/drawingml/2006/main" noGrp="1"/>
          </p:cNvSpPr>
          <p:nvPr/>
        </p:nvSpPr>
        <p:spPr>
          <a:xfrm xmlns:a="http://schemas.openxmlformats.org/drawingml/2006/main">
            <a:off x="685800" y="4248150"/>
            <a:ext cx="123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68707B"/>
                </a:solidFill>
                <a:latin typeface="Noto Sans KR"/>
                <a:ea typeface="Noto Sans KR"/>
                <a:cs typeface="Noto Sans KR"/>
              </a:defRPr>
            </a:pPr>
            <a:r>
              <a:rPr sz="1500" b="1">
                <a:solidFill>
                  <a:srgbClr val="68707B"/>
                </a:solidFill>
                <a:latin typeface="Noto Sans KR"/>
                <a:ea typeface="Noto Sans KR"/>
                <a:cs typeface="Noto Sans KR"/>
              </a:rPr>
              <a:t>025</a:t>
            </a:r>
          </a:p>
        </p:txBody>
      </p:sp>
      <p:sp>
        <p:nvSpPr>
          <p:cNvPr id="16" name="">
            <a:extLst xmlns:a="http://schemas.openxmlformats.org/drawingml/2006/main">
              <a:ext uri="{FF2B5EF4-FFF2-40B4-BE49-F238E27FC236}">
                <a16:creationId xmlns:a16="http://schemas.microsoft.com/office/drawing/2014/main" id="{EDBB1C91-0347-4402-9AF3-E23B5B00D32B}"/>
              </a:ext>
            </a:extLst>
          </p:cNvPr>
          <p:cNvSpPr>
            <a:spLocks xmlns:a="http://schemas.openxmlformats.org/drawingml/2006/main" noGrp="1"/>
          </p:cNvSpPr>
          <p:nvPr/>
        </p:nvSpPr>
        <p:spPr>
          <a:xfrm xmlns:a="http://schemas.openxmlformats.org/drawingml/2006/main">
            <a:off x="2133600" y="424815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52A31"/>
                </a:solidFill>
                <a:latin typeface="Noto Sans KR"/>
                <a:ea typeface="Noto Sans KR"/>
                <a:cs typeface="Noto Sans KR"/>
              </a:defRPr>
            </a:pPr>
            <a:r>
              <a:rPr sz="1875" b="1">
                <a:solidFill>
                  <a:srgbClr val="252A31"/>
                </a:solidFill>
                <a:latin typeface="Noto Sans KR"/>
                <a:ea typeface="Noto Sans KR"/>
                <a:cs typeface="Noto Sans KR"/>
              </a:rPr>
              <a:t>feature transfer</a:t>
            </a:r>
          </a:p>
        </p:txBody>
      </p:sp>
      <p:sp>
        <p:nvSpPr>
          <p:cNvPr id="17" name="">
            <a:extLst xmlns:a="http://schemas.openxmlformats.org/drawingml/2006/main">
              <a:ext uri="{FF2B5EF4-FFF2-40B4-BE49-F238E27FC236}">
                <a16:creationId xmlns:a16="http://schemas.microsoft.com/office/drawing/2014/main" id="{8041C18D-803E-4784-9E0E-2AFE661E47A6}"/>
              </a:ext>
            </a:extLst>
          </p:cNvPr>
          <p:cNvSpPr>
            <a:spLocks xmlns:a="http://schemas.openxmlformats.org/drawingml/2006/main" noGrp="1"/>
          </p:cNvSpPr>
          <p:nvPr/>
        </p:nvSpPr>
        <p:spPr>
          <a:xfrm xmlns:a="http://schemas.openxmlformats.org/drawingml/2006/main">
            <a:off x="6096000" y="42481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52A31"/>
                </a:solidFill>
                <a:latin typeface="Noto Sans KR"/>
                <a:ea typeface="Noto Sans KR"/>
                <a:cs typeface="Noto Sans KR"/>
              </a:defRPr>
            </a:pPr>
            <a:r>
              <a:rPr sz="1650" b="0">
                <a:solidFill>
                  <a:srgbClr val="252A31"/>
                </a:solidFill>
                <a:latin typeface="Noto Sans KR"/>
                <a:ea typeface="Noto Sans KR"/>
                <a:cs typeface="Noto Sans KR"/>
              </a:rPr>
              <a:t>정밀도 부족 또는 robust head 없음</a:t>
            </a:r>
          </a:p>
        </p:txBody>
      </p:sp>
      <p:sp>
        <p:nvSpPr>
          <p:cNvPr id="18" name="">
            <a:extLst xmlns:a="http://schemas.openxmlformats.org/drawingml/2006/main">
              <a:ext uri="{FF2B5EF4-FFF2-40B4-BE49-F238E27FC236}">
                <a16:creationId xmlns:a16="http://schemas.microsoft.com/office/drawing/2014/main" id="{F186E304-0854-47A6-857C-862E61EF6935}"/>
              </a:ext>
            </a:extLst>
          </p:cNvPr>
          <p:cNvSpPr>
            <a:spLocks xmlns:a="http://schemas.openxmlformats.org/drawingml/2006/main" noGrp="1"/>
          </p:cNvSpPr>
          <p:nvPr/>
        </p:nvSpPr>
        <p:spPr>
          <a:xfrm xmlns:a="http://schemas.openxmlformats.org/drawingml/2006/main">
            <a:off x="685800" y="4991100"/>
            <a:ext cx="123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258D7"/>
                </a:solidFill>
                <a:latin typeface="Noto Sans KR"/>
                <a:ea typeface="Noto Sans KR"/>
                <a:cs typeface="Noto Sans KR"/>
              </a:defRPr>
            </a:pPr>
            <a:r>
              <a:rPr sz="1500" b="1">
                <a:solidFill>
                  <a:srgbClr val="2258D7"/>
                </a:solidFill>
                <a:latin typeface="Noto Sans KR"/>
                <a:ea typeface="Noto Sans KR"/>
                <a:cs typeface="Noto Sans KR"/>
              </a:rPr>
              <a:t>026</a:t>
            </a:r>
          </a:p>
        </p:txBody>
      </p:sp>
      <p:sp>
        <p:nvSpPr>
          <p:cNvPr id="19" name="">
            <a:extLst xmlns:a="http://schemas.openxmlformats.org/drawingml/2006/main">
              <a:ext uri="{FF2B5EF4-FFF2-40B4-BE49-F238E27FC236}">
                <a16:creationId xmlns:a16="http://schemas.microsoft.com/office/drawing/2014/main" id="{AAFF5076-07CA-47C8-96D7-7A351F51E489}"/>
              </a:ext>
            </a:extLst>
          </p:cNvPr>
          <p:cNvSpPr>
            <a:spLocks xmlns:a="http://schemas.openxmlformats.org/drawingml/2006/main" noGrp="1"/>
          </p:cNvSpPr>
          <p:nvPr/>
        </p:nvSpPr>
        <p:spPr>
          <a:xfrm xmlns:a="http://schemas.openxmlformats.org/drawingml/2006/main">
            <a:off x="2133600" y="499110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52A31"/>
                </a:solidFill>
                <a:latin typeface="Noto Sans KR"/>
                <a:ea typeface="Noto Sans KR"/>
                <a:cs typeface="Noto Sans KR"/>
              </a:defRPr>
            </a:pPr>
            <a:r>
              <a:rPr sz="1875" b="1">
                <a:solidFill>
                  <a:srgbClr val="252A31"/>
                </a:solidFill>
                <a:latin typeface="Noto Sans KR"/>
                <a:ea typeface="Noto Sans KR"/>
                <a:cs typeface="Noto Sans KR"/>
              </a:rPr>
              <a:t>E5를 BPR 공간에 정렬</a:t>
            </a:r>
          </a:p>
        </p:txBody>
      </p:sp>
      <p:sp>
        <p:nvSpPr>
          <p:cNvPr id="20" name="">
            <a:extLst xmlns:a="http://schemas.openxmlformats.org/drawingml/2006/main">
              <a:ext uri="{FF2B5EF4-FFF2-40B4-BE49-F238E27FC236}">
                <a16:creationId xmlns:a16="http://schemas.microsoft.com/office/drawing/2014/main" id="{AA04AC59-11E4-4224-AFB2-176767B04735}"/>
              </a:ext>
            </a:extLst>
          </p:cNvPr>
          <p:cNvSpPr>
            <a:spLocks xmlns:a="http://schemas.openxmlformats.org/drawingml/2006/main" noGrp="1"/>
          </p:cNvSpPr>
          <p:nvPr/>
        </p:nvSpPr>
        <p:spPr>
          <a:xfrm xmlns:a="http://schemas.openxmlformats.org/drawingml/2006/main">
            <a:off x="6096000" y="49911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258D7"/>
                </a:solidFill>
                <a:latin typeface="Noto Sans KR"/>
                <a:ea typeface="Noto Sans KR"/>
                <a:cs typeface="Noto Sans KR"/>
              </a:defRPr>
            </a:pPr>
            <a:r>
              <a:rPr sz="1650" b="1">
                <a:solidFill>
                  <a:srgbClr val="2258D7"/>
                </a:solidFill>
                <a:latin typeface="Noto Sans KR"/>
                <a:ea typeface="Noto Sans KR"/>
                <a:cs typeface="Noto Sans KR"/>
              </a:rPr>
              <a:t>한국 target에 양수 평균</a:t>
            </a:r>
          </a:p>
        </p:txBody>
      </p:sp>
      <p:sp>
        <p:nvSpPr>
          <p:cNvPr id="21" name="">
            <a:extLst xmlns:a="http://schemas.openxmlformats.org/drawingml/2006/main">
              <a:ext uri="{FF2B5EF4-FFF2-40B4-BE49-F238E27FC236}">
                <a16:creationId xmlns:a16="http://schemas.microsoft.com/office/drawing/2014/main" id="{A4A7AAB3-C263-40CD-8E94-DC7133428C19}"/>
              </a:ext>
            </a:extLst>
          </p:cNvPr>
          <p:cNvSpPr>
            <a:spLocks xmlns:a="http://schemas.openxmlformats.org/drawingml/2006/main" noGrp="1"/>
          </p:cNvSpPr>
          <p:nvPr/>
        </p:nvSpPr>
        <p:spPr>
          <a:xfrm xmlns:a="http://schemas.openxmlformats.org/drawingml/2006/main">
            <a:off x="609600" y="62103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68707B"/>
                </a:solidFill>
                <a:latin typeface="Noto Sans KR"/>
                <a:ea typeface="Noto Sans KR"/>
                <a:cs typeface="Noto Sans KR"/>
              </a:defRPr>
            </a:pPr>
            <a:r>
              <a:rPr sz="975" b="0">
                <a:solidFill>
                  <a:srgbClr val="68707B"/>
                </a:solidFill>
                <a:latin typeface="Noto Sans KR"/>
                <a:ea typeface="Noto Sans KR"/>
                <a:cs typeface="Noto Sans KR"/>
              </a:rPr>
              <a:t>직접 콘텐츠 조합의 실패를 보고 콘텐츠와 협업 표현의 간극을 다룸</a:t>
            </a:r>
          </a:p>
        </p:txBody>
      </p:sp>
    </p:spTree>
    <p:extLst>
      <p:ext uri="{BB962C8B-B14F-4D97-AF65-F5344CB8AC3E}">
        <p14:creationId xmlns:p14="http://schemas.microsoft.com/office/powerpoint/2010/main" val="1792236196"/>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DC2CDA4-DE51-4F55-8D8C-A3C9104F980B}"/>
              </a:ext>
            </a:extLst>
          </p:cNvPr>
          <p:cNvSpPr>
            <a:spLocks xmlns:a="http://schemas.openxmlformats.org/drawingml/2006/main" noGrp="1"/>
          </p:cNvSpPr>
          <p:nvPr/>
        </p:nvSpPr>
        <p:spPr>
          <a:xfrm xmlns:a="http://schemas.openxmlformats.org/drawingml/2006/main">
            <a:off x="609600" y="381000"/>
            <a:ext cx="10429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52A31"/>
                </a:solidFill>
                <a:latin typeface="Noto Sans KR"/>
                <a:ea typeface="Noto Sans KR"/>
                <a:cs typeface="Noto Sans KR"/>
              </a:defRPr>
            </a:pPr>
            <a:r>
              <a:rPr sz="2550" b="1">
                <a:solidFill>
                  <a:srgbClr val="252A31"/>
                </a:solidFill>
                <a:latin typeface="Noto Sans KR"/>
                <a:ea typeface="Noto Sans KR"/>
                <a:cs typeface="Noto Sans KR"/>
              </a:rPr>
              <a:t>한국 target의 평균은 양수였지만 확증하지 못했다</a:t>
            </a:r>
          </a:p>
        </p:txBody>
      </p:sp>
      <p:sp>
        <p:nvSpPr>
          <p:cNvPr id="2" name="">
            <a:extLst xmlns:a="http://schemas.openxmlformats.org/drawingml/2006/main">
              <a:ext uri="{FF2B5EF4-FFF2-40B4-BE49-F238E27FC236}">
                <a16:creationId xmlns:a16="http://schemas.microsoft.com/office/drawing/2014/main" id="{18676698-45A8-400F-93BF-5E670AC8010E}"/>
              </a:ext>
            </a:extLst>
          </p:cNvPr>
          <p:cNvSpPr>
            <a:spLocks xmlns:a="http://schemas.openxmlformats.org/drawingml/2006/main" noGrp="1"/>
          </p:cNvSpPr>
          <p:nvPr/>
        </p:nvSpPr>
        <p:spPr>
          <a:xfrm xmlns:a="http://schemas.openxmlformats.org/drawingml/2006/main">
            <a:off x="1123950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8707B"/>
                </a:solidFill>
                <a:latin typeface="Noto Sans KR"/>
                <a:ea typeface="Noto Sans KR"/>
                <a:cs typeface="Noto Sans KR"/>
              </a:defRPr>
            </a:pPr>
            <a:r>
              <a:rPr sz="1200" b="1">
                <a:solidFill>
                  <a:srgbClr val="68707B"/>
                </a:solidFill>
                <a:latin typeface="Noto Sans KR"/>
                <a:ea typeface="Noto Sans KR"/>
                <a:cs typeface="Noto Sans KR"/>
              </a:rPr>
              <a:t>07</a:t>
            </a:r>
          </a:p>
        </p:txBody>
      </p:sp>
      <p:graphicFrame>
        <p:nvGraphicFramePr>
          <p:cNvPr id="12" name="Chart"/>
          <p:cNvGraphicFramePr/>
          <p:nvPr/>
        </p:nvGraphicFramePr>
        <p:xfrm>
          <a:off xmlns:a="http://schemas.openxmlformats.org/drawingml/2006/main" x="552450" y="1295400"/>
          <a:ext xmlns:a="http://schemas.openxmlformats.org/drawingml/2006/main" cx="8096250" cy="4305300"/>
        </p:xfrm>
        <a:graphic xmlns:a="http://schemas.openxmlformats.org/drawingml/2006/main">
          <a:graphicData uri="http://schemas.openxmlformats.org/drawingml/2006/chart">
            <c:chart xmlns:r="http://schemas.openxmlformats.org/officeDocument/2006/relationships" xmlns:c="http://schemas.openxmlformats.org/drawingml/2006/chart" r:id="Rd7e83b6520ee498b"/>
          </a:graphicData>
        </a:graphic>
      </p:graphicFrame>
      <p:sp>
        <p:nvSpPr>
          <p:cNvPr id="4" name="">
            <a:extLst xmlns:a="http://schemas.openxmlformats.org/drawingml/2006/main">
              <a:ext uri="{FF2B5EF4-FFF2-40B4-BE49-F238E27FC236}">
                <a16:creationId xmlns:a16="http://schemas.microsoft.com/office/drawing/2014/main" id="{98BA514E-49B1-4865-B83A-8A554582B675}"/>
              </a:ext>
            </a:extLst>
          </p:cNvPr>
          <p:cNvSpPr>
            <a:spLocks xmlns:a="http://schemas.openxmlformats.org/drawingml/2006/main" noGrp="1"/>
          </p:cNvSpPr>
          <p:nvPr/>
        </p:nvSpPr>
        <p:spPr>
          <a:xfrm xmlns:a="http://schemas.openxmlformats.org/drawingml/2006/main">
            <a:off x="9144000" y="160020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2258D7"/>
                </a:solidFill>
                <a:latin typeface="Noto Sans KR"/>
                <a:ea typeface="Noto Sans KR"/>
                <a:cs typeface="Noto Sans KR"/>
              </a:defRPr>
            </a:pPr>
            <a:r>
              <a:rPr sz="3150" b="1">
                <a:solidFill>
                  <a:srgbClr val="2258D7"/>
                </a:solidFill>
                <a:latin typeface="Noto Sans KR"/>
                <a:ea typeface="Noto Sans KR"/>
                <a:cs typeface="Noto Sans KR"/>
              </a:rPr>
              <a:t>181명</a:t>
            </a:r>
          </a:p>
        </p:txBody>
      </p:sp>
      <p:sp>
        <p:nvSpPr>
          <p:cNvPr id="5" name="">
            <a:extLst xmlns:a="http://schemas.openxmlformats.org/drawingml/2006/main">
              <a:ext uri="{FF2B5EF4-FFF2-40B4-BE49-F238E27FC236}">
                <a16:creationId xmlns:a16="http://schemas.microsoft.com/office/drawing/2014/main" id="{99BDDB88-2956-4BFD-8A2D-4E5EFE751358}"/>
              </a:ext>
            </a:extLst>
          </p:cNvPr>
          <p:cNvSpPr>
            <a:spLocks xmlns:a="http://schemas.openxmlformats.org/drawingml/2006/main" noGrp="1"/>
          </p:cNvSpPr>
          <p:nvPr/>
        </p:nvSpPr>
        <p:spPr>
          <a:xfrm xmlns:a="http://schemas.openxmlformats.org/drawingml/2006/main">
            <a:off x="9163050" y="2209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8707B"/>
                </a:solidFill>
                <a:latin typeface="Noto Sans KR"/>
                <a:ea typeface="Noto Sans KR"/>
                <a:cs typeface="Noto Sans KR"/>
              </a:defRPr>
            </a:pPr>
            <a:r>
              <a:rPr sz="1350" b="0">
                <a:solidFill>
                  <a:srgbClr val="68707B"/>
                </a:solidFill>
                <a:latin typeface="Noto Sans KR"/>
                <a:ea typeface="Noto Sans KR"/>
                <a:cs typeface="Noto Sans KR"/>
              </a:rPr>
              <a:t>한국 제작 target</a:t>
            </a:r>
          </a:p>
        </p:txBody>
      </p:sp>
      <p:sp>
        <p:nvSpPr>
          <p:cNvPr id="6" name="">
            <a:extLst xmlns:a="http://schemas.openxmlformats.org/drawingml/2006/main">
              <a:ext uri="{FF2B5EF4-FFF2-40B4-BE49-F238E27FC236}">
                <a16:creationId xmlns:a16="http://schemas.microsoft.com/office/drawing/2014/main" id="{AC6B58F4-A3BA-4D31-AA8E-445ECD7B3380}"/>
              </a:ext>
            </a:extLst>
          </p:cNvPr>
          <p:cNvSpPr>
            <a:spLocks xmlns:a="http://schemas.openxmlformats.org/drawingml/2006/main" noGrp="1"/>
          </p:cNvSpPr>
          <p:nvPr/>
        </p:nvSpPr>
        <p:spPr>
          <a:xfrm xmlns:a="http://schemas.openxmlformats.org/drawingml/2006/main">
            <a:off x="9144000" y="310515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E75F57"/>
                </a:solidFill>
                <a:latin typeface="Noto Sans KR"/>
                <a:ea typeface="Noto Sans KR"/>
                <a:cs typeface="Noto Sans KR"/>
              </a:defRPr>
            </a:pPr>
            <a:r>
              <a:rPr sz="3150" b="1">
                <a:solidFill>
                  <a:srgbClr val="E75F57"/>
                </a:solidFill>
                <a:latin typeface="Noto Sans KR"/>
                <a:ea typeface="Noto Sans KR"/>
                <a:cs typeface="Noto Sans KR"/>
              </a:rPr>
              <a:t>26개</a:t>
            </a:r>
          </a:p>
        </p:txBody>
      </p:sp>
      <p:sp>
        <p:nvSpPr>
          <p:cNvPr id="7" name="">
            <a:extLst xmlns:a="http://schemas.openxmlformats.org/drawingml/2006/main">
              <a:ext uri="{FF2B5EF4-FFF2-40B4-BE49-F238E27FC236}">
                <a16:creationId xmlns:a16="http://schemas.microsoft.com/office/drawing/2014/main" id="{37151386-D0E0-4DFD-B028-F94E8D1D09EB}"/>
              </a:ext>
            </a:extLst>
          </p:cNvPr>
          <p:cNvSpPr>
            <a:spLocks xmlns:a="http://schemas.openxmlformats.org/drawingml/2006/main" noGrp="1"/>
          </p:cNvSpPr>
          <p:nvPr/>
        </p:nvSpPr>
        <p:spPr>
          <a:xfrm xmlns:a="http://schemas.openxmlformats.org/drawingml/2006/main">
            <a:off x="9163050" y="37147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8707B"/>
                </a:solidFill>
                <a:latin typeface="Noto Sans KR"/>
                <a:ea typeface="Noto Sans KR"/>
                <a:cs typeface="Noto Sans KR"/>
              </a:defRPr>
            </a:pPr>
            <a:r>
              <a:rPr sz="1350" b="0">
                <a:solidFill>
                  <a:srgbClr val="68707B"/>
                </a:solidFill>
                <a:latin typeface="Noto Sans KR"/>
                <a:ea typeface="Noto Sans KR"/>
                <a:cs typeface="Noto Sans KR"/>
              </a:rPr>
              <a:t>half-width ≥ 0.05</a:t>
            </a:r>
          </a:p>
        </p:txBody>
      </p:sp>
      <p:sp>
        <p:nvSpPr>
          <p:cNvPr id="8" name="">
            <a:extLst xmlns:a="http://schemas.openxmlformats.org/drawingml/2006/main">
              <a:ext uri="{FF2B5EF4-FFF2-40B4-BE49-F238E27FC236}">
                <a16:creationId xmlns:a16="http://schemas.microsoft.com/office/drawing/2014/main" id="{3C9A4BBB-055E-42EC-893A-DCE433AFA78D}"/>
              </a:ext>
            </a:extLst>
          </p:cNvPr>
          <p:cNvSpPr>
            <a:spLocks xmlns:a="http://schemas.openxmlformats.org/drawingml/2006/main" noGrp="1"/>
          </p:cNvSpPr>
          <p:nvPr/>
        </p:nvSpPr>
        <p:spPr>
          <a:xfrm xmlns:a="http://schemas.openxmlformats.org/drawingml/2006/main">
            <a:off x="9144000" y="45529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E75F57"/>
                </a:solidFill>
                <a:latin typeface="Noto Sans KR"/>
                <a:ea typeface="Noto Sans KR"/>
                <a:cs typeface="Noto Sans KR"/>
              </a:defRPr>
            </a:pPr>
            <a:r>
              <a:rPr sz="1875" b="1">
                <a:solidFill>
                  <a:srgbClr val="E75F57"/>
                </a:solidFill>
                <a:latin typeface="Noto Sans KR"/>
                <a:ea typeface="Noto Sans KR"/>
                <a:cs typeface="Noto Sans KR"/>
              </a:rPr>
              <a:t>최대 0.0681</a:t>
            </a:r>
          </a:p>
          <a:p xmlns:a="http://schemas.openxmlformats.org/drawingml/2006/main">
            <a:pPr algn="l">
              <a:defRPr sz="1875" b="1">
                <a:solidFill>
                  <a:srgbClr val="E75F57"/>
                </a:solidFill>
                <a:latin typeface="Noto Sans KR"/>
                <a:ea typeface="Noto Sans KR"/>
                <a:cs typeface="Noto Sans KR"/>
              </a:defRPr>
            </a:pPr>
            <a:r>
              <a:rPr sz="1875" b="1">
                <a:solidFill>
                  <a:srgbClr val="E75F57"/>
                </a:solidFill>
                <a:latin typeface="Noto Sans KR"/>
                <a:ea typeface="Noto Sans KR"/>
                <a:cs typeface="Noto Sans KR"/>
              </a:rPr>
              <a:t>full pass 0개</a:t>
            </a:r>
          </a:p>
        </p:txBody>
      </p:sp>
      <p:sp>
        <p:nvSpPr>
          <p:cNvPr id="9" name="">
            <a:extLst xmlns:a="http://schemas.openxmlformats.org/drawingml/2006/main">
              <a:ext uri="{FF2B5EF4-FFF2-40B4-BE49-F238E27FC236}">
                <a16:creationId xmlns:a16="http://schemas.microsoft.com/office/drawing/2014/main" id="{53A4FB30-577E-40EC-B0B1-04F2F2A55777}"/>
              </a:ext>
            </a:extLst>
          </p:cNvPr>
          <p:cNvSpPr>
            <a:spLocks xmlns:a="http://schemas.openxmlformats.org/drawingml/2006/main" noGrp="1"/>
          </p:cNvSpPr>
          <p:nvPr/>
        </p:nvSpPr>
        <p:spPr>
          <a:xfrm xmlns:a="http://schemas.openxmlformats.org/drawingml/2006/main">
            <a:off x="609600" y="62103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68707B"/>
                </a:solidFill>
                <a:latin typeface="Noto Sans KR"/>
                <a:ea typeface="Noto Sans KR"/>
                <a:cs typeface="Noto Sans KR"/>
              </a:defRPr>
            </a:pPr>
            <a:r>
              <a:rPr sz="975" b="0">
                <a:solidFill>
                  <a:srgbClr val="68707B"/>
                </a:solidFill>
                <a:latin typeface="Noto Sans KR"/>
                <a:ea typeface="Noto Sans KR"/>
                <a:cs typeface="Noto Sans KR"/>
              </a:rPr>
              <a:t>E5→BPR 기술 통계 · 동시추론과 panel·gap 기준은 통과하지 못함</a:t>
            </a:r>
          </a:p>
        </p:txBody>
      </p:sp>
    </p:spTree>
    <p:extLst>
      <p:ext uri="{BB962C8B-B14F-4D97-AF65-F5344CB8AC3E}">
        <p14:creationId xmlns:p14="http://schemas.microsoft.com/office/powerpoint/2010/main" val="1671188331"/>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B73D3B3-AA3F-45E7-A415-488A2A836A98}"/>
              </a:ext>
            </a:extLst>
          </p:cNvPr>
          <p:cNvSpPr>
            <a:spLocks xmlns:a="http://schemas.openxmlformats.org/drawingml/2006/main" noGrp="1"/>
          </p:cNvSpPr>
          <p:nvPr/>
        </p:nvSpPr>
        <p:spPr>
          <a:xfrm xmlns:a="http://schemas.openxmlformats.org/drawingml/2006/main">
            <a:off x="609600" y="381000"/>
            <a:ext cx="10429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52A31"/>
                </a:solidFill>
                <a:latin typeface="Noto Sans KR"/>
                <a:ea typeface="Noto Sans KR"/>
                <a:cs typeface="Noto Sans KR"/>
              </a:defRPr>
            </a:pPr>
            <a:r>
              <a:rPr sz="2550" b="1">
                <a:solidFill>
                  <a:srgbClr val="252A31"/>
                </a:solidFill>
                <a:latin typeface="Noto Sans KR"/>
                <a:ea typeface="Noto Sans KR"/>
                <a:cs typeface="Noto Sans KR"/>
              </a:rPr>
              <a:t>최근 영화와 추천 집중에서 남은 한계</a:t>
            </a:r>
          </a:p>
        </p:txBody>
      </p:sp>
      <p:sp>
        <p:nvSpPr>
          <p:cNvPr id="2" name="">
            <a:extLst xmlns:a="http://schemas.openxmlformats.org/drawingml/2006/main">
              <a:ext uri="{FF2B5EF4-FFF2-40B4-BE49-F238E27FC236}">
                <a16:creationId xmlns:a16="http://schemas.microsoft.com/office/drawing/2014/main" id="{E4C818EA-1693-4EF0-896F-812781481CEA}"/>
              </a:ext>
            </a:extLst>
          </p:cNvPr>
          <p:cNvSpPr>
            <a:spLocks xmlns:a="http://schemas.openxmlformats.org/drawingml/2006/main" noGrp="1"/>
          </p:cNvSpPr>
          <p:nvPr/>
        </p:nvSpPr>
        <p:spPr>
          <a:xfrm xmlns:a="http://schemas.openxmlformats.org/drawingml/2006/main">
            <a:off x="1123950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8707B"/>
                </a:solidFill>
                <a:latin typeface="Noto Sans KR"/>
                <a:ea typeface="Noto Sans KR"/>
                <a:cs typeface="Noto Sans KR"/>
              </a:defRPr>
            </a:pPr>
            <a:r>
              <a:rPr sz="1200" b="1">
                <a:solidFill>
                  <a:srgbClr val="68707B"/>
                </a:solidFill>
                <a:latin typeface="Noto Sans KR"/>
                <a:ea typeface="Noto Sans KR"/>
                <a:cs typeface="Noto Sans KR"/>
              </a:rPr>
              <a:t>08</a:t>
            </a:r>
          </a:p>
        </p:txBody>
      </p:sp>
      <p:graphicFrame>
        <p:nvGraphicFramePr>
          <p:cNvPr id="12" name="Chart"/>
          <p:cNvGraphicFramePr/>
          <p:nvPr/>
        </p:nvGraphicFramePr>
        <p:xfrm>
          <a:off xmlns:a="http://schemas.openxmlformats.org/drawingml/2006/main" x="571500" y="1352550"/>
          <a:ext xmlns:a="http://schemas.openxmlformats.org/drawingml/2006/main" cx="7239000" cy="4000500"/>
        </p:xfrm>
        <a:graphic xmlns:a="http://schemas.openxmlformats.org/drawingml/2006/main">
          <a:graphicData uri="http://schemas.openxmlformats.org/drawingml/2006/chart">
            <c:chart xmlns:r="http://schemas.openxmlformats.org/officeDocument/2006/relationships" xmlns:c="http://schemas.openxmlformats.org/drawingml/2006/chart" r:id="Rca33145cf08a4a38"/>
          </a:graphicData>
        </a:graphic>
      </p:graphicFrame>
      <p:sp>
        <p:nvSpPr>
          <p:cNvPr id="4" name="">
            <a:extLst xmlns:a="http://schemas.openxmlformats.org/drawingml/2006/main">
              <a:ext uri="{FF2B5EF4-FFF2-40B4-BE49-F238E27FC236}">
                <a16:creationId xmlns:a16="http://schemas.microsoft.com/office/drawing/2014/main" id="{FB4458DC-EC3E-4496-B594-A97A70DBECB7}"/>
              </a:ext>
            </a:extLst>
          </p:cNvPr>
          <p:cNvSpPr>
            <a:spLocks xmlns:a="http://schemas.openxmlformats.org/drawingml/2006/main" noGrp="1"/>
          </p:cNvSpPr>
          <p:nvPr/>
        </p:nvSpPr>
        <p:spPr>
          <a:xfrm xmlns:a="http://schemas.openxmlformats.org/drawingml/2006/main">
            <a:off x="895350" y="53911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8707B"/>
                </a:solidFill>
                <a:latin typeface="Noto Sans KR"/>
                <a:ea typeface="Noto Sans KR"/>
                <a:cs typeface="Noto Sans KR"/>
              </a:defRPr>
            </a:pPr>
            <a:r>
              <a:rPr sz="1275" b="0">
                <a:solidFill>
                  <a:srgbClr val="68707B"/>
                </a:solidFill>
                <a:latin typeface="Noto Sans KR"/>
                <a:ea typeface="Noto Sans KR"/>
                <a:cs typeface="Noto Sans KR"/>
              </a:rPr>
              <a:t>무작위 기준 50%</a:t>
            </a:r>
          </a:p>
        </p:txBody>
      </p:sp>
      <p:sp>
        <p:nvSpPr>
          <p:cNvPr id="5" name="">
            <a:extLst xmlns:a="http://schemas.openxmlformats.org/drawingml/2006/main">
              <a:ext uri="{FF2B5EF4-FFF2-40B4-BE49-F238E27FC236}">
                <a16:creationId xmlns:a16="http://schemas.microsoft.com/office/drawing/2014/main" id="{BE8225D0-263D-4339-AEBB-E5156ABEFD59}"/>
              </a:ext>
            </a:extLst>
          </p:cNvPr>
          <p:cNvSpPr>
            <a:spLocks xmlns:a="http://schemas.openxmlformats.org/drawingml/2006/main" noGrp="1"/>
          </p:cNvSpPr>
          <p:nvPr/>
        </p:nvSpPr>
        <p:spPr>
          <a:xfrm xmlns:a="http://schemas.openxmlformats.org/drawingml/2006/main">
            <a:off x="8572500" y="15621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E75F57"/>
                </a:solidFill>
                <a:latin typeface="Noto Sans KR"/>
                <a:ea typeface="Noto Sans KR"/>
                <a:cs typeface="Noto Sans KR"/>
              </a:defRPr>
            </a:pPr>
            <a:r>
              <a:rPr sz="1575" b="1">
                <a:solidFill>
                  <a:srgbClr val="E75F57"/>
                </a:solidFill>
                <a:latin typeface="Noto Sans KR"/>
                <a:ea typeface="Noto Sans KR"/>
                <a:cs typeface="Noto Sans KR"/>
              </a:rPr>
              <a:t>영화 집중</a:t>
            </a:r>
          </a:p>
        </p:txBody>
      </p:sp>
      <p:sp>
        <p:nvSpPr>
          <p:cNvPr id="6" name="">
            <a:extLst xmlns:a="http://schemas.openxmlformats.org/drawingml/2006/main">
              <a:ext uri="{FF2B5EF4-FFF2-40B4-BE49-F238E27FC236}">
                <a16:creationId xmlns:a16="http://schemas.microsoft.com/office/drawing/2014/main" id="{73E19B26-74EF-4EE7-88E2-13B37613752A}"/>
              </a:ext>
            </a:extLst>
          </p:cNvPr>
          <p:cNvSpPr>
            <a:spLocks xmlns:a="http://schemas.openxmlformats.org/drawingml/2006/main" noGrp="1"/>
          </p:cNvSpPr>
          <p:nvPr/>
        </p:nvSpPr>
        <p:spPr>
          <a:xfrm xmlns:a="http://schemas.openxmlformats.org/drawingml/2006/main">
            <a:off x="8572500" y="2133600"/>
            <a:ext cx="266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E75F57"/>
                </a:solidFill>
                <a:latin typeface="Noto Sans KR"/>
                <a:ea typeface="Noto Sans KR"/>
                <a:cs typeface="Noto Sans KR"/>
              </a:defRPr>
            </a:pPr>
            <a:r>
              <a:rPr sz="3375" b="1">
                <a:solidFill>
                  <a:srgbClr val="E75F57"/>
                </a:solidFill>
                <a:latin typeface="Noto Sans KR"/>
                <a:ea typeface="Noto Sans KR"/>
                <a:cs typeface="Noto Sans KR"/>
              </a:rPr>
              <a:t>약 60%</a:t>
            </a:r>
          </a:p>
        </p:txBody>
      </p:sp>
      <p:sp>
        <p:nvSpPr>
          <p:cNvPr id="7" name="">
            <a:extLst xmlns:a="http://schemas.openxmlformats.org/drawingml/2006/main">
              <a:ext uri="{FF2B5EF4-FFF2-40B4-BE49-F238E27FC236}">
                <a16:creationId xmlns:a16="http://schemas.microsoft.com/office/drawing/2014/main" id="{0299F013-5C37-48E7-8D65-90FB8169E171}"/>
              </a:ext>
            </a:extLst>
          </p:cNvPr>
          <p:cNvSpPr>
            <a:spLocks xmlns:a="http://schemas.openxmlformats.org/drawingml/2006/main" noGrp="1"/>
          </p:cNvSpPr>
          <p:nvPr/>
        </p:nvSpPr>
        <p:spPr>
          <a:xfrm xmlns:a="http://schemas.openxmlformats.org/drawingml/2006/main">
            <a:off x="8572500" y="2857500"/>
            <a:ext cx="285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252A31"/>
                </a:solidFill>
                <a:latin typeface="Noto Sans KR"/>
                <a:ea typeface="Noto Sans KR"/>
                <a:cs typeface="Noto Sans KR"/>
              </a:defRPr>
            </a:pPr>
            <a:r>
              <a:rPr sz="1650" b="0">
                <a:solidFill>
                  <a:srgbClr val="252A31"/>
                </a:solidFill>
                <a:latin typeface="Noto Sans KR"/>
                <a:ea typeface="Noto Sans KR"/>
                <a:cs typeface="Noto Sans KR"/>
              </a:rPr>
              <a:t>한국 target Top-2의</a:t>
            </a:r>
          </a:p>
          <a:p xmlns:a="http://schemas.openxmlformats.org/drawingml/2006/main">
            <a:pPr algn="l">
              <a:defRPr sz="1650" b="0">
                <a:solidFill>
                  <a:srgbClr val="252A31"/>
                </a:solidFill>
                <a:latin typeface="Noto Sans KR"/>
                <a:ea typeface="Noto Sans KR"/>
                <a:cs typeface="Noto Sans KR"/>
              </a:defRPr>
            </a:pPr>
            <a:r>
              <a:rPr sz="1650" b="0">
                <a:solidFill>
                  <a:srgbClr val="252A31"/>
                </a:solidFill>
                <a:latin typeface="Noto Sans KR"/>
                <a:ea typeface="Noto Sans KR"/>
                <a:cs typeface="Noto Sans KR"/>
              </a:rPr>
              <a:t>상위 10편 비중</a:t>
            </a:r>
          </a:p>
        </p:txBody>
      </p:sp>
      <p:sp>
        <p:nvSpPr>
          <p:cNvPr id="8" name="">
            <a:extLst xmlns:a="http://schemas.openxmlformats.org/drawingml/2006/main">
              <a:ext uri="{FF2B5EF4-FFF2-40B4-BE49-F238E27FC236}">
                <a16:creationId xmlns:a16="http://schemas.microsoft.com/office/drawing/2014/main" id="{B9A0F6E4-8345-4254-AE7B-0E888CEDAB1F}"/>
              </a:ext>
            </a:extLst>
          </p:cNvPr>
          <p:cNvSpPr>
            <a:spLocks xmlns:a="http://schemas.openxmlformats.org/drawingml/2006/main" noGrp="1"/>
          </p:cNvSpPr>
          <p:nvPr/>
        </p:nvSpPr>
        <p:spPr>
          <a:xfrm xmlns:a="http://schemas.openxmlformats.org/drawingml/2006/main">
            <a:off x="8572500" y="4305300"/>
            <a:ext cx="295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E75F57"/>
                </a:solidFill>
                <a:latin typeface="Noto Sans KR"/>
                <a:ea typeface="Noto Sans KR"/>
                <a:cs typeface="Noto Sans KR"/>
              </a:defRPr>
            </a:pPr>
            <a:r>
              <a:rPr sz="1875" b="1">
                <a:solidFill>
                  <a:srgbClr val="E75F57"/>
                </a:solidFill>
                <a:latin typeface="Noto Sans KR"/>
                <a:ea typeface="Noto Sans KR"/>
                <a:cs typeface="Noto Sans KR"/>
              </a:rPr>
              <a:t>2020~2023 target은</a:t>
            </a:r>
          </a:p>
          <a:p xmlns:a="http://schemas.openxmlformats.org/drawingml/2006/main">
            <a:pPr algn="l">
              <a:defRPr sz="1875" b="1">
                <a:solidFill>
                  <a:srgbClr val="E75F57"/>
                </a:solidFill>
                <a:latin typeface="Noto Sans KR"/>
                <a:ea typeface="Noto Sans KR"/>
                <a:cs typeface="Noto Sans KR"/>
              </a:defRPr>
            </a:pPr>
            <a:r>
              <a:rPr sz="1875" b="1">
                <a:solidFill>
                  <a:srgbClr val="E75F57"/>
                </a:solidFill>
                <a:latin typeface="Noto Sans KR"/>
                <a:ea typeface="Noto Sans KR"/>
                <a:cs typeface="Noto Sans KR"/>
              </a:rPr>
              <a:t>사전 margin 0.02 미달</a:t>
            </a:r>
          </a:p>
        </p:txBody>
      </p:sp>
      <p:sp>
        <p:nvSpPr>
          <p:cNvPr id="9" name="">
            <a:extLst xmlns:a="http://schemas.openxmlformats.org/drawingml/2006/main">
              <a:ext uri="{FF2B5EF4-FFF2-40B4-BE49-F238E27FC236}">
                <a16:creationId xmlns:a16="http://schemas.microsoft.com/office/drawing/2014/main" id="{05CC0EEE-C327-4CFE-9376-B40D5D885BFC}"/>
              </a:ext>
            </a:extLst>
          </p:cNvPr>
          <p:cNvSpPr>
            <a:spLocks xmlns:a="http://schemas.openxmlformats.org/drawingml/2006/main" noGrp="1"/>
          </p:cNvSpPr>
          <p:nvPr/>
        </p:nvSpPr>
        <p:spPr>
          <a:xfrm xmlns:a="http://schemas.openxmlformats.org/drawingml/2006/main">
            <a:off x="609600" y="62103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68707B"/>
                </a:solidFill>
                <a:latin typeface="Noto Sans KR"/>
                <a:ea typeface="Noto Sans KR"/>
                <a:cs typeface="Noto Sans KR"/>
              </a:defRPr>
            </a:pPr>
            <a:r>
              <a:rPr sz="975" b="0">
                <a:solidFill>
                  <a:srgbClr val="68707B"/>
                </a:solidFill>
                <a:latin typeface="Noto Sans KR"/>
                <a:ea typeface="Noto Sans KR"/>
                <a:cs typeface="Noto Sans KR"/>
              </a:rPr>
              <a:t>release-year slice 기술 통계 · 수록 이후 영화 성능 주장이 아님</a:t>
            </a:r>
          </a:p>
        </p:txBody>
      </p:sp>
    </p:spTree>
    <p:extLst>
      <p:ext uri="{BB962C8B-B14F-4D97-AF65-F5344CB8AC3E}">
        <p14:creationId xmlns:p14="http://schemas.microsoft.com/office/powerpoint/2010/main" val="1100261777"/>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F65C31C-6CAB-406A-A3F8-8FE15DF5A497}"/>
              </a:ext>
            </a:extLst>
          </p:cNvPr>
          <p:cNvSpPr>
            <a:spLocks xmlns:a="http://schemas.openxmlformats.org/drawingml/2006/main" noGrp="1"/>
          </p:cNvSpPr>
          <p:nvPr/>
        </p:nvSpPr>
        <p:spPr>
          <a:xfrm xmlns:a="http://schemas.openxmlformats.org/drawingml/2006/main">
            <a:off x="609600" y="381000"/>
            <a:ext cx="10429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52A31"/>
                </a:solidFill>
                <a:latin typeface="Noto Sans KR"/>
                <a:ea typeface="Noto Sans KR"/>
                <a:cs typeface="Noto Sans KR"/>
              </a:defRPr>
            </a:pPr>
            <a:r>
              <a:rPr sz="2550" b="1">
                <a:solidFill>
                  <a:srgbClr val="252A31"/>
                </a:solidFill>
                <a:latin typeface="Noto Sans KR"/>
                <a:ea typeface="Noto Sans KR"/>
                <a:cs typeface="Noto Sans KR"/>
              </a:rPr>
              <a:t>AI 활용과 독립 검증</a:t>
            </a:r>
          </a:p>
        </p:txBody>
      </p:sp>
      <p:sp>
        <p:nvSpPr>
          <p:cNvPr id="2" name="">
            <a:extLst xmlns:a="http://schemas.openxmlformats.org/drawingml/2006/main">
              <a:ext uri="{FF2B5EF4-FFF2-40B4-BE49-F238E27FC236}">
                <a16:creationId xmlns:a16="http://schemas.microsoft.com/office/drawing/2014/main" id="{EE567F22-75D5-40F7-8E5C-290AB364CBA4}"/>
              </a:ext>
            </a:extLst>
          </p:cNvPr>
          <p:cNvSpPr>
            <a:spLocks xmlns:a="http://schemas.openxmlformats.org/drawingml/2006/main" noGrp="1"/>
          </p:cNvSpPr>
          <p:nvPr/>
        </p:nvSpPr>
        <p:spPr>
          <a:xfrm xmlns:a="http://schemas.openxmlformats.org/drawingml/2006/main">
            <a:off x="1123950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8707B"/>
                </a:solidFill>
                <a:latin typeface="Noto Sans KR"/>
                <a:ea typeface="Noto Sans KR"/>
                <a:cs typeface="Noto Sans KR"/>
              </a:defRPr>
            </a:pPr>
            <a:r>
              <a:rPr sz="1200" b="1">
                <a:solidFill>
                  <a:srgbClr val="68707B"/>
                </a:solidFill>
                <a:latin typeface="Noto Sans KR"/>
                <a:ea typeface="Noto Sans KR"/>
                <a:cs typeface="Noto Sans KR"/>
              </a:rPr>
              <a:t>09</a:t>
            </a:r>
          </a:p>
        </p:txBody>
      </p:sp>
      <p:sp>
        <p:nvSpPr>
          <p:cNvPr id="3" name="">
            <a:extLst xmlns:a="http://schemas.openxmlformats.org/drawingml/2006/main">
              <a:ext uri="{FF2B5EF4-FFF2-40B4-BE49-F238E27FC236}">
                <a16:creationId xmlns:a16="http://schemas.microsoft.com/office/drawing/2014/main" id="{3E7CB403-9253-4DC7-84E2-751C1AD878BA}"/>
              </a:ext>
            </a:extLst>
          </p:cNvPr>
          <p:cNvSpPr>
            <a:spLocks xmlns:a="http://schemas.openxmlformats.org/drawingml/2006/main" noGrp="1"/>
          </p:cNvSpPr>
          <p:nvPr/>
        </p:nvSpPr>
        <p:spPr>
          <a:xfrm xmlns:a="http://schemas.openxmlformats.org/drawingml/2006/main">
            <a:off x="685800" y="142875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258D7"/>
                </a:solidFill>
                <a:latin typeface="Noto Sans KR"/>
                <a:ea typeface="Noto Sans KR"/>
                <a:cs typeface="Noto Sans KR"/>
              </a:defRPr>
            </a:pPr>
            <a:r>
              <a:rPr sz="1575" b="1">
                <a:solidFill>
                  <a:srgbClr val="2258D7"/>
                </a:solidFill>
                <a:latin typeface="Noto Sans KR"/>
                <a:ea typeface="Noto Sans KR"/>
                <a:cs typeface="Noto Sans KR"/>
              </a:rPr>
              <a:t>추천 표현</a:t>
            </a:r>
          </a:p>
        </p:txBody>
      </p:sp>
      <p:sp>
        <p:nvSpPr>
          <p:cNvPr id="4" name="">
            <a:extLst xmlns:a="http://schemas.openxmlformats.org/drawingml/2006/main">
              <a:ext uri="{FF2B5EF4-FFF2-40B4-BE49-F238E27FC236}">
                <a16:creationId xmlns:a16="http://schemas.microsoft.com/office/drawing/2014/main" id="{9F6D2DA1-6590-440F-9D04-7C426E342EEB}"/>
              </a:ext>
            </a:extLst>
          </p:cNvPr>
          <p:cNvSpPr>
            <a:spLocks xmlns:a="http://schemas.openxmlformats.org/drawingml/2006/main" noGrp="1"/>
          </p:cNvSpPr>
          <p:nvPr/>
        </p:nvSpPr>
        <p:spPr>
          <a:xfrm xmlns:a="http://schemas.openxmlformats.org/drawingml/2006/main">
            <a:off x="685800" y="2076450"/>
            <a:ext cx="209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438D89"/>
                </a:solidFill>
                <a:latin typeface="Noto Sans KR"/>
                <a:ea typeface="Noto Sans KR"/>
                <a:cs typeface="Noto Sans KR"/>
              </a:defRPr>
            </a:pPr>
            <a:r>
              <a:rPr sz="3750" b="1">
                <a:solidFill>
                  <a:srgbClr val="438D89"/>
                </a:solidFill>
                <a:latin typeface="Noto Sans KR"/>
                <a:ea typeface="Noto Sans KR"/>
                <a:cs typeface="Noto Sans KR"/>
              </a:rPr>
              <a:t>E5</a:t>
            </a:r>
          </a:p>
        </p:txBody>
      </p:sp>
      <p:sp>
        <p:nvSpPr>
          <p:cNvPr id="5" name="">
            <a:extLst xmlns:a="http://schemas.openxmlformats.org/drawingml/2006/main">
              <a:ext uri="{FF2B5EF4-FFF2-40B4-BE49-F238E27FC236}">
                <a16:creationId xmlns:a16="http://schemas.microsoft.com/office/drawing/2014/main" id="{1E3CBECA-A438-42AF-8C1D-FD8463DB6D7C}"/>
              </a:ext>
            </a:extLst>
          </p:cNvPr>
          <p:cNvSpPr>
            <a:spLocks xmlns:a="http://schemas.openxmlformats.org/drawingml/2006/main" noGrp="1"/>
          </p:cNvSpPr>
          <p:nvPr/>
        </p:nvSpPr>
        <p:spPr>
          <a:xfrm xmlns:a="http://schemas.openxmlformats.org/drawingml/2006/main">
            <a:off x="685800" y="299085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52A31"/>
                </a:solidFill>
                <a:latin typeface="Noto Sans KR"/>
                <a:ea typeface="Noto Sans KR"/>
                <a:cs typeface="Noto Sans KR"/>
              </a:defRPr>
            </a:pPr>
            <a:r>
              <a:rPr sz="1875" b="0">
                <a:solidFill>
                  <a:srgbClr val="252A31"/>
                </a:solidFill>
                <a:latin typeface="Noto Sans KR"/>
                <a:ea typeface="Noto Sans KR"/>
                <a:cs typeface="Noto Sans KR"/>
              </a:rPr>
              <a:t>영화 설명을 384차원으로 표현</a:t>
            </a:r>
          </a:p>
          <a:p xmlns:a="http://schemas.openxmlformats.org/drawingml/2006/main">
            <a:pPr algn="l">
              <a:defRPr sz="1875" b="0">
                <a:solidFill>
                  <a:srgbClr val="252A31"/>
                </a:solidFill>
                <a:latin typeface="Noto Sans KR"/>
                <a:ea typeface="Noto Sans KR"/>
                <a:cs typeface="Noto Sans KR"/>
              </a:defRPr>
            </a:pPr>
            <a:r>
              <a:rPr sz="1875" b="0">
                <a:solidFill>
                  <a:srgbClr val="252A31"/>
                </a:solidFill>
                <a:latin typeface="Noto Sans KR"/>
                <a:ea typeface="Noto Sans KR"/>
                <a:cs typeface="Noto Sans KR"/>
              </a:rPr>
              <a:t>다섯 BPR item-factor 공간에 정렬</a:t>
            </a:r>
          </a:p>
        </p:txBody>
      </p:sp>
      <p:sp>
        <p:nvSpPr>
          <p:cNvPr id="6" name="">
            <a:extLst xmlns:a="http://schemas.openxmlformats.org/drawingml/2006/main">
              <a:ext uri="{FF2B5EF4-FFF2-40B4-BE49-F238E27FC236}">
                <a16:creationId xmlns:a16="http://schemas.microsoft.com/office/drawing/2014/main" id="{FAFC693A-3C03-47A4-8705-A975E414B5DA}"/>
              </a:ext>
            </a:extLst>
          </p:cNvPr>
          <p:cNvSpPr>
            <a:spLocks xmlns:a="http://schemas.openxmlformats.org/drawingml/2006/main" noGrp="1"/>
          </p:cNvSpPr>
          <p:nvPr/>
        </p:nvSpPr>
        <p:spPr>
          <a:xfrm xmlns:a="http://schemas.openxmlformats.org/drawingml/2006/main">
            <a:off x="6572250" y="142875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258D7"/>
                </a:solidFill>
                <a:latin typeface="Noto Sans KR"/>
                <a:ea typeface="Noto Sans KR"/>
                <a:cs typeface="Noto Sans KR"/>
              </a:defRPr>
            </a:pPr>
            <a:r>
              <a:rPr sz="1575" b="1">
                <a:solidFill>
                  <a:srgbClr val="2258D7"/>
                </a:solidFill>
                <a:latin typeface="Noto Sans KR"/>
                <a:ea typeface="Noto Sans KR"/>
                <a:cs typeface="Noto Sans KR"/>
              </a:rPr>
              <a:t>생성형 AI의 역할</a:t>
            </a:r>
          </a:p>
        </p:txBody>
      </p:sp>
      <p:sp>
        <p:nvSpPr>
          <p:cNvPr id="7" name="">
            <a:extLst xmlns:a="http://schemas.openxmlformats.org/drawingml/2006/main">
              <a:ext uri="{FF2B5EF4-FFF2-40B4-BE49-F238E27FC236}">
                <a16:creationId xmlns:a16="http://schemas.microsoft.com/office/drawing/2014/main" id="{1C83B9EF-7CE7-4B67-9171-42FD86EBBC52}"/>
              </a:ext>
            </a:extLst>
          </p:cNvPr>
          <p:cNvSpPr>
            <a:spLocks xmlns:a="http://schemas.openxmlformats.org/drawingml/2006/main" noGrp="1"/>
          </p:cNvSpPr>
          <p:nvPr/>
        </p:nvSpPr>
        <p:spPr>
          <a:xfrm xmlns:a="http://schemas.openxmlformats.org/drawingml/2006/main">
            <a:off x="6572250" y="2076450"/>
            <a:ext cx="4000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2258D7"/>
                </a:solidFill>
                <a:latin typeface="Noto Sans KR"/>
                <a:ea typeface="Noto Sans KR"/>
                <a:cs typeface="Noto Sans KR"/>
              </a:defRPr>
            </a:pPr>
            <a:r>
              <a:rPr sz="2925" b="1">
                <a:solidFill>
                  <a:srgbClr val="2258D7"/>
                </a:solidFill>
                <a:latin typeface="Noto Sans KR"/>
                <a:ea typeface="Noto Sans KR"/>
                <a:cs typeface="Noto Sans KR"/>
              </a:rPr>
              <a:t>독립 심사자</a:t>
            </a:r>
          </a:p>
        </p:txBody>
      </p:sp>
      <p:sp>
        <p:nvSpPr>
          <p:cNvPr id="8" name="">
            <a:extLst xmlns:a="http://schemas.openxmlformats.org/drawingml/2006/main">
              <a:ext uri="{FF2B5EF4-FFF2-40B4-BE49-F238E27FC236}">
                <a16:creationId xmlns:a16="http://schemas.microsoft.com/office/drawing/2014/main" id="{61C3F98D-7DA9-4420-9BAE-1C7411626B67}"/>
              </a:ext>
            </a:extLst>
          </p:cNvPr>
          <p:cNvSpPr>
            <a:spLocks xmlns:a="http://schemas.openxmlformats.org/drawingml/2006/main" noGrp="1"/>
          </p:cNvSpPr>
          <p:nvPr/>
        </p:nvSpPr>
        <p:spPr>
          <a:xfrm xmlns:a="http://schemas.openxmlformats.org/drawingml/2006/main">
            <a:off x="6572250" y="2990850"/>
            <a:ext cx="49530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52A31"/>
                </a:solidFill>
                <a:latin typeface="Noto Sans KR"/>
                <a:ea typeface="Noto Sans KR"/>
                <a:cs typeface="Noto Sans KR"/>
              </a:defRPr>
            </a:pPr>
            <a:r>
              <a:rPr sz="1875" b="0">
                <a:solidFill>
                  <a:srgbClr val="252A31"/>
                </a:solidFill>
                <a:latin typeface="Noto Sans KR"/>
                <a:ea typeface="Noto Sans KR"/>
                <a:cs typeface="Noto Sans KR"/>
              </a:rPr>
              <a:t>label 누수와 사후선택 검토</a:t>
            </a:r>
          </a:p>
          <a:p xmlns:a="http://schemas.openxmlformats.org/drawingml/2006/main">
            <a:pPr algn="l">
              <a:defRPr sz="1875" b="0">
                <a:solidFill>
                  <a:srgbClr val="252A31"/>
                </a:solidFill>
                <a:latin typeface="Noto Sans KR"/>
                <a:ea typeface="Noto Sans KR"/>
                <a:cs typeface="Noto Sans KR"/>
              </a:defRPr>
            </a:pPr>
            <a:r>
              <a:rPr sz="1875" b="0">
                <a:solidFill>
                  <a:srgbClr val="252A31"/>
                </a:solidFill>
                <a:latin typeface="Noto Sans KR"/>
                <a:ea typeface="Noto Sans KR"/>
                <a:cs typeface="Noto Sans KR"/>
              </a:rPr>
              <a:t>resume와 원본 hash 불변 재검산</a:t>
            </a:r>
          </a:p>
          <a:p xmlns:a="http://schemas.openxmlformats.org/drawingml/2006/main">
            <a:pPr algn="l">
              <a:defRPr sz="1875" b="0">
                <a:solidFill>
                  <a:srgbClr val="252A31"/>
                </a:solidFill>
                <a:latin typeface="Noto Sans KR"/>
                <a:ea typeface="Noto Sans KR"/>
                <a:cs typeface="Noto Sans KR"/>
              </a:defRPr>
            </a:pPr>
            <a:r>
              <a:rPr sz="1875" b="0">
                <a:solidFill>
                  <a:srgbClr val="252A31"/>
                </a:solidFill>
                <a:latin typeface="Noto Sans KR"/>
                <a:ea typeface="Noto Sans KR"/>
                <a:cs typeface="Noto Sans KR"/>
              </a:rPr>
              <a:t>확증 중단 조건 재심사</a:t>
            </a:r>
          </a:p>
        </p:txBody>
      </p:sp>
      <p:sp>
        <p:nvSpPr>
          <p:cNvPr id="9" name="">
            <a:extLst xmlns:a="http://schemas.openxmlformats.org/drawingml/2006/main">
              <a:ext uri="{FF2B5EF4-FFF2-40B4-BE49-F238E27FC236}">
                <a16:creationId xmlns:a16="http://schemas.microsoft.com/office/drawing/2014/main" id="{4F46CC4E-FF67-40E7-9667-4CA465032920}"/>
              </a:ext>
            </a:extLst>
          </p:cNvPr>
          <p:cNvSpPr>
            <a:spLocks xmlns:a="http://schemas.openxmlformats.org/drawingml/2006/main" noGrp="1"/>
          </p:cNvSpPr>
          <p:nvPr/>
        </p:nvSpPr>
        <p:spPr>
          <a:xfrm xmlns:a="http://schemas.openxmlformats.org/drawingml/2006/main">
            <a:off x="685800" y="52197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E75F57"/>
                </a:solidFill>
                <a:latin typeface="Noto Sans KR"/>
                <a:ea typeface="Noto Sans KR"/>
                <a:cs typeface="Noto Sans KR"/>
              </a:defRPr>
            </a:pPr>
            <a:r>
              <a:rPr sz="2025" b="1">
                <a:solidFill>
                  <a:srgbClr val="E75F57"/>
                </a:solidFill>
                <a:latin typeface="Noto Sans KR"/>
                <a:ea typeface="Noto Sans KR"/>
                <a:cs typeface="Noto Sans KR"/>
              </a:rPr>
              <a:t>가설, 통과 기준, Locked Test 금지선은 결과를 보기 전에 고정</a:t>
            </a:r>
          </a:p>
        </p:txBody>
      </p:sp>
      <p:sp>
        <p:nvSpPr>
          <p:cNvPr id="10" name="">
            <a:extLst xmlns:a="http://schemas.openxmlformats.org/drawingml/2006/main">
              <a:ext uri="{FF2B5EF4-FFF2-40B4-BE49-F238E27FC236}">
                <a16:creationId xmlns:a16="http://schemas.microsoft.com/office/drawing/2014/main" id="{B17210AD-7D9E-4CC9-803E-67087E324C10}"/>
              </a:ext>
            </a:extLst>
          </p:cNvPr>
          <p:cNvSpPr>
            <a:spLocks xmlns:a="http://schemas.openxmlformats.org/drawingml/2006/main" noGrp="1"/>
          </p:cNvSpPr>
          <p:nvPr/>
        </p:nvSpPr>
        <p:spPr>
          <a:xfrm xmlns:a="http://schemas.openxmlformats.org/drawingml/2006/main">
            <a:off x="609600" y="62103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68707B"/>
                </a:solidFill>
                <a:latin typeface="Noto Sans KR"/>
                <a:ea typeface="Noto Sans KR"/>
                <a:cs typeface="Noto Sans KR"/>
              </a:defRPr>
            </a:pPr>
            <a:r>
              <a:rPr sz="975" b="0">
                <a:solidFill>
                  <a:srgbClr val="68707B"/>
                </a:solidFill>
                <a:latin typeface="Noto Sans KR"/>
                <a:ea typeface="Noto Sans KR"/>
                <a:cs typeface="Noto Sans KR"/>
              </a:rPr>
              <a:t>외부 검토 결과: REC_EV_026_RESULT_PASS · NEXT_STEP_PASS_STOP_CONFIRMATORY</a:t>
            </a:r>
          </a:p>
        </p:txBody>
      </p:sp>
    </p:spTree>
    <p:extLst>
      <p:ext uri="{BB962C8B-B14F-4D97-AF65-F5344CB8AC3E}">
        <p14:creationId xmlns:p14="http://schemas.microsoft.com/office/powerpoint/2010/main" val="1741474698"/>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D2DCB93-4114-4A4E-9771-5B82C42ACB4B}"/>
              </a:ext>
            </a:extLst>
          </p:cNvPr>
          <p:cNvSpPr>
            <a:spLocks xmlns:a="http://schemas.openxmlformats.org/drawingml/2006/main" noGrp="1"/>
          </p:cNvSpPr>
          <p:nvPr/>
        </p:nvSpPr>
        <p:spPr>
          <a:xfrm xmlns:a="http://schemas.openxmlformats.org/drawingml/2006/main">
            <a:off x="609600" y="381000"/>
            <a:ext cx="10429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52A31"/>
                </a:solidFill>
                <a:latin typeface="Noto Sans KR"/>
                <a:ea typeface="Noto Sans KR"/>
                <a:cs typeface="Noto Sans KR"/>
              </a:defRPr>
            </a:pPr>
            <a:r>
              <a:rPr sz="2550" b="1">
                <a:solidFill>
                  <a:srgbClr val="252A31"/>
                </a:solidFill>
                <a:latin typeface="Noto Sans KR"/>
                <a:ea typeface="Noto Sans KR"/>
                <a:cs typeface="Noto Sans KR"/>
              </a:rPr>
              <a:t>최종 판정과 다음 evidence</a:t>
            </a:r>
          </a:p>
        </p:txBody>
      </p:sp>
      <p:sp>
        <p:nvSpPr>
          <p:cNvPr id="2" name="">
            <a:extLst xmlns:a="http://schemas.openxmlformats.org/drawingml/2006/main">
              <a:ext uri="{FF2B5EF4-FFF2-40B4-BE49-F238E27FC236}">
                <a16:creationId xmlns:a16="http://schemas.microsoft.com/office/drawing/2014/main" id="{3FC65EBF-A3C6-4CD4-874F-7D6435722E35}"/>
              </a:ext>
            </a:extLst>
          </p:cNvPr>
          <p:cNvSpPr>
            <a:spLocks xmlns:a="http://schemas.openxmlformats.org/drawingml/2006/main" noGrp="1"/>
          </p:cNvSpPr>
          <p:nvPr/>
        </p:nvSpPr>
        <p:spPr>
          <a:xfrm xmlns:a="http://schemas.openxmlformats.org/drawingml/2006/main">
            <a:off x="1123950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8707B"/>
                </a:solidFill>
                <a:latin typeface="Noto Sans KR"/>
                <a:ea typeface="Noto Sans KR"/>
                <a:cs typeface="Noto Sans KR"/>
              </a:defRPr>
            </a:pPr>
            <a:r>
              <a:rPr sz="1200" b="1">
                <a:solidFill>
                  <a:srgbClr val="68707B"/>
                </a:solidFill>
                <a:latin typeface="Noto Sans KR"/>
                <a:ea typeface="Noto Sans KR"/>
                <a:cs typeface="Noto Sans KR"/>
              </a:rPr>
              <a:t>10</a:t>
            </a:r>
          </a:p>
        </p:txBody>
      </p:sp>
      <p:sp>
        <p:nvSpPr>
          <p:cNvPr id="3" name="">
            <a:extLst xmlns:a="http://schemas.openxmlformats.org/drawingml/2006/main">
              <a:ext uri="{FF2B5EF4-FFF2-40B4-BE49-F238E27FC236}">
                <a16:creationId xmlns:a16="http://schemas.microsoft.com/office/drawing/2014/main" id="{966E3009-866C-4CC0-AA3C-3923E0320008}"/>
              </a:ext>
            </a:extLst>
          </p:cNvPr>
          <p:cNvSpPr>
            <a:spLocks xmlns:a="http://schemas.openxmlformats.org/drawingml/2006/main" noGrp="1"/>
          </p:cNvSpPr>
          <p:nvPr/>
        </p:nvSpPr>
        <p:spPr>
          <a:xfrm xmlns:a="http://schemas.openxmlformats.org/drawingml/2006/main">
            <a:off x="685800" y="1409700"/>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2258D7"/>
                </a:solidFill>
                <a:latin typeface="Noto Sans KR"/>
                <a:ea typeface="Noto Sans KR"/>
                <a:cs typeface="Noto Sans KR"/>
              </a:defRPr>
            </a:pPr>
            <a:r>
              <a:rPr sz="1575" b="1">
                <a:solidFill>
                  <a:srgbClr val="2258D7"/>
                </a:solidFill>
                <a:latin typeface="Noto Sans KR"/>
                <a:ea typeface="Noto Sans KR"/>
                <a:cs typeface="Noto Sans KR"/>
              </a:rPr>
              <a:t>이번에 확인한 것</a:t>
            </a:r>
          </a:p>
        </p:txBody>
      </p:sp>
      <p:sp>
        <p:nvSpPr>
          <p:cNvPr id="4" name="">
            <a:extLst xmlns:a="http://schemas.openxmlformats.org/drawingml/2006/main">
              <a:ext uri="{FF2B5EF4-FFF2-40B4-BE49-F238E27FC236}">
                <a16:creationId xmlns:a16="http://schemas.microsoft.com/office/drawing/2014/main" id="{81D0B736-824D-4740-9428-8D78376004BB}"/>
              </a:ext>
            </a:extLst>
          </p:cNvPr>
          <p:cNvSpPr>
            <a:spLocks xmlns:a="http://schemas.openxmlformats.org/drawingml/2006/main" noGrp="1"/>
          </p:cNvSpPr>
          <p:nvPr/>
        </p:nvSpPr>
        <p:spPr>
          <a:xfrm xmlns:a="http://schemas.openxmlformats.org/drawingml/2006/main">
            <a:off x="685800" y="2019300"/>
            <a:ext cx="47625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52A31"/>
                </a:solidFill>
                <a:latin typeface="Noto Sans KR"/>
                <a:ea typeface="Noto Sans KR"/>
                <a:cs typeface="Noto Sans KR"/>
              </a:defRPr>
            </a:pPr>
            <a:r>
              <a:rPr sz="2025" b="1">
                <a:solidFill>
                  <a:srgbClr val="252A31"/>
                </a:solidFill>
                <a:latin typeface="Noto Sans KR"/>
                <a:ea typeface="Noto Sans KR"/>
                <a:cs typeface="Noto Sans KR"/>
              </a:rPr>
              <a:t>Top-2 오프라인 평가 계약</a:t>
            </a:r>
          </a:p>
          <a:p xmlns:a="http://schemas.openxmlformats.org/drawingml/2006/main">
            <a:pPr algn="l">
              <a:defRPr sz="2025" b="1">
                <a:solidFill>
                  <a:srgbClr val="252A31"/>
                </a:solidFill>
                <a:latin typeface="Noto Sans KR"/>
                <a:ea typeface="Noto Sans KR"/>
                <a:cs typeface="Noto Sans KR"/>
              </a:defRPr>
            </a:pPr>
            <a:r>
              <a:rPr sz="2025" b="1">
                <a:solidFill>
                  <a:srgbClr val="252A31"/>
                </a:solidFill>
                <a:latin typeface="Noto Sans KR"/>
                <a:ea typeface="Noto Sans KR"/>
                <a:cs typeface="Noto Sans KR"/>
              </a:rPr>
              <a:t>K·별점 인코딩 후보 범위</a:t>
            </a:r>
          </a:p>
          <a:p xmlns:a="http://schemas.openxmlformats.org/drawingml/2006/main">
            <a:pPr algn="l">
              <a:defRPr sz="2025" b="1">
                <a:solidFill>
                  <a:srgbClr val="252A31"/>
                </a:solidFill>
                <a:latin typeface="Noto Sans KR"/>
                <a:ea typeface="Noto Sans KR"/>
                <a:cs typeface="Noto Sans KR"/>
              </a:defRPr>
            </a:pPr>
            <a:r>
              <a:rPr sz="2025" b="1">
                <a:solidFill>
                  <a:srgbClr val="252A31"/>
                </a:solidFill>
                <a:latin typeface="Noto Sans KR"/>
                <a:ea typeface="Noto Sans KR"/>
                <a:cs typeface="Noto Sans KR"/>
              </a:rPr>
              <a:t>한국 target의 E5→BPR 개발 신호</a:t>
            </a:r>
          </a:p>
        </p:txBody>
      </p:sp>
      <p:sp>
        <p:nvSpPr>
          <p:cNvPr id="5" name="">
            <a:extLst xmlns:a="http://schemas.openxmlformats.org/drawingml/2006/main">
              <a:ext uri="{FF2B5EF4-FFF2-40B4-BE49-F238E27FC236}">
                <a16:creationId xmlns:a16="http://schemas.microsoft.com/office/drawing/2014/main" id="{C5A2E169-E251-43CF-BF2C-94C01F9046E5}"/>
              </a:ext>
            </a:extLst>
          </p:cNvPr>
          <p:cNvSpPr>
            <a:spLocks xmlns:a="http://schemas.openxmlformats.org/drawingml/2006/main" noGrp="1"/>
          </p:cNvSpPr>
          <p:nvPr/>
        </p:nvSpPr>
        <p:spPr>
          <a:xfrm xmlns:a="http://schemas.openxmlformats.org/drawingml/2006/main">
            <a:off x="6572250" y="1409700"/>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E75F57"/>
                </a:solidFill>
                <a:latin typeface="Noto Sans KR"/>
                <a:ea typeface="Noto Sans KR"/>
                <a:cs typeface="Noto Sans KR"/>
              </a:defRPr>
            </a:pPr>
            <a:r>
              <a:rPr sz="1575" b="1">
                <a:solidFill>
                  <a:srgbClr val="E75F57"/>
                </a:solidFill>
                <a:latin typeface="Noto Sans KR"/>
                <a:ea typeface="Noto Sans KR"/>
                <a:cs typeface="Noto Sans KR"/>
              </a:rPr>
              <a:t>확인하지 못한 것</a:t>
            </a:r>
          </a:p>
        </p:txBody>
      </p:sp>
      <p:sp>
        <p:nvSpPr>
          <p:cNvPr id="6" name="">
            <a:extLst xmlns:a="http://schemas.openxmlformats.org/drawingml/2006/main">
              <a:ext uri="{FF2B5EF4-FFF2-40B4-BE49-F238E27FC236}">
                <a16:creationId xmlns:a16="http://schemas.microsoft.com/office/drawing/2014/main" id="{F10EB922-F782-45F1-B44E-AC5488BEFAD5}"/>
              </a:ext>
            </a:extLst>
          </p:cNvPr>
          <p:cNvSpPr>
            <a:spLocks xmlns:a="http://schemas.openxmlformats.org/drawingml/2006/main" noGrp="1"/>
          </p:cNvSpPr>
          <p:nvPr/>
        </p:nvSpPr>
        <p:spPr>
          <a:xfrm xmlns:a="http://schemas.openxmlformats.org/drawingml/2006/main">
            <a:off x="6572250" y="2019300"/>
            <a:ext cx="47625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52A31"/>
                </a:solidFill>
                <a:latin typeface="Noto Sans KR"/>
                <a:ea typeface="Noto Sans KR"/>
                <a:cs typeface="Noto Sans KR"/>
              </a:defRPr>
            </a:pPr>
            <a:r>
              <a:rPr sz="2025" b="1">
                <a:solidFill>
                  <a:srgbClr val="252A31"/>
                </a:solidFill>
                <a:latin typeface="Noto Sans KR"/>
                <a:ea typeface="Noto Sans KR"/>
                <a:cs typeface="Noto Sans KR"/>
              </a:rPr>
              <a:t>한국 사용자 만족도</a:t>
            </a:r>
          </a:p>
          <a:p xmlns:a="http://schemas.openxmlformats.org/drawingml/2006/main">
            <a:pPr algn="l">
              <a:defRPr sz="2025" b="1">
                <a:solidFill>
                  <a:srgbClr val="252A31"/>
                </a:solidFill>
                <a:latin typeface="Noto Sans KR"/>
                <a:ea typeface="Noto Sans KR"/>
                <a:cs typeface="Noto Sans KR"/>
              </a:defRPr>
            </a:pPr>
            <a:r>
              <a:rPr sz="2025" b="1">
                <a:solidFill>
                  <a:srgbClr val="252A31"/>
                </a:solidFill>
                <a:latin typeface="Noto Sans KR"/>
                <a:ea typeface="Noto Sans KR"/>
                <a:cs typeface="Noto Sans KR"/>
              </a:rPr>
              <a:t>수록 이후 영화의 추천 품질</a:t>
            </a:r>
          </a:p>
          <a:p xmlns:a="http://schemas.openxmlformats.org/drawingml/2006/main">
            <a:pPr algn="l">
              <a:defRPr sz="2025" b="1">
                <a:solidFill>
                  <a:srgbClr val="252A31"/>
                </a:solidFill>
                <a:latin typeface="Noto Sans KR"/>
                <a:ea typeface="Noto Sans KR"/>
                <a:cs typeface="Noto Sans KR"/>
              </a:defRPr>
            </a:pPr>
            <a:r>
              <a:rPr sz="2025" b="1">
                <a:solidFill>
                  <a:srgbClr val="252A31"/>
                </a:solidFill>
                <a:latin typeface="Noto Sans KR"/>
                <a:ea typeface="Noto Sans KR"/>
                <a:cs typeface="Noto Sans KR"/>
              </a:rPr>
              <a:t>제품 K와 champion</a:t>
            </a:r>
          </a:p>
        </p:txBody>
      </p:sp>
      <p:sp>
        <p:nvSpPr>
          <p:cNvPr id="7" name="">
            <a:extLst xmlns:a="http://schemas.openxmlformats.org/drawingml/2006/main">
              <a:ext uri="{FF2B5EF4-FFF2-40B4-BE49-F238E27FC236}">
                <a16:creationId xmlns:a16="http://schemas.microsoft.com/office/drawing/2014/main" id="{7C71BAB1-4F2E-4561-A557-0BBBC444C08E}"/>
              </a:ext>
            </a:extLst>
          </p:cNvPr>
          <p:cNvSpPr>
            <a:spLocks xmlns:a="http://schemas.openxmlformats.org/drawingml/2006/main" noGrp="1"/>
          </p:cNvSpPr>
          <p:nvPr/>
        </p:nvSpPr>
        <p:spPr>
          <a:xfrm xmlns:a="http://schemas.openxmlformats.org/drawingml/2006/main">
            <a:off x="685800" y="462915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258D7"/>
                </a:solidFill>
                <a:latin typeface="Noto Sans KR"/>
                <a:ea typeface="Noto Sans KR"/>
                <a:cs typeface="Noto Sans KR"/>
              </a:defRPr>
            </a:pPr>
            <a:r>
              <a:rPr sz="2250" b="1">
                <a:solidFill>
                  <a:srgbClr val="2258D7"/>
                </a:solidFill>
                <a:latin typeface="Noto Sans KR"/>
                <a:ea typeface="Noto Sans KR"/>
                <a:cs typeface="Noto Sans KR"/>
              </a:rPr>
              <a:t>새 한국 사용자 모집단에서 추천 노출, 시청 확인, 평가를 수집한 뒤</a:t>
            </a:r>
          </a:p>
          <a:p xmlns:a="http://schemas.openxmlformats.org/drawingml/2006/main">
            <a:pPr algn="l">
              <a:defRPr sz="2250" b="1">
                <a:solidFill>
                  <a:srgbClr val="2258D7"/>
                </a:solidFill>
                <a:latin typeface="Noto Sans KR"/>
                <a:ea typeface="Noto Sans KR"/>
                <a:cs typeface="Noto Sans KR"/>
              </a:defRPr>
            </a:pPr>
            <a:r>
              <a:rPr sz="2250" b="1">
                <a:solidFill>
                  <a:srgbClr val="2258D7"/>
                </a:solidFill>
                <a:latin typeface="Noto Sans KR"/>
                <a:ea typeface="Noto Sans KR"/>
                <a:cs typeface="Noto Sans KR"/>
              </a:rPr>
              <a:t>모델과 기준을 먼저 잠근 온라인 실험으로 확증</a:t>
            </a:r>
          </a:p>
        </p:txBody>
      </p:sp>
      <p:sp>
        <p:nvSpPr>
          <p:cNvPr id="8" name="">
            <a:extLst xmlns:a="http://schemas.openxmlformats.org/drawingml/2006/main">
              <a:ext uri="{FF2B5EF4-FFF2-40B4-BE49-F238E27FC236}">
                <a16:creationId xmlns:a16="http://schemas.microsoft.com/office/drawing/2014/main" id="{F8A7A80F-A0B7-4908-8196-B67A9DED5EE2}"/>
              </a:ext>
            </a:extLst>
          </p:cNvPr>
          <p:cNvSpPr>
            <a:spLocks xmlns:a="http://schemas.openxmlformats.org/drawingml/2006/main" noGrp="1"/>
          </p:cNvSpPr>
          <p:nvPr/>
        </p:nvSpPr>
        <p:spPr>
          <a:xfrm xmlns:a="http://schemas.openxmlformats.org/drawingml/2006/main">
            <a:off x="609600" y="62103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68707B"/>
                </a:solidFill>
                <a:latin typeface="Noto Sans KR"/>
                <a:ea typeface="Noto Sans KR"/>
                <a:cs typeface="Noto Sans KR"/>
              </a:defRPr>
            </a:pPr>
            <a:r>
              <a:rPr sz="975" b="0">
                <a:solidFill>
                  <a:srgbClr val="68707B"/>
                </a:solidFill>
                <a:latin typeface="Noto Sans KR"/>
                <a:ea typeface="Noto Sans KR"/>
                <a:cs typeface="Noto Sans KR"/>
              </a:rPr>
              <a:t>동일 label 재검정 중단 · Locked Test·final reserve 미개봉 · 제품 정책 미변경</a:t>
            </a:r>
          </a:p>
        </p:txBody>
      </p:sp>
    </p:spTree>
    <p:extLst>
      <p:ext uri="{BB962C8B-B14F-4D97-AF65-F5344CB8AC3E}">
        <p14:creationId xmlns:p14="http://schemas.microsoft.com/office/powerpoint/2010/main" val="8945518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2026-09-05T13:45:18.3100000Z</dcterms:created>
  <dcterms:modified xsi:type="dcterms:W3CDTF">2026-09-05T13:45:18.3100000Z</dcterms:modified>
</coreProperties>
</file>