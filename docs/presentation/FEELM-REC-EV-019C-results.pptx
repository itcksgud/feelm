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61c129bd7c4fb4" /><Relationship Type="http://schemas.openxmlformats.org/officeDocument/2006/relationships/extended-properties" Target="/docProps/app.xml" Id="R649285aec5dc42ab" /><Relationship Type="http://schemas.openxmlformats.org/officeDocument/2006/relationships/officeDocument" Target="/ppt/presentation.xml" Id="R1ac7da280fff45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e215a08904e37"/>
  </p:sldMasterIdLst>
  <p:notesMasterIdLst>
    <p:notesMasterId xmlns:r="http://schemas.openxmlformats.org/officeDocument/2006/relationships" r:id="R5c050e0799a24c5f"/>
  </p:notesMasterIdLst>
  <p:sldIdLst>
    <p:sldId xmlns:r="http://schemas.openxmlformats.org/officeDocument/2006/relationships" id="256" r:id="Rb2e781c3585a4081"/>
    <p:sldId xmlns:r="http://schemas.openxmlformats.org/officeDocument/2006/relationships" id="257" r:id="R77de881117394d8e"/>
    <p:sldId xmlns:r="http://schemas.openxmlformats.org/officeDocument/2006/relationships" id="258" r:id="Rd56719c21e694380"/>
    <p:sldId xmlns:r="http://schemas.openxmlformats.org/officeDocument/2006/relationships" id="259" r:id="Re808d9c672394569"/>
    <p:sldId xmlns:r="http://schemas.openxmlformats.org/officeDocument/2006/relationships" id="260" r:id="Rbca9473d30654e3e"/>
    <p:sldId xmlns:r="http://schemas.openxmlformats.org/officeDocument/2006/relationships" id="261" r:id="R844b01856e274de7"/>
    <p:sldId xmlns:r="http://schemas.openxmlformats.org/officeDocument/2006/relationships" id="262" r:id="Reaf2b7f8fc3745ec"/>
    <p:sldId xmlns:r="http://schemas.openxmlformats.org/officeDocument/2006/relationships" id="263" r:id="R9047cde3710e427c"/>
    <p:sldId xmlns:r="http://schemas.openxmlformats.org/officeDocument/2006/relationships" id="264" r:id="R7602d7e5219d45e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6a52cebed74d9f" /><Relationship Type="http://schemas.openxmlformats.org/officeDocument/2006/relationships/slideMaster" Target="/ppt/slideMasters/slideMaster1.xml" Id="R1f9e215a08904e37" /><Relationship Type="http://schemas.openxmlformats.org/officeDocument/2006/relationships/notesMaster" Target="/ppt/notesMasters/notesMaster1.xml" Id="R5c050e0799a24c5f" /><Relationship Type="http://schemas.openxmlformats.org/officeDocument/2006/relationships/presProps" Target="/ppt/presProps.xml" Id="R00fbd3a789c84242" /><Relationship Type="http://schemas.openxmlformats.org/officeDocument/2006/relationships/tableStyles" Target="/ppt/tableStyles.xml" Id="Reb5aadc020984ca9" /><Relationship Type="http://schemas.openxmlformats.org/officeDocument/2006/relationships/slide" Target="/ppt/slides/slide1.xml" Id="Rb2e781c3585a4081" /><Relationship Type="http://schemas.openxmlformats.org/officeDocument/2006/relationships/slide" Target="/ppt/slides/slide2.xml" Id="R77de881117394d8e" /><Relationship Type="http://schemas.openxmlformats.org/officeDocument/2006/relationships/slide" Target="/ppt/slides/slide3.xml" Id="Rd56719c21e694380" /><Relationship Type="http://schemas.openxmlformats.org/officeDocument/2006/relationships/slide" Target="/ppt/slides/slide4.xml" Id="Re808d9c672394569" /><Relationship Type="http://schemas.openxmlformats.org/officeDocument/2006/relationships/slide" Target="/ppt/slides/slide5.xml" Id="Rbca9473d30654e3e" /><Relationship Type="http://schemas.openxmlformats.org/officeDocument/2006/relationships/slide" Target="/ppt/slides/slide6.xml" Id="R844b01856e274de7" /><Relationship Type="http://schemas.openxmlformats.org/officeDocument/2006/relationships/slide" Target="/ppt/slides/slide7.xml" Id="Reaf2b7f8fc3745ec" /><Relationship Type="http://schemas.openxmlformats.org/officeDocument/2006/relationships/slide" Target="/ppt/slides/slide8.xml" Id="R9047cde3710e427c" /><Relationship Type="http://schemas.openxmlformats.org/officeDocument/2006/relationships/slide" Target="/ppt/slides/slide9.xml" Id="R7602d7e5219d45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29c4dc93a744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39d45ed0b741f1" /><Relationship Type="http://schemas.openxmlformats.org/officeDocument/2006/relationships/notesMaster" Target="/ppt/notesMasters/notesMaster1.xml" Id="Rba46f109648344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044b4ed9ec47ca" /><Relationship Type="http://schemas.openxmlformats.org/officeDocument/2006/relationships/notesMaster" Target="/ppt/notesMasters/notesMaster1.xml" Id="R3d98e8e103804c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8cd99011a04223" /><Relationship Type="http://schemas.openxmlformats.org/officeDocument/2006/relationships/notesMaster" Target="/ppt/notesMasters/notesMaster1.xml" Id="Ra2fff2a0a74847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23c602f2d54ff7" /><Relationship Type="http://schemas.openxmlformats.org/officeDocument/2006/relationships/notesMaster" Target="/ppt/notesMasters/notesMaster1.xml" Id="R5c00c36c86eb48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48b9ccfd984ae8" /><Relationship Type="http://schemas.openxmlformats.org/officeDocument/2006/relationships/notesMaster" Target="/ppt/notesMasters/notesMaster1.xml" Id="R1ea93b569bae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b5849155144e27" /><Relationship Type="http://schemas.openxmlformats.org/officeDocument/2006/relationships/notesMaster" Target="/ppt/notesMasters/notesMaster1.xml" Id="R765332ae751b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144eaae1684d6a" /><Relationship Type="http://schemas.openxmlformats.org/officeDocument/2006/relationships/notesMaster" Target="/ppt/notesMasters/notesMaster1.xml" Id="R1c7d1c08aa1e4d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80d8a132f04af9" /><Relationship Type="http://schemas.openxmlformats.org/officeDocument/2006/relationships/notesMaster" Target="/ppt/notesMasters/notesMaster1.xml" Id="Rcb223eb76b7544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f9f64863924de5" /><Relationship Type="http://schemas.openxmlformats.org/officeDocument/2006/relationships/notesMaster" Target="/ppt/notesMasters/notesMaster1.xml" Id="R7a92cbd048a34f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docs/recommendation/evidence/REC-EV-019C-validation-analysis.md. 독립 감사 교정본이며 Locked Test와 제품 정책은 변경하지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MovieLens 한국 제작 영화 Rating 비중 0.33%, 유명 외국 STRICT proxy 78.73%는 REC-DATA-006 근거다. 여기서는 문제 정의만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REC-EV-019A 후보 41,625편, REC-EV-019B TMDB 구조·E5 feature. MovieLens 사용자는 FEELM 사용자가 아니며 K별 미래 구간이 달라 K5/K10 품질을 직접 비교하지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독립 재계산: tuning panel 제외 LightFM T003-B0 paired NDCG@10. K5 +0.0333138, 95% percentile bootstrap [0.02582, 0.04114], n=1,358; K10 +0.0453236, [0.03681, 0.05462], n=1,223. 2,000회, seed=20260905+K. K별 미래 구간이 달라 직접 비교하지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공통 1,253명에서 LightFM NDCG@10은 K5 0.075359, K10 0.075348로 사실상 동일했다. delta 확대는 B0가 0.038780에서 0.030512로 낮아진 영향이다. 좌측 차트는 각 K 내부 사용자별 기술 통계이며 K별 미래 구간이 달라 prefix 효과를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LightFM fold-in은 최종 후보 매핑 뒤 positive/negative anchor가 모두 있어야 한다. raw 양쪽 신호 중 K5 97명, K10 46명은 valid anchor 부족으로 B0 fallback이 됐다. raw 한쪽 신호는 모두 설계상 fallback이다. 이 비교는 양방향 신호의 효과 검증이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Q4 positive 비중은 K5 6,086/6,345=95.9%, K10 5,729/5,943=96.4%다. 한국어 원어 positive는 K5 21건, K10 23건; Top500 적중은 B0 10, LightFM 6(두 K 동일), Top10은 모두 0이다. release_year&gt;=2020 후보 9편은 positive 0, true cold 후보는 0편이다. 희소 slice에서 inferiority를 결론 내리지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분석과 verifier는 paired·slice 원자료를 재계산했다. stability는 K별 256명 tuning panel에서만 계산했다. raw Parquet은 git-ignored outputs에만 있고 외부 artifact URI가 없어 commit 단독 재현은 불가능하다. locked_test_used=false, champion=null, product_policy_updated=false.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공개 대안은 보조 검증 후보일 뿐 즉시 대체재가 아니다: ML-32M Extension https://uwaterlooir.github.io/datasets/ml-32m-extension.html ; MovieLens Beliefs https://grouplens.org/datasets/movielens/ml_belief_2024/ ; KMRD https://github.com/lovit/kmrd ; Amazon Reviews 2023 https://amazon-reviews-2023.github.io/main.html . 목표 도메인·최신성·한국 영화 범위·제품 사용 가능한 라이선스·사용자 행동을 동시에 만족하는 즉시 사용 가능한 대안은 확인되지 않았다. locked_test_used=false, champion=null, product_policy_updated=false.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238082e9ec47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fc51dc8f324306" /><Relationship Type="http://schemas.openxmlformats.org/officeDocument/2006/relationships/slideLayout" Target="/ppt/slideLayouts/slideLayout1.xml" Id="R86c5e676893945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c5e676893945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932866c304083" /><Relationship Type="http://schemas.openxmlformats.org/officeDocument/2006/relationships/notesSlide" Target="/ppt/notesSlides/notesSlide1.xml" Id="R4228fd845ab5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a49da7d8e4dbb" /><Relationship Type="http://schemas.openxmlformats.org/officeDocument/2006/relationships/notesSlide" Target="/ppt/notesSlides/notesSlide2.xml" Id="Rd46ae095f6a348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bc581d6904c28" /><Relationship Type="http://schemas.openxmlformats.org/officeDocument/2006/relationships/notesSlide" Target="/ppt/notesSlides/notesSlide3.xml" Id="R7a44a1d2514547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1126684164351" /><Relationship Type="http://schemas.openxmlformats.org/officeDocument/2006/relationships/chart" Target="/ppt/slides/charts/chart1.xml" Id="R8ea7ec7a3aa44717" /><Relationship Type="http://schemas.openxmlformats.org/officeDocument/2006/relationships/notesSlide" Target="/ppt/notesSlides/notesSlide4.xml" Id="R0e897bde666b42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2343816b04532" /><Relationship Type="http://schemas.openxmlformats.org/officeDocument/2006/relationships/chart" Target="/ppt/slides/charts/chart2.xml" Id="R1c6109138ad84f2c" /><Relationship Type="http://schemas.openxmlformats.org/officeDocument/2006/relationships/notesSlide" Target="/ppt/notesSlides/notesSlide5.xml" Id="R234501a510ad47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30550385a4cbf" /><Relationship Type="http://schemas.openxmlformats.org/officeDocument/2006/relationships/notesSlide" Target="/ppt/notesSlides/notesSlide6.xml" Id="Re490dd02486f4e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69a30d7fe488e" /><Relationship Type="http://schemas.openxmlformats.org/officeDocument/2006/relationships/chart" Target="/ppt/slides/charts/chart3.xml" Id="Rc8615a839c91451a" /><Relationship Type="http://schemas.openxmlformats.org/officeDocument/2006/relationships/notesSlide" Target="/ppt/notesSlides/notesSlide7.xml" Id="R8135a6437ceb49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90771ba494b4a" /><Relationship Type="http://schemas.openxmlformats.org/officeDocument/2006/relationships/notesSlide" Target="/ppt/notesSlides/notesSlide8.xml" Id="Re3394d72bd0e43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86122538d4129" /><Relationship Type="http://schemas.openxmlformats.org/officeDocument/2006/relationships/notesSlide" Target="/ppt/notesSlides/notesSlide9.xml" Id="R672738e5a73d4d2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E2C2A"/>
                </a:solidFill>
                <a:latin typeface="Noto Sans KR"/>
                <a:ea typeface="Noto Sans KR"/>
                <a:cs typeface="Noto Sans KR"/>
              </a:rPr>
              <a:t>Validation NDCG@10 · 각 K 내부 결과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2E2C2A"/>
              </a:solidFill>
              <a:latin typeface="Noto Sans KR"/>
              <a:ea typeface="Noto Sans KR"/>
              <a:cs typeface="Noto Sans K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B0 인기도</c:v>
          </c:tx>
          <c:spPr>
            <a:solidFill xmlns:a="http://schemas.openxmlformats.org/drawingml/2006/main">
              <a:srgbClr val="8A8F94"/>
            </a:solidFill>
          </c:spPr>
          <c:cat>
            <c:strRef>
              <c:f>'Chart Data'!$A$2:$A$3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0.0401824605</c:v>
                </c:pt>
                <c:pt idx="1">
                  <c:v>0.0291377428</c:v>
                </c:pt>
              </c:numCache>
            </c:numRef>
          </c:val>
        </c:ser>
        <c:ser>
          <c:idx val="1"/>
          <c:order val="1"/>
          <c:tx>
            <c:v>B4 BPR</c:v>
          </c:tx>
          <c:spPr>
            <a:solidFill xmlns:a="http://schemas.openxmlformats.org/drawingml/2006/main">
              <a:srgbClr val="7A8A99"/>
            </a:solidFill>
          </c:spPr>
          <c:cat>
            <c:strRef>
              <c:f>'Chart Data'!$C$2:$C$3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0.0586592244</c:v>
                </c:pt>
                <c:pt idx="1">
                  <c:v>0.0583089551</c:v>
                </c:pt>
              </c:numCache>
            </c:numRef>
          </c:val>
        </c:ser>
        <c:ser>
          <c:idx val="2"/>
          <c:order val="2"/>
          <c:tx>
            <c:v>B6 구조</c:v>
          </c:tx>
          <c:spPr>
            <a:solidFill xmlns:a="http://schemas.openxmlformats.org/drawingml/2006/main">
              <a:srgbClr val="D1A15A"/>
            </a:solidFill>
          </c:spPr>
          <c:cat>
            <c:strRef>
              <c:f>'Chart Data'!$E$2:$E$3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Data'!$F$2:$F$3</c:f>
              <c:numCache>
                <c:formatCode>0.00</c:formatCode>
                <c:ptCount val="2"/>
                <c:pt idx="0">
                  <c:v>0.0307124144</c:v>
                </c:pt>
                <c:pt idx="1">
                  <c:v>0.0217528934</c:v>
                </c:pt>
              </c:numCache>
            </c:numRef>
          </c:val>
        </c:ser>
        <c:ser>
          <c:idx val="3"/>
          <c:order val="3"/>
          <c:tx>
            <c:v>B7 텍스트</c:v>
          </c:tx>
          <c:spPr>
            <a:solidFill xmlns:a="http://schemas.openxmlformats.org/drawingml/2006/main">
              <a:srgbClr val="B77A52"/>
            </a:solidFill>
          </c:spPr>
          <c:cat>
            <c:strRef>
              <c:f>'Chart Data'!$G$2:$G$3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Data'!$H$2:$H$3</c:f>
              <c:numCache>
                <c:formatCode>0.00</c:formatCode>
                <c:ptCount val="2"/>
                <c:pt idx="0">
                  <c:v>0.024974488</c:v>
                </c:pt>
                <c:pt idx="1">
                  <c:v>0.0130963709</c:v>
                </c:pt>
              </c:numCache>
            </c:numRef>
          </c:val>
        </c:ser>
        <c:ser>
          <c:idx val="4"/>
          <c:order val="4"/>
          <c:tx>
            <c:v>B8 LightFM</c:v>
          </c:tx>
          <c:spPr>
            <a:solidFill xmlns:a="http://schemas.openxmlformats.org/drawingml/2006/main">
              <a:srgbClr val="1E6595"/>
            </a:solidFill>
          </c:spPr>
          <c:cat>
            <c:strRef>
              <c:f>'Chart Data'!$I$2:$I$3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Data'!$J$2:$J$3</c:f>
              <c:numCache>
                <c:formatCode>0.00</c:formatCode>
                <c:ptCount val="2"/>
                <c:pt idx="0">
                  <c:v>0.0712774743</c:v>
                </c:pt>
                <c:pt idx="1">
                  <c:v>0.0725451828</c:v>
                </c:pt>
              </c:numCache>
            </c:numRef>
          </c:val>
        </c:ser>
        <c:ser>
          <c:idx val="5"/>
          <c:order val="5"/>
          <c:tx>
            <c:v>B9 RRF</c:v>
          </c:tx>
          <c:spPr>
            <a:solidFill xmlns:a="http://schemas.openxmlformats.org/drawingml/2006/main">
              <a:srgbClr val="4C8A88"/>
            </a:solidFill>
          </c:spPr>
          <c:cat>
            <c:strRef>
              <c:f>'Chart Data'!$K$2:$K$3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Data'!$L$2:$L$3</c:f>
              <c:numCache>
                <c:formatCode>0.00</c:formatCode>
                <c:ptCount val="2"/>
                <c:pt idx="0">
                  <c:v>0.0614992641</c:v>
                </c:pt>
                <c:pt idx="1">
                  <c:v>0.0622194789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1C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0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7F3E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7F3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E2C2A"/>
                </a:solidFill>
                <a:latin typeface="Noto Sans KR"/>
                <a:ea typeface="Noto Sans KR"/>
                <a:cs typeface="Noto Sans KR"/>
              </a:rPr>
              <a:t>각 K 내부 사용자별 변화율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2E2C2A"/>
              </a:solidFill>
              <a:latin typeface="Noto Sans KR"/>
              <a:ea typeface="Noto Sans KR"/>
              <a:cs typeface="Noto Sans KR"/>
            </a:defRPr>
          </a:pPr>
        </a:p>
      </c:txPr>
    </c:title>
    <c:plotArea>
      <c:barChart>
        <c:barDir val="col"/>
        <c:grouping val="percentStacked"/>
        <c:varyColors val="0"/>
        <c:ser>
          <c:idx val="0"/>
          <c:order val="0"/>
          <c:tx>
            <c:v>개선</c:v>
          </c:tx>
          <c:spPr>
            <a:solidFill xmlns:a="http://schemas.openxmlformats.org/drawingml/2006/main">
              <a:srgbClr val="1E6595"/>
            </a:solidFill>
          </c:spPr>
          <c:cat>
            <c:strRef>
              <c:f>'Chart Data'!$A$2:$A$3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0.1548946716</c:v>
                </c:pt>
                <c:pt idx="1">
                  <c:v>0.2177146721</c:v>
                </c:pt>
              </c:numCache>
            </c:numRef>
          </c:val>
        </c:ser>
        <c:ser>
          <c:idx val="1"/>
          <c:order val="1"/>
          <c:tx>
            <c:v>동률</c:v>
          </c:tx>
          <c:spPr>
            <a:solidFill xmlns:a="http://schemas.openxmlformats.org/drawingml/2006/main">
              <a:srgbClr val="C8C0B4"/>
            </a:solidFill>
          </c:spPr>
          <c:cat>
            <c:strRef>
              <c:f>'Chart Data'!$C$2:$C$3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0.7912019827</c:v>
                </c:pt>
                <c:pt idx="1">
                  <c:v>0.7200811359</c:v>
                </c:pt>
              </c:numCache>
            </c:numRef>
          </c:val>
        </c:ser>
        <c:ser>
          <c:idx val="2"/>
          <c:order val="2"/>
          <c:tx>
            <c:v>악화</c:v>
          </c:tx>
          <c:spPr>
            <a:solidFill xmlns:a="http://schemas.openxmlformats.org/drawingml/2006/main">
              <a:srgbClr val="B45443"/>
            </a:solidFill>
          </c:spPr>
          <c:cat>
            <c:strRef>
              <c:f>'Chart Data'!$E$2:$E$3</c:f>
              <c:strCache>
                <c:ptCount val="2"/>
                <c:pt idx="0">
                  <c:v>K=5</c:v>
                </c:pt>
                <c:pt idx="1">
                  <c:v>K=10</c:v>
                </c:pt>
              </c:strCache>
            </c:strRef>
          </c:cat>
          <c:val>
            <c:numRef>
              <c:f>'Chart Data'!$F$2:$F$3</c:f>
              <c:numCache>
                <c:formatCode>0%</c:formatCode>
                <c:ptCount val="2"/>
                <c:pt idx="0">
                  <c:v>0.0539033457</c:v>
                </c:pt>
                <c:pt idx="1">
                  <c:v>0.062204192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2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1C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7F3E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7F3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2E2C2A"/>
                </a:solidFill>
                <a:latin typeface="Noto Sans KR"/>
                <a:ea typeface="Noto Sans KR"/>
                <a:cs typeface="Noto Sans KR"/>
              </a:rPr>
              <a:t>K=10 관측 GOOD Top-10 적중률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2E2C2A"/>
              </a:solidFill>
              <a:latin typeface="Noto Sans KR"/>
              <a:ea typeface="Noto Sans KR"/>
              <a:cs typeface="Noto Sans KR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B0 인기도</c:v>
          </c:tx>
          <c:spPr>
            <a:solidFill xmlns:a="http://schemas.openxmlformats.org/drawingml/2006/main">
              <a:srgbClr val="8A8F94"/>
            </a:solidFill>
          </c:spPr>
          <c:cat>
            <c:strRef>
              <c:f>'Chart Data'!$A$2:$A$6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한국어 원어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0.0375283645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v>B8 LightFM</c:v>
          </c:tx>
          <c:spPr>
            <a:solidFill xmlns:a="http://schemas.openxmlformats.org/drawingml/2006/main">
              <a:srgbClr val="1E6595"/>
            </a:solidFill>
          </c:spPr>
          <c:cat>
            <c:strRef>
              <c:f>'Chart Data'!$C$2:$C$6</c:f>
              <c:strCache>
                <c:ptCount val="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한국어 원어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0.0946063885</c:v>
                </c:pt>
                <c:pt idx="4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D1C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1D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0.025"/>
      </c:valAx>
      <c:spPr>
        <a:solidFill xmlns:a="http://schemas.openxmlformats.org/drawingml/2006/main">
          <a:srgbClr val="F7F3EC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F7F3E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B3B47-C170-4522-B17A-0C9C24DA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51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MovieLens로 무엇을</a:t>
            </a:r>
          </a:p>
          <a:p xmlns:a="http://schemas.openxmlformats.org/drawingml/2006/main">
            <a:pPr>
              <a:buNone/>
              <a:defRPr sz="51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51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결정할 수 있었나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950EB-9BB8-4432-838F-FF149954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FEELM 추천 실험 REC-EV-019C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51A4B-9DBF-44A0-B4F3-1F697D6E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독립 감사 교정: paired·anchor·item slice·재현 한계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12A18-FD5C-4CB3-A54B-AE767340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Validation only · independent audit correction · 2026.09.05</a:t>
            </a:r>
          </a:p>
        </p:txBody>
      </p:sp>
    </p:spTree>
    <p:extLst>
      <p:ext uri="{BB962C8B-B14F-4D97-AF65-F5344CB8AC3E}">
        <p14:creationId xmlns:p14="http://schemas.microsoft.com/office/powerpoint/2010/main" val="788433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B0ACD-728E-46A7-9C00-F6B8EE3F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서비스 개발에서 맞닿은 두 가지 데이터 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14026-EC56-4B01-8CE6-2C7A12E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6E5F5-7BED-4884-9CD4-81B16B60A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8D1F1-E604-4AFB-A09E-2C37C99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097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한국 영화와 수록 이후 영화의 신호가 부족했다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9DF84-1146-4117-BA5B-431A2FA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336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MovieLens 평점은 유명 외국 영화에 집중됐다.</a:t>
            </a:r>
          </a:p>
          <a:p xmlns:a="http://schemas.openxmlformats.org/drawingml/2006/main">
            <a:pPr>
              <a:buNone/>
              <a:defRPr sz="18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데이터 수록 이후 영화에는 사용자·영화 상호작용이 없다.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FA206-1362-4A20-94AD-4BCF5C4F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44B17-011C-4EF4-AFFB-08319AB6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1950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추천 뒤 시청과 평가를 다시 받기 어려웠다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0B230-5F4D-438B-975F-46F21FC6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4340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출시 전에는 실제 사용자 순환을 반복할 수 없다.</a:t>
            </a:r>
          </a:p>
          <a:p xmlns:a="http://schemas.openxmlformats.org/drawingml/2006/main">
            <a:pPr>
              <a:buNone/>
              <a:defRPr sz="18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실제 FEELM 만족을 정답으로 삼을 수 없었다.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6185D-C9F9-4238-8CB8-B9743A6E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102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한 모델이 두 문제를 동시에 해결한다고 가정하지 않았다</a:t>
            </a:r>
          </a:p>
        </p:txBody>
      </p:sp>
    </p:spTree>
    <p:extLst>
      <p:ext uri="{BB962C8B-B14F-4D97-AF65-F5344CB8AC3E}">
        <p14:creationId xmlns:p14="http://schemas.microsoft.com/office/powerpoint/2010/main" val="11659458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4550E-BC4A-46B5-8D8F-80B83C61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데이터 역할을 분리한 대리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21FD3-64B5-4BEB-9495-9767C7AC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9037E-338F-4D99-A292-0264F4D3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MovieLens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5AB1F-3799-4429-AEBF-4EC8AE70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사용자 평가 행동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C4018-BDD3-41BB-B8F3-86637774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모델 학습</a:t>
            </a:r>
          </a:p>
          <a:p xmlns:a="http://schemas.openxmlformats.org/drawingml/2006/main">
            <a:pPr>
              <a:buNone/>
              <a:def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Validation 비교</a:t>
            </a:r>
          </a:p>
          <a:p xmlns:a="http://schemas.openxmlformats.org/drawingml/2006/main">
            <a:pPr>
              <a:buNone/>
              <a:def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관측 선호 복원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52431-F742-4C1B-977D-C5337AC9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TMDB + E5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224F4-2FCE-4000-9BB2-557FBAD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영화 콘텐츠 표현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A2FAE-D904-406B-9171-DE2C24C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장르·언어·인물·키워드</a:t>
            </a:r>
          </a:p>
          <a:p xmlns:a="http://schemas.openxmlformats.org/drawingml/2006/main">
            <a:pPr>
              <a:buNone/>
              <a:def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384차원 다국어 텍스트</a:t>
            </a:r>
          </a:p>
          <a:p xmlns:a="http://schemas.openxmlformats.org/drawingml/2006/main">
            <a:pPr>
              <a:buNone/>
              <a:def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상호작용 없는 영화 후보화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96EF2-030C-4836-BAFB-A5C45653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검증할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12136-E8B1-4743-B066-63953FB5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입력 K=5·10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EEF7E-E6F6-4B47-8C54-9578129D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863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모델과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57E3F-D13A-464D-97BA-BABD8BC8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86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사용자·영화 구간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A4F4B-E770-471E-A141-A76F2E09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286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관측 시점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23129-C1F1-4C46-BE85-2E5BD709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후보 41,625편 · K 직접 비교 금지 · Locked Test 미개봉</a:t>
            </a:r>
          </a:p>
        </p:txBody>
      </p:sp>
    </p:spTree>
    <p:extLst>
      <p:ext uri="{BB962C8B-B14F-4D97-AF65-F5344CB8AC3E}">
        <p14:creationId xmlns:p14="http://schemas.microsoft.com/office/powerpoint/2010/main" val="1098137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256CE-93C7-4B75-BBFF-AE8EDCD1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LightFM T003은 각 K에서 B0보다 높았다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CF473-84DB-4CAC-8923-C0679773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4084F-EAE3-4B55-8B91-647BD19D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+0.03331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87CAE-FFF9-45ED-85A9-B00625C6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003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K5 · n=1,358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D3293-4F77-4214-AD3F-3CBAC966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+0.04532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D8103-3CB4-4F56-A418-FC5A7921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K10 · n=1,223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E4B44-CCCD-4EC9-BF7F-67CCB15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625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tuning panel 제외</a:t>
            </a:r>
          </a:p>
          <a:p xmlns:a="http://schemas.openxmlformats.org/drawingml/2006/main">
            <a:pPr>
              <a:buNone/>
              <a:defRPr sz="1725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95% CI도 0보다 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5B7AB-C12A-4945-A2E5-65A69417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각 K 내부 paired 비교 · K5/K10 품질 직접 비교 아님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33400" y="1219200"/>
          <a:ext xmlns:a="http://schemas.openxmlformats.org/drawingml/2006/main" cx="85725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a7ec7a3aa44717"/>
          </a:graphicData>
        </a:graphic>
      </p:graphicFrame>
    </p:spTree>
    <p:extLst>
      <p:ext uri="{BB962C8B-B14F-4D97-AF65-F5344CB8AC3E}">
        <p14:creationId xmlns:p14="http://schemas.microsoft.com/office/powerpoint/2010/main" val="3050347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AE1E1-A92E-4884-89E5-D21E13E4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K10의 더 큰 delta는 B0 하락의 영향이었다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50DBC-6262-4DBB-AF69-5ACDD75E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169F6-14C4-4B49-B6CF-6854CC2C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5621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1,253명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B1202C-61EC-416F-AB0C-B9BB43A4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669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K5·10 공통 사용자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40817-285B-4908-9DBB-739546B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03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0.075359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20D6A-DB4D-4822-AEEB-BC84E92F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051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LightFM K5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35A2A-2923-4D8B-AD01-44DA57C3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386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0.075348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2BC1F-124D-46F3-BF3A-0FF70D18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434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LightFM K10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9A5E7-6B37-480D-9543-FE2D1426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공통 사용자 절대값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03AF8-182E-48B2-A004-914DB7DC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B0 0.038780 → 0.030512 · LightFM은 사실상 동일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7905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6109138ad84f2c"/>
          </a:graphicData>
        </a:graphic>
      </p:graphicFrame>
    </p:spTree>
    <p:extLst>
      <p:ext uri="{BB962C8B-B14F-4D97-AF65-F5344CB8AC3E}">
        <p14:creationId xmlns:p14="http://schemas.microsoft.com/office/powerpoint/2010/main" val="243552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CB915-9E92-4458-BEA8-FBC76A85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양쪽 신호는 LightFM 적용 전제였다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5D092-D8B5-4FD7-A3FF-7D866690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3BFF3-7B43-4204-B8F0-1E1C8CDA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원시 prefix 양쪽 신호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90E72-DD5C-4AAD-97B5-865A0726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97명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75B92-6C29-48D1-AE84-39E14593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K5 · anchor 부족 fallback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4F335-4FEB-431D-B06B-AD23C194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46명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E73CB-6B22-4C92-B750-D85060A8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95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K10 · anchor 부족 fallback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65A88-3109-4929-A449-D15120C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287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원시 prefix 한쪽 신호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7A1AE-B82C-43BD-A49E-3433EE10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100%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9F218-1A9D-4408-AB7C-64D4A9C5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956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설계상 B0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F319-55CC-4F52-B57A-DD5A2005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K=5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481D0-53E8-4802-87AF-73210AFB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1,085 → 988 적용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5FBFF-ADAF-4C89-A8E5-7DE64939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K=10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DD927-E048-406D-9D6E-2FFF2119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1,355 → 1,309 적용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665F19-F52F-4F39-A24A-FF6E813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해석 경계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A02C7-D23B-4FE8-A694-3CFE5263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fallback 비교는 신호 효과 검증이 아님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B66C4-6888-4C52-BE29-67B1F5D1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72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양방향 효과 주장 삭제</a:t>
            </a:r>
          </a:p>
        </p:txBody>
      </p:sp>
    </p:spTree>
    <p:extLst>
      <p:ext uri="{BB962C8B-B14F-4D97-AF65-F5344CB8AC3E}">
        <p14:creationId xmlns:p14="http://schemas.microsoft.com/office/powerpoint/2010/main" val="591946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B5C09-CA1F-4481-9D76-957AF24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Q4 집중과 희소 slice는 품질 근거가 아니었다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F3126-20EF-4E9D-82D1-5E3D16F1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180E6-5C8D-4945-B707-F47CA9B5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621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Q4 비중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5BB0F-4CA3-400A-98DF-AAD8AA7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K5 95.9%</a:t>
            </a:r>
          </a:p>
          <a:p xmlns:a="http://schemas.openxmlformats.org/drawingml/2006/main">
            <a:pPr>
              <a:buNone/>
              <a:defRPr sz="18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K10 96.4%</a:t>
            </a:r>
          </a:p>
          <a:p xmlns:a="http://schemas.openxmlformats.org/drawingml/2006/main">
            <a:pPr>
              <a:buNone/>
              <a:defRPr sz="18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Q1~Q3 저검정력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CFB39-7C8F-4D94-AA27-4A712B4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14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희소 slice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3EF17-8764-405A-9031-ADC9ED1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290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Top500 B0 10 · LF 6</a:t>
            </a:r>
          </a:p>
          <a:p xmlns:a="http://schemas.openxmlformats.org/drawingml/2006/main">
            <a:pPr>
              <a:buNone/>
              <a:defRPr sz="17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2020+ 9편 · positive 0</a:t>
            </a:r>
          </a:p>
          <a:p xmlns:a="http://schemas.openxmlformats.org/drawingml/2006/main">
            <a:pPr>
              <a:buNone/>
              <a:defRPr sz="17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true cold 0편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BC32A-10F0-4201-9D7A-A61F56AF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관측 GOOD 기반 기술 통계 · 희소 slice inferiority 결론 금지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88582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615a839c91451a"/>
          </a:graphicData>
        </a:graphic>
      </p:graphicFrame>
    </p:spTree>
    <p:extLst>
      <p:ext uri="{BB962C8B-B14F-4D97-AF65-F5344CB8AC3E}">
        <p14:creationId xmlns:p14="http://schemas.microsoft.com/office/powerpoint/2010/main" val="5863158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9202D-F8F3-440B-BCC6-0204CE6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AI 활용과 재현 경계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AAE36-0D6F-4B17-85B7-1091CD8B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20BEE-3B3B-49DE-BD69-061BED5F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사람이 고정한 경계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B8128-38D4-45E8-A3ED-17B9857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K5·K10 직접 비교 금지</a:t>
            </a:r>
          </a:p>
          <a:p xmlns:a="http://schemas.openxmlformats.org/drawingml/2006/main">
            <a:pPr>
              <a:buNone/>
              <a:def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Locked Test 미사용</a:t>
            </a:r>
          </a:p>
          <a:p xmlns:a="http://schemas.openxmlformats.org/drawingml/2006/main">
            <a:pPr>
              <a:buNone/>
              <a:def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champion null</a:t>
            </a:r>
          </a:p>
          <a:p xmlns:a="http://schemas.openxmlformats.org/drawingml/2006/main">
            <a:pPr>
              <a:buNone/>
              <a:def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제품 정책 미변경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6C0AD-EC2D-44D3-8A25-01F6B650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AI로 확장한 검증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B948E-BF9D-4F5C-A4F5-0AA66FC4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paired·slice 원자료 재계산</a:t>
            </a:r>
          </a:p>
          <a:p xmlns:a="http://schemas.openxmlformats.org/drawingml/2006/main">
            <a:pPr>
              <a:buNone/>
              <a:def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anchor fallback 검증</a:t>
            </a:r>
          </a:p>
          <a:p xmlns:a="http://schemas.openxmlformats.org/drawingml/2006/main">
            <a:pPr>
              <a:buNone/>
              <a:def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stability는 tuning panel 한정</a:t>
            </a:r>
          </a:p>
          <a:p xmlns:a="http://schemas.openxmlformats.org/drawingml/2006/main">
            <a:pPr>
              <a:buNone/>
              <a:def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checkpoint·resume 결과 검증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2B544-0974-4488-AB2C-FFDF866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commit 단독 재현 불가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BF313-4C97-4576-BD21-C7D74E64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raw Parquet은 ignored outputs에만 있고 외부 artifact URI가 없다</a:t>
            </a:r>
          </a:p>
        </p:txBody>
      </p:sp>
    </p:spTree>
    <p:extLst>
      <p:ext uri="{BB962C8B-B14F-4D97-AF65-F5344CB8AC3E}">
        <p14:creationId xmlns:p14="http://schemas.microsoft.com/office/powerpoint/2010/main" val="507792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135069-9AC3-48A4-99B7-67BA91D6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독립 감사 교정 후 최종 판정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5D4F3-77DE-46CF-8890-3DDD659C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5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BA901-1417-419C-8B22-4EF7D44E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157D5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89249-9184-40C9-9A31-C451EB27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각 K 안의 B0 대비 우위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8323E-2970-4F81-A37B-A5DA287A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LightFM T003</a:t>
            </a:r>
          </a:p>
          <a:p xmlns:a="http://schemas.openxmlformats.org/drawingml/2006/main">
            <a:pPr>
              <a:buNone/>
              <a:def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panel 제외 CI도 0보다 큼</a:t>
            </a:r>
          </a:p>
          <a:p xmlns:a="http://schemas.openxmlformats.org/drawingml/2006/main">
            <a:pPr>
              <a:buNone/>
              <a:def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K5·K10 직접 비교 안 함</a:t>
            </a:r>
          </a:p>
          <a:p xmlns:a="http://schemas.openxmlformats.org/drawingml/2006/main">
            <a:pPr>
              <a:buNone/>
              <a:def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Locked Test 미사용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BBBC4-0986-484C-B603-1F24B1DC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525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미확인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6540B-DBDE-4C51-8320-A944CDCC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효과·slice·실사용 결론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3DC5F-0612-44DB-A617-7A0F2217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양방향 신호 효과</a:t>
            </a:r>
          </a:p>
          <a:p xmlns:a="http://schemas.openxmlformats.org/drawingml/2006/main">
            <a:pPr>
              <a:buNone/>
              <a:def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저인기·한국어 원어 품질</a:t>
            </a:r>
          </a:p>
          <a:p xmlns:a="http://schemas.openxmlformats.org/drawingml/2006/main">
            <a:pPr>
              <a:buNone/>
              <a:def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2020+·true cold 품질</a:t>
            </a:r>
          </a:p>
          <a:p xmlns:a="http://schemas.openxmlformats.org/drawingml/2006/main">
            <a:pPr>
              <a:buNone/>
              <a:def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실제 FEELM 만족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C7354-5006-48D6-9554-D48465D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68727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68727F"/>
                </a:solidFill>
                <a:latin typeface="Noto Sans KR"/>
                <a:ea typeface="Noto Sans KR"/>
                <a:cs typeface="Noto Sans KR"/>
              </a:rPr>
              <a:t>다음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8CAA4-B09B-4DA6-A4F5-AA446EAA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02A"/>
                </a:solidFill>
                <a:latin typeface="Noto Sans KR"/>
                <a:ea typeface="Noto Sans KR"/>
                <a:cs typeface="Noto Sans KR"/>
              </a:rPr>
              <a:t>같은 사용자·같은 미래 구간의 K5/K10 prefix ablation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7CC65-8259-4BE3-80DD-6C5EB7E1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D34E5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D34E5B"/>
                </a:solidFill>
                <a:latin typeface="Noto Sans KR"/>
                <a:ea typeface="Noto Sans KR"/>
                <a:cs typeface="Noto Sans KR"/>
              </a:rPr>
              <a:t>locked_test_used=false · champion=null · product_policy_updated=false</a:t>
            </a:r>
          </a:p>
        </p:txBody>
      </p:sp>
    </p:spTree>
    <p:extLst>
      <p:ext uri="{BB962C8B-B14F-4D97-AF65-F5344CB8AC3E}">
        <p14:creationId xmlns:p14="http://schemas.microsoft.com/office/powerpoint/2010/main" val="519337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2026-09-04T17:10:09.3490000Z</dcterms:created>
  <dcterms:modified xsi:type="dcterms:W3CDTF">2026-09-04T17:10:09.3490000Z</dcterms:modified>
</coreProperties>
</file>