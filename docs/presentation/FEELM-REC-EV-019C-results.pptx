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8bbc37f8be4a6c" /><Relationship Type="http://schemas.openxmlformats.org/officeDocument/2006/relationships/extended-properties" Target="/docProps/app.xml" Id="Re8823fcf10494261" /><Relationship Type="http://schemas.openxmlformats.org/officeDocument/2006/relationships/officeDocument" Target="/ppt/presentation.xml" Id="R888bd5df8c9442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3ab95f213e4825"/>
  </p:sldMasterIdLst>
  <p:notesMasterIdLst>
    <p:notesMasterId xmlns:r="http://schemas.openxmlformats.org/officeDocument/2006/relationships" r:id="R64c9b49a1039428d"/>
  </p:notesMasterIdLst>
  <p:sldIdLst>
    <p:sldId xmlns:r="http://schemas.openxmlformats.org/officeDocument/2006/relationships" id="256" r:id="R908e5003805643d9"/>
    <p:sldId xmlns:r="http://schemas.openxmlformats.org/officeDocument/2006/relationships" id="257" r:id="Rf37ae9798cb84789"/>
    <p:sldId xmlns:r="http://schemas.openxmlformats.org/officeDocument/2006/relationships" id="258" r:id="R1af82e1c5aeb40b9"/>
    <p:sldId xmlns:r="http://schemas.openxmlformats.org/officeDocument/2006/relationships" id="259" r:id="Rf05dc27b056b4e79"/>
    <p:sldId xmlns:r="http://schemas.openxmlformats.org/officeDocument/2006/relationships" id="260" r:id="R4cafe5d0529d4c82"/>
    <p:sldId xmlns:r="http://schemas.openxmlformats.org/officeDocument/2006/relationships" id="261" r:id="R0f236831e7cf454f"/>
    <p:sldId xmlns:r="http://schemas.openxmlformats.org/officeDocument/2006/relationships" id="262" r:id="R2606a4365d0d44d2"/>
    <p:sldId xmlns:r="http://schemas.openxmlformats.org/officeDocument/2006/relationships" id="263" r:id="R80ecd1cd24064d35"/>
    <p:sldId xmlns:r="http://schemas.openxmlformats.org/officeDocument/2006/relationships" id="264" r:id="Rff1e4706111948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a178e0c87d4d50" /><Relationship Type="http://schemas.openxmlformats.org/officeDocument/2006/relationships/slideMaster" Target="/ppt/slideMasters/slideMaster1.xml" Id="R4d3ab95f213e4825" /><Relationship Type="http://schemas.openxmlformats.org/officeDocument/2006/relationships/notesMaster" Target="/ppt/notesMasters/notesMaster1.xml" Id="R64c9b49a1039428d" /><Relationship Type="http://schemas.openxmlformats.org/officeDocument/2006/relationships/presProps" Target="/ppt/presProps.xml" Id="R742f13ee0fed4df4" /><Relationship Type="http://schemas.openxmlformats.org/officeDocument/2006/relationships/tableStyles" Target="/ppt/tableStyles.xml" Id="Re4fbaf0d53064bdb" /><Relationship Type="http://schemas.openxmlformats.org/officeDocument/2006/relationships/slide" Target="/ppt/slides/slide1.xml" Id="R908e5003805643d9" /><Relationship Type="http://schemas.openxmlformats.org/officeDocument/2006/relationships/slide" Target="/ppt/slides/slide2.xml" Id="Rf37ae9798cb84789" /><Relationship Type="http://schemas.openxmlformats.org/officeDocument/2006/relationships/slide" Target="/ppt/slides/slide3.xml" Id="R1af82e1c5aeb40b9" /><Relationship Type="http://schemas.openxmlformats.org/officeDocument/2006/relationships/slide" Target="/ppt/slides/slide4.xml" Id="Rf05dc27b056b4e79" /><Relationship Type="http://schemas.openxmlformats.org/officeDocument/2006/relationships/slide" Target="/ppt/slides/slide5.xml" Id="R4cafe5d0529d4c82" /><Relationship Type="http://schemas.openxmlformats.org/officeDocument/2006/relationships/slide" Target="/ppt/slides/slide6.xml" Id="R0f236831e7cf454f" /><Relationship Type="http://schemas.openxmlformats.org/officeDocument/2006/relationships/slide" Target="/ppt/slides/slide7.xml" Id="R2606a4365d0d44d2" /><Relationship Type="http://schemas.openxmlformats.org/officeDocument/2006/relationships/slide" Target="/ppt/slides/slide8.xml" Id="R80ecd1cd24064d35" /><Relationship Type="http://schemas.openxmlformats.org/officeDocument/2006/relationships/slide" Target="/ppt/slides/slide9.xml" Id="Rff1e4706111948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2efbdfcf6c4d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0f4a818e4743ae" /><Relationship Type="http://schemas.openxmlformats.org/officeDocument/2006/relationships/notesMaster" Target="/ppt/notesMasters/notesMaster1.xml" Id="R895c0eac135d40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fefa37bfd541b2" /><Relationship Type="http://schemas.openxmlformats.org/officeDocument/2006/relationships/notesMaster" Target="/ppt/notesMasters/notesMaster1.xml" Id="R7ca9eb46d1cc4e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0ca6fb4a1d4bd9" /><Relationship Type="http://schemas.openxmlformats.org/officeDocument/2006/relationships/notesMaster" Target="/ppt/notesMasters/notesMaster1.xml" Id="Rbd7eec9fa17a45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b28505526949d2" /><Relationship Type="http://schemas.openxmlformats.org/officeDocument/2006/relationships/notesMaster" Target="/ppt/notesMasters/notesMaster1.xml" Id="Ra0a0797d54e24c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5d05ec15ac4edf" /><Relationship Type="http://schemas.openxmlformats.org/officeDocument/2006/relationships/notesMaster" Target="/ppt/notesMasters/notesMaster1.xml" Id="R7e9041ff1ade40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00fa8225694cb7" /><Relationship Type="http://schemas.openxmlformats.org/officeDocument/2006/relationships/notesMaster" Target="/ppt/notesMasters/notesMaster1.xml" Id="Re588ae25a48444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6b1611f15049d9" /><Relationship Type="http://schemas.openxmlformats.org/officeDocument/2006/relationships/notesMaster" Target="/ppt/notesMasters/notesMaster1.xml" Id="R722b9ee13a684b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9395ecda6d441d" /><Relationship Type="http://schemas.openxmlformats.org/officeDocument/2006/relationships/notesMaster" Target="/ppt/notesMasters/notesMaster1.xml" Id="R7437520025f143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d08350196e4f21" /><Relationship Type="http://schemas.openxmlformats.org/officeDocument/2006/relationships/notesMaster" Target="/ppt/notesMasters/notesMaster1.xml" Id="R204de2866ae344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docs/recommendation/evidence/REC-EV-019C-validation-analysis.md. Locked Test와 제품 정책은 변경하지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MovieLens 한국 제작 영화 Rating 비중 0.33%, 유명 외국 STRICT proxy 78.73%는 REC-DATA-006 근거다. 여기서는 문제 정의만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REC-EV-019A 후보 41,625편, REC-EV-019B TMDB 구조·E5 feature. MovieLens 사용자는 FEELM 사용자가 아니며 timestamp는 실제 관람 시각이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outputs/recommendation-evidence/rec-ev-019c/analysis-summary.json aggregate. K5 users=1,614, K10 users=1,479.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analysis-summary.json paired_vs_b0. 개선/동률/악화는 같은 사용자에서 LightFM과 B0 인기도의 NDCG@10 차이를 비교했다.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analysis-summary.json cohorts_for_validation_best_vs_b0의 prefix_signal. 이 결정은 다음 Validation/Test 후보이며 제품 정책 채택이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analysis-summary.json item_slices. K10 관측 GOOD 수는 Q1 36, Q2 33, Q3 145, Q4 5,729, 한국어 원어 23, 비한국어 원어 5,920이다. 한국어 원어는 TMDB original_language=ko proxy다.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활용은 구현·반복·분석 자동화에 한정했다. 문제 정의, 데이터 역할, 승격 조건, 결과 해석은 사람이 결정했다.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최종 판정: 문제 2는 출시 전 대리 환경의 초기 후보를 좁히는 수준에서 부분적으로 답했다. 문제 1은 해결 근거가 없다. 제품 정책 APPROVED_C2A_INTERNAL_POPULARITY_ONLY를 유지한다.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8331e163694d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1f2f7930fa498b" /><Relationship Type="http://schemas.openxmlformats.org/officeDocument/2006/relationships/slideLayout" Target="/ppt/slideLayouts/slideLayout1.xml" Id="R6c905e291f0b43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905e291f0b43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d5e87e57e4c3a" /><Relationship Type="http://schemas.openxmlformats.org/officeDocument/2006/relationships/notesSlide" Target="/ppt/notesSlides/notesSlide1.xml" Id="R06cd77f0ea884e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3e5f285d74e53" /><Relationship Type="http://schemas.openxmlformats.org/officeDocument/2006/relationships/notesSlide" Target="/ppt/notesSlides/notesSlide2.xml" Id="R8f0d8dc01d334c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27fa04902401b" /><Relationship Type="http://schemas.openxmlformats.org/officeDocument/2006/relationships/notesSlide" Target="/ppt/notesSlides/notesSlide3.xml" Id="Rceea4a67e48644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8524ea80c4742" /><Relationship Type="http://schemas.openxmlformats.org/officeDocument/2006/relationships/chart" Target="/ppt/slides/charts/chart1.xml" Id="R1ca7f9a37dc048c4" /><Relationship Type="http://schemas.openxmlformats.org/officeDocument/2006/relationships/notesSlide" Target="/ppt/notesSlides/notesSlide4.xml" Id="R6b3c6fc4e53f4e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e830345b64488" /><Relationship Type="http://schemas.openxmlformats.org/officeDocument/2006/relationships/chart" Target="/ppt/slides/charts/chart2.xml" Id="R014650c90629412d" /><Relationship Type="http://schemas.openxmlformats.org/officeDocument/2006/relationships/notesSlide" Target="/ppt/notesSlides/notesSlide5.xml" Id="R366b4356b51145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1d3a8851a4718" /><Relationship Type="http://schemas.openxmlformats.org/officeDocument/2006/relationships/notesSlide" Target="/ppt/notesSlides/notesSlide6.xml" Id="R154a1b0089b14e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ba8cd93844a57" /><Relationship Type="http://schemas.openxmlformats.org/officeDocument/2006/relationships/chart" Target="/ppt/slides/charts/chart3.xml" Id="R0d91d9032295406b" /><Relationship Type="http://schemas.openxmlformats.org/officeDocument/2006/relationships/notesSlide" Target="/ppt/notesSlides/notesSlide7.xml" Id="R3368a1b77f114c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284ebf37949d2" /><Relationship Type="http://schemas.openxmlformats.org/officeDocument/2006/relationships/notesSlide" Target="/ppt/notesSlides/notesSlide8.xml" Id="R2919521059884b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3a3b8a684426f" /><Relationship Type="http://schemas.openxmlformats.org/officeDocument/2006/relationships/notesSlide" Target="/ppt/notesSlides/notesSlide9.xml" Id="R1e8b0b43ba0446b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K=5</c:v>
          </c:tx>
          <c:spPr>
            <a:solidFill xmlns:a="http://schemas.openxmlformats.org/drawingml/2006/main">
              <a:srgbClr val="8AA2F2"/>
            </a:solidFill>
          </c:spPr>
          <c:cat>
            <c:strRef>
              <c:f>'Chart Data'!$A$2:$A$8</c:f>
              <c:strCache>
                <c:ptCount val="7"/>
                <c:pt idx="0">
                  <c:v>인기도</c:v>
                </c:pt>
                <c:pt idx="1">
                  <c:v>ItemKNN</c:v>
                </c:pt>
                <c:pt idx="2">
                  <c:v>관측 BPR</c:v>
                </c:pt>
                <c:pt idx="3">
                  <c:v>TMDB 구조</c:v>
                </c:pt>
                <c:pt idx="4">
                  <c:v>TMDB 텍스트</c:v>
                </c:pt>
                <c:pt idx="5">
                  <c:v>LightFM</c:v>
                </c:pt>
                <c:pt idx="6">
                  <c:v>RRF</c:v>
                </c:pt>
              </c:strCache>
            </c:strRef>
          </c:cat>
          <c:val>
            <c:numRef>
              <c:f>'Chart Data'!$B$2:$B$8</c:f>
              <c:numCache>
                <c:formatCode>0.000</c:formatCode>
                <c:ptCount val="7"/>
                <c:pt idx="0">
                  <c:v>0.0402</c:v>
                </c:pt>
                <c:pt idx="1">
                  <c:v>0.0055</c:v>
                </c:pt>
                <c:pt idx="2">
                  <c:v>0.0587</c:v>
                </c:pt>
                <c:pt idx="3">
                  <c:v>0.0307</c:v>
                </c:pt>
                <c:pt idx="4">
                  <c:v>0.025</c:v>
                </c:pt>
                <c:pt idx="5">
                  <c:v>0.0713</c:v>
                </c:pt>
                <c:pt idx="6">
                  <c:v>0.0615</c:v>
                </c:pt>
              </c:numCache>
            </c:numRef>
          </c:val>
        </c:ser>
        <c:ser>
          <c:idx val="1"/>
          <c:order val="1"/>
          <c:tx>
            <c:v>K=10</c:v>
          </c:tx>
          <c:spPr>
            <a:solidFill xmlns:a="http://schemas.openxmlformats.org/drawingml/2006/main">
              <a:srgbClr val="3157D5"/>
            </a:solidFill>
          </c:spPr>
          <c:cat>
            <c:strRef>
              <c:f>'Chart Data'!$C$2:$C$8</c:f>
              <c:strCache>
                <c:ptCount val="7"/>
                <c:pt idx="0">
                  <c:v>인기도</c:v>
                </c:pt>
                <c:pt idx="1">
                  <c:v>ItemKNN</c:v>
                </c:pt>
                <c:pt idx="2">
                  <c:v>관측 BPR</c:v>
                </c:pt>
                <c:pt idx="3">
                  <c:v>TMDB 구조</c:v>
                </c:pt>
                <c:pt idx="4">
                  <c:v>TMDB 텍스트</c:v>
                </c:pt>
                <c:pt idx="5">
                  <c:v>LightFM</c:v>
                </c:pt>
                <c:pt idx="6">
                  <c:v>RRF</c:v>
                </c:pt>
              </c:strCache>
            </c:strRef>
          </c:cat>
          <c:val>
            <c:numRef>
              <c:f>'Chart Data'!$D$2:$D$8</c:f>
              <c:numCache>
                <c:formatCode>0.000</c:formatCode>
                <c:ptCount val="7"/>
                <c:pt idx="0">
                  <c:v>0.0291</c:v>
                </c:pt>
                <c:pt idx="1">
                  <c:v>0.0022</c:v>
                </c:pt>
                <c:pt idx="2">
                  <c:v>0.0583</c:v>
                </c:pt>
                <c:pt idx="3">
                  <c:v>0.0218</c:v>
                </c:pt>
                <c:pt idx="4">
                  <c:v>0.0131</c:v>
                </c:pt>
                <c:pt idx="5">
                  <c:v>0.0725</c:v>
                </c:pt>
                <c:pt idx="6">
                  <c:v>0.0622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KR"/>
                  <a:ea typeface="Noto Sans KR"/>
                  <a:cs typeface="Noto Sans K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DD9CF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72768"/>
      </c:catAx>
      <c:valAx>
        <c:axId val="48672768"/>
        <c:scaling>
          <c:orientation val="minMax"/>
          <c:max val="0.0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9CF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50112"/>
        <c:crossBetween val="between"/>
        <c:majorUnit val="0.02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68727F"/>
              </a:solidFill>
              <a:latin typeface="Noto Sans KR"/>
              <a:ea typeface="Noto Sans KR"/>
              <a:cs typeface="Noto Sans KR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percentStacked"/>
        <c:varyColors val="0"/>
        <c:ser>
          <c:idx val="0"/>
          <c:order val="0"/>
          <c:tx>
            <c:v>개선</c:v>
          </c:tx>
          <c:spPr>
            <a:solidFill xmlns:a="http://schemas.openxmlformats.org/drawingml/2006/main">
              <a:srgbClr val="3157D5"/>
            </a:solidFill>
          </c:spPr>
          <c:cat>
            <c:strRef>
              <c:f>'Chart Data'!$A$2:$A$3</c:f>
              <c:strCache>
                <c:ptCount val="2"/>
                <c:pt idx="0">
                  <c:v>K=5</c:v>
                </c:pt>
                <c:pt idx="1">
                  <c:v>K=10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0.1549</c:v>
                </c:pt>
                <c:pt idx="1">
                  <c:v>0.2177</c:v>
                </c:pt>
              </c:numCache>
            </c:numRef>
          </c:val>
        </c:ser>
        <c:ser>
          <c:idx val="1"/>
          <c:order val="1"/>
          <c:tx>
            <c:v>동률</c:v>
          </c:tx>
          <c:spPr>
            <a:solidFill xmlns:a="http://schemas.openxmlformats.org/drawingml/2006/main">
              <a:srgbClr val="C7CCD4"/>
            </a:solidFill>
          </c:spPr>
          <c:cat>
            <c:strRef>
              <c:f>'Chart Data'!$C$2:$C$3</c:f>
              <c:strCache>
                <c:ptCount val="2"/>
                <c:pt idx="0">
                  <c:v>K=5</c:v>
                </c:pt>
                <c:pt idx="1">
                  <c:v>K=10</c:v>
                </c:pt>
              </c:strCache>
            </c:strRef>
          </c:cat>
          <c:val>
            <c:numRef>
              <c:f>'Chart Data'!$D$2:$D$3</c:f>
              <c:numCache>
                <c:formatCode>0%</c:formatCode>
                <c:ptCount val="2"/>
                <c:pt idx="0">
                  <c:v>0.7912</c:v>
                </c:pt>
                <c:pt idx="1">
                  <c:v>0.7201</c:v>
                </c:pt>
              </c:numCache>
            </c:numRef>
          </c:val>
        </c:ser>
        <c:ser>
          <c:idx val="2"/>
          <c:order val="2"/>
          <c:tx>
            <c:v>악화</c:v>
          </c:tx>
          <c:spPr>
            <a:solidFill xmlns:a="http://schemas.openxmlformats.org/drawingml/2006/main">
              <a:srgbClr val="D34E5B"/>
            </a:solidFill>
          </c:spPr>
          <c:cat>
            <c:strRef>
              <c:f>'Chart Data'!$E$2:$E$3</c:f>
              <c:strCache>
                <c:ptCount val="2"/>
                <c:pt idx="0">
                  <c:v>K=5</c:v>
                </c:pt>
                <c:pt idx="1">
                  <c:v>K=10</c:v>
                </c:pt>
              </c:strCache>
            </c:strRef>
          </c:cat>
          <c:val>
            <c:numRef>
              <c:f>'Chart Data'!$F$2:$F$3</c:f>
              <c:numCache>
                <c:formatCode>0%</c:formatCode>
                <c:ptCount val="2"/>
                <c:pt idx="0">
                  <c:v>0.0539</c:v>
                </c:pt>
                <c:pt idx="1">
                  <c:v>0.0622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KR"/>
                  <a:ea typeface="Noto Sans KR"/>
                  <a:cs typeface="Noto Sans KR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9CF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68727F"/>
              </a:solidFill>
              <a:latin typeface="Noto Sans KR"/>
              <a:ea typeface="Noto Sans KR"/>
              <a:cs typeface="Noto Sans KR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B0 인기도</c:v>
          </c:tx>
          <c:spPr>
            <a:solidFill xmlns:a="http://schemas.openxmlformats.org/drawingml/2006/main">
              <a:srgbClr val="C7CCD4"/>
            </a:solidFill>
          </c:spPr>
          <c:cat>
            <c:strRef>
              <c:f>'Chart Data'!$A$2:$A$7</c:f>
              <c:strCache>
                <c:ptCount val="6"/>
                <c:pt idx="0">
                  <c:v>인기도 Q1</c:v>
                </c:pt>
                <c:pt idx="1">
                  <c:v>인기도 Q2</c:v>
                </c:pt>
                <c:pt idx="2">
                  <c:v>인기도 Q3</c:v>
                </c:pt>
                <c:pt idx="3">
                  <c:v>인기도 Q4</c:v>
                </c:pt>
                <c:pt idx="4">
                  <c:v>한국어 원어</c:v>
                </c:pt>
                <c:pt idx="5">
                  <c:v>비한국어 원어</c:v>
                </c:pt>
              </c:strCache>
            </c:strRef>
          </c:cat>
          <c:val>
            <c:numRef>
              <c:f>'Chart Data'!$B$2:$B$7</c:f>
              <c:numCache>
                <c:formatCode>0.0%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0.0375</c:v>
                </c:pt>
                <c:pt idx="4">
                  <c:v>0</c:v>
                </c:pt>
                <c:pt idx="5">
                  <c:v>0.0363</c:v>
                </c:pt>
              </c:numCache>
            </c:numRef>
          </c:val>
        </c:ser>
        <c:ser>
          <c:idx val="1"/>
          <c:order val="1"/>
          <c:tx>
            <c:v>B8 LightFM</c:v>
          </c:tx>
          <c:spPr>
            <a:solidFill xmlns:a="http://schemas.openxmlformats.org/drawingml/2006/main">
              <a:srgbClr val="3157D5"/>
            </a:solidFill>
          </c:spPr>
          <c:cat>
            <c:strRef>
              <c:f>'Chart Data'!$C$2:$C$7</c:f>
              <c:strCache>
                <c:ptCount val="6"/>
                <c:pt idx="0">
                  <c:v>인기도 Q1</c:v>
                </c:pt>
                <c:pt idx="1">
                  <c:v>인기도 Q2</c:v>
                </c:pt>
                <c:pt idx="2">
                  <c:v>인기도 Q3</c:v>
                </c:pt>
                <c:pt idx="3">
                  <c:v>인기도 Q4</c:v>
                </c:pt>
                <c:pt idx="4">
                  <c:v>한국어 원어</c:v>
                </c:pt>
                <c:pt idx="5">
                  <c:v>비한국어 원어</c:v>
                </c:pt>
              </c:strCache>
            </c:strRef>
          </c:cat>
          <c:val>
            <c:numRef>
              <c:f>'Chart Data'!$D$2:$D$7</c:f>
              <c:numCache>
                <c:formatCode>0.0%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0.0946</c:v>
                </c:pt>
                <c:pt idx="4">
                  <c:v>0</c:v>
                </c:pt>
                <c:pt idx="5">
                  <c:v>0.0916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KR"/>
                  <a:ea typeface="Noto Sans KR"/>
                  <a:cs typeface="Noto Sans K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DD9CF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72768"/>
      </c:catAx>
      <c:valAx>
        <c:axId val="48672768"/>
        <c:scaling>
          <c:orientation val="minMax"/>
          <c:max val="0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9CF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50112"/>
        <c:crossBetween val="between"/>
        <c:majorUnit val="0.02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68727F"/>
              </a:solidFill>
              <a:latin typeface="Noto Sans KR"/>
              <a:ea typeface="Noto Sans KR"/>
              <a:cs typeface="Noto Sans KR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B3B47-C170-4522-B17A-0C9C24DA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876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51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MovieLens로 무엇을</a:t>
            </a:r>
          </a:p>
          <a:p xmlns:a="http://schemas.openxmlformats.org/drawingml/2006/main">
            <a:pPr>
              <a:defRPr sz="51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51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결정할 수 있었나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950EB-9BB8-4432-838F-FF149954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FEELM 추천 실험 REC-EV-019C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51A4B-9DBF-44A0-B4F3-1F697D6E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한국 영화·신작의 데이터 공백과 실사용 피드백 부재를 분리해 검증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12A18-FD5C-4CB3-A54B-AE767340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Validation only  ·  2026.09.05</a:t>
            </a:r>
          </a:p>
        </p:txBody>
      </p:sp>
    </p:spTree>
    <p:extLst>
      <p:ext uri="{BB962C8B-B14F-4D97-AF65-F5344CB8AC3E}">
        <p14:creationId xmlns:p14="http://schemas.microsoft.com/office/powerpoint/2010/main" val="7884337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8B0ACD-728E-46A7-9C00-F6B8EE3F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서비스 개발에서 맞닿은 두 가지 데이터 문제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14026-EC56-4B01-8CE6-2C7A12E2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6E5F5-7BED-4884-9CD4-81B16B60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104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48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8D1F1-E604-4AFB-A09E-2C37C99C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09700"/>
            <a:ext cx="904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4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한국 영화와 수록 이후 영화의 신호가 부족했다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9DF84-1146-4117-BA5B-431A2FAA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133600"/>
            <a:ext cx="8858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MovieLens 평점은 유명 외국 영화에 집중됐다.</a:t>
            </a:r>
          </a:p>
          <a:p xmlns:a="http://schemas.openxmlformats.org/drawingml/2006/main">
            <a:pPr>
              <a:def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데이터 수록 이후 영화에는 사용자·영화 상호작용이 없다.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FA206-1362-4A20-94AD-4BCF5C4F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104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48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744B17-011C-4EF4-AFFB-08319AB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19500"/>
            <a:ext cx="904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4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추천 뒤 시청과 평가를 다시 받기 어려웠다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0B230-5F4D-438B-975F-46F21FC6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8858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출시 전에는 실제 사용자 순환을 반복할 수 없다.</a:t>
            </a:r>
          </a:p>
          <a:p xmlns:a="http://schemas.openxmlformats.org/drawingml/2006/main">
            <a:pPr>
              <a:def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실제 FEELM 만족을 정답으로 삼을 수 없었다.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6185D-C9F9-4238-8CB8-B9743A6E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1025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한 모델이 두 문제를 동시에 해결한다고 가정하지 않았다</a:t>
            </a:r>
          </a:p>
        </p:txBody>
      </p:sp>
    </p:spTree>
    <p:extLst>
      <p:ext uri="{BB962C8B-B14F-4D97-AF65-F5344CB8AC3E}">
        <p14:creationId xmlns:p14="http://schemas.microsoft.com/office/powerpoint/2010/main" val="11659458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14550E-BC4A-46B5-8D8F-80B83C61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데이터 역할을 분리한 대리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21FD3-64B5-4BEB-9495-9767C7AC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9037E-338F-4D99-A292-0264F4D3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MovieLens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5AB1F-3799-4429-AEBF-4EC8AE70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사용자 평가 행동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C4018-BDD3-41BB-B8F3-86637774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모델 학습</a:t>
            </a:r>
          </a:p>
          <a:p xmlns:a="http://schemas.openxmlformats.org/drawingml/2006/main">
            <a:pPr>
              <a:def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Validation 비교</a:t>
            </a:r>
          </a:p>
          <a:p xmlns:a="http://schemas.openxmlformats.org/drawingml/2006/main">
            <a:pPr>
              <a:def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관측 선호 복원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52431-F742-4C1B-977D-C5337AC9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525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TMDB + E5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C224F4-2FCE-4000-9BB2-557FBAD9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431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영화 콘텐츠 표현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A2FAE-D904-406B-9171-DE2C24C0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1460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장르·언어·인물·키워드</a:t>
            </a:r>
          </a:p>
          <a:p xmlns:a="http://schemas.openxmlformats.org/drawingml/2006/main">
            <a:pPr>
              <a:def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384차원 다국어 텍스트</a:t>
            </a:r>
          </a:p>
          <a:p xmlns:a="http://schemas.openxmlformats.org/drawingml/2006/main">
            <a:pPr>
              <a:def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상호작용 없는 영화 후보화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96EF2-030C-4836-BAFB-A5C45653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검증할 결정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312136-E8B1-4743-B066-63953FB5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입력 K=5·10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0EEF7E-E6F6-4B47-8C54-9578129D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8637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모델과 fallback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C57E3F-D13A-464D-97BA-BABD8BC8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863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사용자·영화 구간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A4F4B-E770-471E-A141-A76F2E09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2863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관측 시점 정책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23129-C1F1-4C46-BE85-2E5BD709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후보 41,625편 · Validation only · Locked Test 미개봉</a:t>
            </a:r>
          </a:p>
        </p:txBody>
      </p:sp>
    </p:spTree>
    <p:extLst>
      <p:ext uri="{BB962C8B-B14F-4D97-AF65-F5344CB8AC3E}">
        <p14:creationId xmlns:p14="http://schemas.microsoft.com/office/powerpoint/2010/main" val="10981371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4256CE-93C7-4B75-BBFF-AE8EDCD1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LightFM이 K5·10 평균 NDCG에서 1위였다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DCF473-84DB-4CAC-8923-C0679773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33400" y="1219200"/>
          <a:ext xmlns:a="http://schemas.openxmlformats.org/drawingml/2006/main" cx="857250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a7f9a37dc048c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4084F-EAE3-4B55-8B91-647BD19D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907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+0.0311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87CAE-FFF9-45ED-85A9-B00625C6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003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K5 인기도 대비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D3293-4F77-4214-AD3F-3CBAC966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+0.0434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D8103-3CB4-4F56-A418-FC5A7921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8481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K10 인기도 대비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E4B44-CCCD-4EC9-BF7F-67CCB15D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6250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콘텐츠 단독 모델은</a:t>
            </a:r>
          </a:p>
          <a:p xmlns:a="http://schemas.openxmlformats.org/drawingml/2006/main">
            <a:pPr>
              <a:defRPr sz="172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인기도보다 낮았다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85B7AB-C12A-4945-A2E5-65A69417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NDCG@10 · 사용자 macro</a:t>
            </a:r>
          </a:p>
        </p:txBody>
      </p:sp>
    </p:spTree>
    <p:extLst>
      <p:ext uri="{BB962C8B-B14F-4D97-AF65-F5344CB8AC3E}">
        <p14:creationId xmlns:p14="http://schemas.microsoft.com/office/powerpoint/2010/main" val="3050347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AE1E1-A92E-4884-89E5-D21E13E4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개선 사용자는 늘었지만 다수는 동률이었다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50DBC-6262-4DBB-AF69-5ACDD75E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7905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4650c90629412d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169F6-14C4-4B49-B6CF-6854CC2C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5621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21.8%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1202C-61EC-416F-AB0C-B9BB43A4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669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K10 개선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40817-285B-4908-9DBB-739546BB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003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15.5%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20D6A-DB4D-4822-AEEB-BC84E92F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3051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K5 개선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35A2A-2923-4D8B-AD01-44DA57C3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386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6.2%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2BC1F-124D-46F3-BF3A-0FF70D18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434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K10 악화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9A5E7-6B37-480D-9543-FE2D1426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paired NDCG 95% CI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03AF8-182E-48B2-A004-914DB7DC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K5  [0.0243, 0.0383]     K10  [0.0355, 0.0515]</a:t>
            </a:r>
          </a:p>
        </p:txBody>
      </p:sp>
    </p:spTree>
    <p:extLst>
      <p:ext uri="{BB962C8B-B14F-4D97-AF65-F5344CB8AC3E}">
        <p14:creationId xmlns:p14="http://schemas.microsoft.com/office/powerpoint/2010/main" val="2435526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DCB915-9E92-4458-BEA8-FBC76A85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LightFM은 양방향 선호 신호가 있을 때만 차이를 만들었다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5D092-D8B5-4FD7-A3FF-7D866690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13BFF3-7B43-4204-B8F0-1E1C8CDA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좋아요·싫어요 모두 있음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90E72-DD5C-4AAD-97B5-865A0726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45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+0.0463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75B92-6C29-48D1-AE84-39E14593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K5 NDCG 차이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4F335-4FEB-431D-B06B-AD23C194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45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+0.0474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E73CB-6B22-4C92-B750-D85060A8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95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K10 NDCG 차이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165A88-3109-4929-A449-D15120C9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287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한쪽 신호만 있음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7A1AE-B82C-43BD-A49E-3433EE10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33600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45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100%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9F218-1A9D-4408-AB7C-64D4A9C5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956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인기도 fallback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FF319-55CC-4F52-B57A-DD5A2005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K=5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4481D0-53E8-4802-87AF-73210AFB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148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fallback 38.8%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5FBFF-ADAF-4C89-A8E5-7DE64939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9575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K=10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DD927-E048-406D-9D6E-2FFF2119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148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fallback 11.5%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665F19-F52F-4F39-A24A-FF6E8136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대리 검증에서 얻은 다음 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A02C7-D23B-4FE8-A694-3CFE5263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K10 + 양방향 입력 + LightFM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6B66C4-6888-4C52-BE29-67B1F5D1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721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그 외 조건은 B0 인기도</a:t>
            </a:r>
          </a:p>
        </p:txBody>
      </p:sp>
    </p:spTree>
    <p:extLst>
      <p:ext uri="{BB962C8B-B14F-4D97-AF65-F5344CB8AC3E}">
        <p14:creationId xmlns:p14="http://schemas.microsoft.com/office/powerpoint/2010/main" val="5919463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B5C09-CA1F-4481-9D76-957AF245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개선은 인기 영화 Q4와 비한국어 원어에 집중됐다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7F3126-20EF-4E9D-82D1-5E3D16F1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23875" y="1285875"/>
          <a:ext xmlns:a="http://schemas.openxmlformats.org/drawingml/2006/main" cx="88582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91d9032295406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180E6-5C8D-4945-B707-F47CA9B5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5621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285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Q1~Q3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5BB0F-4CA3-400A-98DF-AAD8AA73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두 모델 모두</a:t>
            </a:r>
          </a:p>
          <a:p xmlns:a="http://schemas.openxmlformats.org/drawingml/2006/main">
            <a:pPr>
              <a:defRPr sz="18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Top-10 적중 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4CFB39-7C8F-4D94-AA27-4A712B4F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147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한국어 원어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3EF17-8764-405A-9031-ADC9ED11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29050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양성 23건</a:t>
            </a:r>
          </a:p>
          <a:p xmlns:a="http://schemas.openxmlformats.org/drawingml/2006/main">
            <a:pPr>
              <a:defRPr sz="17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두 모델 적중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9BC32A-10F0-4201-9D7A-A61F56AF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K=10 관측 GOOD Top-10 적중률</a:t>
            </a:r>
          </a:p>
        </p:txBody>
      </p:sp>
    </p:spTree>
    <p:extLst>
      <p:ext uri="{BB962C8B-B14F-4D97-AF65-F5344CB8AC3E}">
        <p14:creationId xmlns:p14="http://schemas.microsoft.com/office/powerpoint/2010/main" val="5863158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9202D-F8F3-440B-BCC6-0204CE6B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AI 활용 범위와 판단 책임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AAE36-0D6F-4B17-85B7-1091CD8B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20BEE-3B3B-49DE-BD69-061BED5F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사람이 정한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B8128-38D4-45E8-A3ED-17B9857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문제 1과 문제 2의 분리</a:t>
            </a:r>
          </a:p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MovieLens와 TMDB의 역할</a:t>
            </a:r>
          </a:p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비교 기준과 주장 가능한 범위</a:t>
            </a:r>
          </a:p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Locked Test와 제품 정책 경계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6C0AD-EC2D-44D3-8A25-01F6B650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AI로 확장한 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B948E-BF9D-4F5C-A4F5-0AA66FC4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9800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7개 모델의 동일 조건 구현</a:t>
            </a:r>
          </a:p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K5·10과 5개 seed 반복</a:t>
            </a:r>
          </a:p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checkpoint·resume과 결과 검증</a:t>
            </a:r>
          </a:p>
          <a:p xmlns:a="http://schemas.openxmlformats.org/drawingml/2006/main">
            <a:pPr>
              <a:def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사용자·영화 구간 분석 자동화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2B544-0974-4488-AB2C-FFDF8660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중단된 seed 42 학습도 cache를 보존해 이어서 실행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BF313-4C97-4576-BD21-C7D74E64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AI는 비교 범위를 넓혔고, 결과의 의미와 한계는 실험 목적에 맞춰 판단했다</a:t>
            </a:r>
          </a:p>
        </p:txBody>
      </p:sp>
    </p:spTree>
    <p:extLst>
      <p:ext uri="{BB962C8B-B14F-4D97-AF65-F5344CB8AC3E}">
        <p14:creationId xmlns:p14="http://schemas.microsoft.com/office/powerpoint/2010/main" val="5077929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35069-9AC3-48A4-99B7-67BA91D6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두 문제에 대한 최종 판정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5D4F3-77DE-46CF-8890-3DDD659C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BA901-1417-419C-8B22-4EF7D44E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157D5"/>
                </a:solidFill>
                <a:latin typeface="Noto Sans KR"/>
                <a:ea typeface="Noto Sans KR"/>
                <a:cs typeface="Noto Sans KR"/>
              </a:rPr>
              <a:t>문제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F89249-9184-40C9-9A31-C451EB27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대리 검증으로 다음 후보를 좁혔다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8323E-2970-4F81-A37B-A5DA287A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76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K10</a:t>
            </a:r>
          </a:p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양방향 선호 신호</a:t>
            </a:r>
          </a:p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LightFM T003</a:t>
            </a:r>
          </a:p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그 외 B0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BBBC4-0986-484C-B603-1F24B1DC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525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문제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6540B-DBDE-4C51-8320-A944CDCC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240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한국 영화·신작 문제는 미해결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3DC5F-0612-44DB-A617-7A0F2217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콘텐츠 단독 모델은 기준선 미달</a:t>
            </a:r>
          </a:p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개선은 인기 영화에 집중</a:t>
            </a:r>
          </a:p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한국어 원어 적중 근거 없음</a:t>
            </a:r>
          </a:p>
          <a:p xmlns:a="http://schemas.openxmlformats.org/drawingml/2006/main">
            <a:pPr>
              <a:def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목표 도메인 행동 데이터 필요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0C7354-5006-48D6-9554-D48465DF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8727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68727F"/>
                </a:solidFill>
                <a:latin typeface="Noto Sans KR"/>
                <a:ea typeface="Noto Sans KR"/>
                <a:cs typeface="Noto Sans KR"/>
              </a:rPr>
              <a:t>시점 정책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78CAA4-B09B-4DA6-A4F5-AA446EAA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4102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18202A"/>
                </a:solidFill>
                <a:latin typeface="Noto Sans KR"/>
                <a:ea typeface="Noto Sans KR"/>
                <a:cs typeface="Noto Sans KR"/>
              </a:rPr>
              <a:t>전체 관측 범위 비교 전까지 미결정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7CC65-8259-4BE3-80DD-6C5EB7E1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34E5B"/>
                </a:solidFill>
                <a:latin typeface="Noto Sans KR"/>
                <a:ea typeface="Noto Sans KR"/>
                <a:cs typeface="Noto Sans KR"/>
              </a:rPr>
              <a:t>Locked Test 미개봉  ·  champion null  ·  제품 정책 유지</a:t>
            </a:r>
          </a:p>
        </p:txBody>
      </p:sp>
    </p:spTree>
    <p:extLst>
      <p:ext uri="{BB962C8B-B14F-4D97-AF65-F5344CB8AC3E}">
        <p14:creationId xmlns:p14="http://schemas.microsoft.com/office/powerpoint/2010/main" val="5193377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2026-09-04T16:26:01.0750000Z</dcterms:created>
  <dcterms:modified xsi:type="dcterms:W3CDTF">2026-09-04T16:26:01.0750000Z</dcterms:modified>
</coreProperties>
</file>