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119fd77aab4f5f" /><Relationship Type="http://schemas.openxmlformats.org/officeDocument/2006/relationships/extended-properties" Target="/docProps/app.xml" Id="R078426620b524f9b" /><Relationship Type="http://schemas.openxmlformats.org/officeDocument/2006/relationships/officeDocument" Target="/ppt/presentation.xml" Id="R76003164cc74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a9d9d00f694f7b"/>
  </p:sldMasterIdLst>
  <p:notesMasterIdLst>
    <p:notesMasterId xmlns:r="http://schemas.openxmlformats.org/officeDocument/2006/relationships" r:id="R937711823c1c4112"/>
  </p:notesMasterIdLst>
  <p:sldIdLst>
    <p:sldId xmlns:r="http://schemas.openxmlformats.org/officeDocument/2006/relationships" id="256" r:id="R18f16de11abe4340"/>
    <p:sldId xmlns:r="http://schemas.openxmlformats.org/officeDocument/2006/relationships" id="257" r:id="R9e56f656b9fa4958"/>
    <p:sldId xmlns:r="http://schemas.openxmlformats.org/officeDocument/2006/relationships" id="258" r:id="R34d13cffca4a4b46"/>
    <p:sldId xmlns:r="http://schemas.openxmlformats.org/officeDocument/2006/relationships" id="259" r:id="R924fb3fc98154c5e"/>
    <p:sldId xmlns:r="http://schemas.openxmlformats.org/officeDocument/2006/relationships" id="260" r:id="R7acaa32b8cb64672"/>
    <p:sldId xmlns:r="http://schemas.openxmlformats.org/officeDocument/2006/relationships" id="261" r:id="R2daf3239075646bd"/>
    <p:sldId xmlns:r="http://schemas.openxmlformats.org/officeDocument/2006/relationships" id="262" r:id="R766cd0413bf24ed7"/>
    <p:sldId xmlns:r="http://schemas.openxmlformats.org/officeDocument/2006/relationships" id="263" r:id="Ra80bd62bec404214"/>
    <p:sldId xmlns:r="http://schemas.openxmlformats.org/officeDocument/2006/relationships" id="264" r:id="R4cb1694e751b4cb6"/>
    <p:sldId xmlns:r="http://schemas.openxmlformats.org/officeDocument/2006/relationships" id="265" r:id="R525b89c170954e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b8512e8b184f42" /><Relationship Type="http://schemas.openxmlformats.org/officeDocument/2006/relationships/slideMaster" Target="/ppt/slideMasters/slideMaster1.xml" Id="Reca9d9d00f694f7b" /><Relationship Type="http://schemas.openxmlformats.org/officeDocument/2006/relationships/notesMaster" Target="/ppt/notesMasters/notesMaster1.xml" Id="R937711823c1c4112" /><Relationship Type="http://schemas.openxmlformats.org/officeDocument/2006/relationships/presProps" Target="/ppt/presProps.xml" Id="R7a765b8e42454726" /><Relationship Type="http://schemas.openxmlformats.org/officeDocument/2006/relationships/tableStyles" Target="/ppt/tableStyles.xml" Id="R0ab6b49928a54d46" /><Relationship Type="http://schemas.openxmlformats.org/officeDocument/2006/relationships/slide" Target="/ppt/slides/slide1.xml" Id="R18f16de11abe4340" /><Relationship Type="http://schemas.openxmlformats.org/officeDocument/2006/relationships/slide" Target="/ppt/slides/slide2.xml" Id="R9e56f656b9fa4958" /><Relationship Type="http://schemas.openxmlformats.org/officeDocument/2006/relationships/slide" Target="/ppt/slides/slide3.xml" Id="R34d13cffca4a4b46" /><Relationship Type="http://schemas.openxmlformats.org/officeDocument/2006/relationships/slide" Target="/ppt/slides/slide4.xml" Id="R924fb3fc98154c5e" /><Relationship Type="http://schemas.openxmlformats.org/officeDocument/2006/relationships/slide" Target="/ppt/slides/slide5.xml" Id="R7acaa32b8cb64672" /><Relationship Type="http://schemas.openxmlformats.org/officeDocument/2006/relationships/slide" Target="/ppt/slides/slide6.xml" Id="R2daf3239075646bd" /><Relationship Type="http://schemas.openxmlformats.org/officeDocument/2006/relationships/slide" Target="/ppt/slides/slide7.xml" Id="R766cd0413bf24ed7" /><Relationship Type="http://schemas.openxmlformats.org/officeDocument/2006/relationships/slide" Target="/ppt/slides/slide8.xml" Id="Ra80bd62bec404214" /><Relationship Type="http://schemas.openxmlformats.org/officeDocument/2006/relationships/slide" Target="/ppt/slides/slide9.xml" Id="R4cb1694e751b4cb6" /><Relationship Type="http://schemas.openxmlformats.org/officeDocument/2006/relationships/slide" Target="/ppt/slides/slide10.xml" Id="R525b89c170954e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19bcc0b6d74f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dce9121274e55" /><Relationship Type="http://schemas.openxmlformats.org/officeDocument/2006/relationships/notesMaster" Target="/ppt/notesMasters/notesMaster1.xml" Id="R6ca5aa77012e44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d2fff54cc24a7a" /><Relationship Type="http://schemas.openxmlformats.org/officeDocument/2006/relationships/notesMaster" Target="/ppt/notesMasters/notesMaster1.xml" Id="R8b8064bb7deb47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03ab5171a3403a" /><Relationship Type="http://schemas.openxmlformats.org/officeDocument/2006/relationships/notesMaster" Target="/ppt/notesMasters/notesMaster1.xml" Id="R5c1ececeb3134e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41e25d1bd24f0b" /><Relationship Type="http://schemas.openxmlformats.org/officeDocument/2006/relationships/notesMaster" Target="/ppt/notesMasters/notesMaster1.xml" Id="R67f61ba32c7e41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0becdb944f4e25" /><Relationship Type="http://schemas.openxmlformats.org/officeDocument/2006/relationships/notesMaster" Target="/ppt/notesMasters/notesMaster1.xml" Id="R0a1e24c64f1d45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6693b41488487e" /><Relationship Type="http://schemas.openxmlformats.org/officeDocument/2006/relationships/notesMaster" Target="/ppt/notesMasters/notesMaster1.xml" Id="R40c784455cf04f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08349779ba4813" /><Relationship Type="http://schemas.openxmlformats.org/officeDocument/2006/relationships/notesMaster" Target="/ppt/notesMasters/notesMaster1.xml" Id="R597e2e39458340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5ef99edb874432" /><Relationship Type="http://schemas.openxmlformats.org/officeDocument/2006/relationships/notesMaster" Target="/ppt/notesMasters/notesMaster1.xml" Id="R0b0b82a8536648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58ee0f28684ec3" /><Relationship Type="http://schemas.openxmlformats.org/officeDocument/2006/relationships/notesMaster" Target="/ppt/notesMasters/notesMaster1.xml" Id="Raa98190d4df748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677730f2644056" /><Relationship Type="http://schemas.openxmlformats.org/officeDocument/2006/relationships/notesMaster" Target="/ppt/notesMasters/notesMaster1.xml" Id="R0e20accb6471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REC-EV-027~030은 한국 사용자 성능을 직접 증명하지 않는다. MovieLens에서 평가한 영화를 가린 대리 과제로 콘텐츠 profile의 사용자별 신호를 검증했다.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MovieLens 평점은 유명 외국 영화에 집중돼 있고 한국 제작 영화 신호는 매우 희소하다. 출시 전에는 추천 노출 뒤 행동도 관측할 수 없었다.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MovieLens는 행동 정답에, TMDB와 E5는 영화 표현에만 사용했다. 콘텐츠 정보가 실제 한국 사용자의 선호 정답을 만든다고 가정하지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사용자마다 별점 사용 습관이 달라 고정 별점 대신 midrank percentile을 사용했다. 서비스가 두 편을 보여주므로 Top2의 평균과 최저, 하위 20% 위험을 함께 봤다.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 특징, raw E5, 구조와 E5의 RRF를 직접 profile로 비교했다. K=30이 탐색 상한에서 선택됐으므로 실제 온보딩 최적 입력 수로 해석하지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이전 실험에서 열지 않은 future 사용자 phase를 사용했다. OWN HARM20은 25.25%, SHUFFLE 33.88%, RANDOM 38.16%였다.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6개와 영화 4개 비교를 각각 동시에 보정했다. 가장 작은 하한은 사용자 +5.07%p, 영화 +2.17%p였고 모든 사전 조건을 통과했다.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사용자 이력 구간 모두에서 OWN harm이 가장 낮았다. 네 영화 등장 횟수 구간 모두에서 OWN utility가 가장 높았다.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KR과 RECENT는 사전에 descriptive-only로 고정했다. KR은 SHUFFLE보다 좋지 않았고 RECENT는 좋은 방향이지만 실제 한국 사용자나 MovieLens 수록 이후 신작의 증거가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콘텐츠 벡터의 사용자별 신호는 대리 과제에서 확증했다. 한국 사용자와 실제 신작 성능은 정답 데이터가 없어 증명하지 않았다. 제품 정책도 바꾸지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d357ef7f847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08fd7e49ed41bc" /><Relationship Type="http://schemas.openxmlformats.org/officeDocument/2006/relationships/slideLayout" Target="/ppt/slideLayouts/slideLayout1.xml" Id="R3246e1ea76ad4d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6e1ea76ad4d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1d541c46a439a" /><Relationship Type="http://schemas.openxmlformats.org/officeDocument/2006/relationships/notesSlide" Target="/ppt/notesSlides/notesSlide1.xml" Id="R8314e4714aba4a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ebbe6b36c4b7c" /><Relationship Type="http://schemas.openxmlformats.org/officeDocument/2006/relationships/notesSlide" Target="/ppt/notesSlides/notesSlide2.xml" Id="R09ccf00b8cc246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35b850d1f4f86" /><Relationship Type="http://schemas.openxmlformats.org/officeDocument/2006/relationships/notesSlide" Target="/ppt/notesSlides/notesSlide3.xml" Id="R8f3639d335d044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5d02490064441" /><Relationship Type="http://schemas.openxmlformats.org/officeDocument/2006/relationships/notesSlide" Target="/ppt/notesSlides/notesSlide4.xml" Id="Rd47a16cc12374c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a898e52244799" /><Relationship Type="http://schemas.openxmlformats.org/officeDocument/2006/relationships/chart" Target="/ppt/slides/charts/chart1.xml" Id="R4b171d91017c4373" /><Relationship Type="http://schemas.openxmlformats.org/officeDocument/2006/relationships/notesSlide" Target="/ppt/notesSlides/notesSlide5.xml" Id="Rcf3733e0a12945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d8e4c0da0447e" /><Relationship Type="http://schemas.openxmlformats.org/officeDocument/2006/relationships/chart" Target="/ppt/slides/charts/chart2.xml" Id="R56cd3be5e46c49a7" /><Relationship Type="http://schemas.openxmlformats.org/officeDocument/2006/relationships/notesSlide" Target="/ppt/notesSlides/notesSlide6.xml" Id="R1d1747a746dd41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1c96f8f484d2d" /><Relationship Type="http://schemas.openxmlformats.org/officeDocument/2006/relationships/chart" Target="/ppt/slides/charts/chart3.xml" Id="R712078d5fa8a47e5" /><Relationship Type="http://schemas.openxmlformats.org/officeDocument/2006/relationships/notesSlide" Target="/ppt/notesSlides/notesSlide7.xml" Id="R2dd18ebab7ea48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334527576476c" /><Relationship Type="http://schemas.openxmlformats.org/officeDocument/2006/relationships/chart" Target="/ppt/slides/charts/chart4.xml" Id="R47d4f3439c24475b" /><Relationship Type="http://schemas.openxmlformats.org/officeDocument/2006/relationships/chart" Target="/ppt/slides/charts/chart5.xml" Id="Rd09d1659dc884b1c" /><Relationship Type="http://schemas.openxmlformats.org/officeDocument/2006/relationships/notesSlide" Target="/ppt/notesSlides/notesSlide8.xml" Id="Rb80e4b2297834f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89a1246b1426c" /><Relationship Type="http://schemas.openxmlformats.org/officeDocument/2006/relationships/chart" Target="/ppt/slides/charts/chart6.xml" Id="Ra96d7de4fa954ad4" /><Relationship Type="http://schemas.openxmlformats.org/officeDocument/2006/relationships/notesSlide" Target="/ppt/notesSlides/notesSlide9.xml" Id="R84ad859eaf164a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8faa816394477" /><Relationship Type="http://schemas.openxmlformats.org/officeDocument/2006/relationships/notesSlide" Target="/ppt/notesSlides/notesSlide10.xml" Id="Rda9bffe5c789461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HARM20</c:v>
          </c:tx>
          <c:spPr>
            <a:solidFill xmlns:a="http://schemas.openxmlformats.org/drawingml/2006/main">
              <a:srgbClr val="2E63D5"/>
            </a:solidFill>
          </c:spPr>
          <c:cat>
            <c:strLit>
              <c:ptCount val="3"/>
              <c:pt idx="0">
                <c:v>OWN</c:v>
              </c:pt>
              <c:pt idx="1">
                <c:v>SHUFFLE</c:v>
              </c:pt>
              <c:pt idx="2">
                <c:v>RANDOM</c:v>
              </c:pt>
            </c:strLit>
          </c:cat>
          <c:val>
            <c:numLit>
              <c:formatCode>0.0%</c:formatCode>
              <c:ptCount val="3"/>
              <c:pt idx="0">
                <c:v>0.2567</c:v>
              </c:pt>
              <c:pt idx="1">
                <c:v>0.3371</c:v>
              </c:pt>
              <c:pt idx="2">
                <c:v>0.3832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F3438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7D1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HARM20</c:v>
          </c:tx>
          <c:spPr>
            <a:solidFill xmlns:a="http://schemas.openxmlformats.org/drawingml/2006/main">
              <a:srgbClr val="FA5F57"/>
            </a:solidFill>
          </c:spPr>
          <c:cat>
            <c:strLit>
              <c:ptCount val="3"/>
              <c:pt idx="0">
                <c:v>OWN</c:v>
              </c:pt>
              <c:pt idx="1">
                <c:v>SHUFFLE</c:v>
              </c:pt>
              <c:pt idx="2">
                <c:v>RANDOM</c:v>
              </c:pt>
            </c:strLit>
          </c:cat>
          <c:val>
            <c:numLit>
              <c:formatCode>0.0%</c:formatCode>
              <c:ptCount val="3"/>
              <c:pt idx="0">
                <c:v>0.2525</c:v>
              </c:pt>
              <c:pt idx="1">
                <c:v>0.3388</c:v>
              </c:pt>
              <c:pt idx="2">
                <c:v>0.3816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F3438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7D1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개선 폭</c:v>
          </c:tx>
          <c:spPr>
            <a:solidFill xmlns:a="http://schemas.openxmlformats.org/drawingml/2006/main">
              <a:srgbClr val="2E63D5"/>
            </a:solidFill>
          </c:spPr>
          <c:cat>
            <c:strLit>
              <c:ptCount val="10"/>
              <c:pt idx="0">
                <c:v>U Harm / Random</c:v>
              </c:pt>
              <c:pt idx="1">
                <c:v>U MinQ / Random</c:v>
              </c:pt>
              <c:pt idx="2">
                <c:v>U MeanQ / Random</c:v>
              </c:pt>
              <c:pt idx="3">
                <c:v>U Harm / Shuffle</c:v>
              </c:pt>
              <c:pt idx="4">
                <c:v>U MinQ / Shuffle</c:v>
              </c:pt>
              <c:pt idx="5">
                <c:v>U MeanQ / Shuffle</c:v>
              </c:pt>
              <c:pt idx="6">
                <c:v>I Utility / Random</c:v>
              </c:pt>
              <c:pt idx="7">
                <c:v>I Low / Random</c:v>
              </c:pt>
              <c:pt idx="8">
                <c:v>I Utility / Shuffle</c:v>
              </c:pt>
              <c:pt idx="9">
                <c:v>I Low / Shuffle</c:v>
              </c:pt>
            </c:strLit>
          </c:cat>
          <c:val>
            <c:numLit>
              <c:formatCode>0.0%</c:formatCode>
              <c:ptCount val="10"/>
              <c:pt idx="0">
                <c:v>0.1292</c:v>
              </c:pt>
              <c:pt idx="1">
                <c:v>0.0869</c:v>
              </c:pt>
              <c:pt idx="2">
                <c:v>0.0777</c:v>
              </c:pt>
              <c:pt idx="3">
                <c:v>0.0863</c:v>
              </c:pt>
              <c:pt idx="4">
                <c:v>0.0631</c:v>
              </c:pt>
              <c:pt idx="5">
                <c:v>0.0571</c:v>
              </c:pt>
              <c:pt idx="6">
                <c:v>0.0704</c:v>
              </c:pt>
              <c:pt idx="7">
                <c:v>0.0779</c:v>
              </c:pt>
              <c:pt idx="8">
                <c:v>0.0638</c:v>
              </c:pt>
              <c:pt idx="9">
                <c:v>0.0638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F3438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7D1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사용자 이력별 HARM20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2F3438"/>
              </a:solidFill>
              <a:latin typeface="Noto Sans KR"/>
              <a:ea typeface="Noto Sans KR"/>
              <a:cs typeface="Noto Sans KR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OWN</c:v>
          </c:tx>
          <c:spPr>
            <a:solidFill xmlns:a="http://schemas.openxmlformats.org/drawingml/2006/main">
              <a:srgbClr val="2E63D5"/>
            </a:solidFill>
          </c:spPr>
          <c:cat>
            <c:strLit>
              <c:ptCount val="3"/>
              <c:pt idx="0">
                <c:v>50~99</c:v>
              </c:pt>
              <c:pt idx="1">
                <c:v>100~499</c:v>
              </c:pt>
              <c:pt idx="2">
                <c:v>500+</c:v>
              </c:pt>
            </c:strLit>
          </c:cat>
          <c:val>
            <c:numLit>
              <c:formatCode>0%</c:formatCode>
              <c:ptCount val="3"/>
              <c:pt idx="0">
                <c:v>0.1616</c:v>
              </c:pt>
              <c:pt idx="1">
                <c:v>0.2687</c:v>
              </c:pt>
              <c:pt idx="2">
                <c:v>0.2955</c:v>
              </c:pt>
            </c:numLit>
          </c:val>
        </c:ser>
        <c:ser>
          <c:idx val="1"/>
          <c:order val="1"/>
          <c:tx>
            <c:v>SHUFFLE</c:v>
          </c:tx>
          <c:spPr>
            <a:solidFill xmlns:a="http://schemas.openxmlformats.org/drawingml/2006/main">
              <a:srgbClr val="4B9690"/>
            </a:solidFill>
          </c:spPr>
          <c:cat>
            <c:strLit>
              <c:ptCount val="3"/>
              <c:pt idx="0">
                <c:v>50~99</c:v>
              </c:pt>
              <c:pt idx="1">
                <c:v>100~499</c:v>
              </c:pt>
              <c:pt idx="2">
                <c:v>500+</c:v>
              </c:pt>
            </c:strLit>
          </c:cat>
          <c:val>
            <c:numLit>
              <c:formatCode>0%</c:formatCode>
              <c:ptCount val="3"/>
              <c:pt idx="0">
                <c:v>0.2911</c:v>
              </c:pt>
              <c:pt idx="1">
                <c:v>0.3373</c:v>
              </c:pt>
              <c:pt idx="2">
                <c:v>0.4074</c:v>
              </c:pt>
            </c:numLit>
          </c:val>
        </c:ser>
        <c:ser>
          <c:idx val="2"/>
          <c:order val="2"/>
          <c:tx>
            <c:v>RANDOM</c:v>
          </c:tx>
          <c:spPr>
            <a:solidFill xmlns:a="http://schemas.openxmlformats.org/drawingml/2006/main">
              <a:srgbClr val="BF9135"/>
            </a:solidFill>
          </c:spPr>
          <c:cat>
            <c:strLit>
              <c:ptCount val="3"/>
              <c:pt idx="0">
                <c:v>50~99</c:v>
              </c:pt>
              <c:pt idx="1">
                <c:v>100~499</c:v>
              </c:pt>
              <c:pt idx="2">
                <c:v>500+</c:v>
              </c:pt>
            </c:strLit>
          </c:cat>
          <c:val>
            <c:numLit>
              <c:formatCode>0%</c:formatCode>
              <c:ptCount val="3"/>
              <c:pt idx="0">
                <c:v>0.3237</c:v>
              </c:pt>
              <c:pt idx="1">
                <c:v>0.3876</c:v>
              </c:pt>
              <c:pt idx="2">
                <c:v>0.429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7D1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7B8388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영화 등장 횟수별 utility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2F3438"/>
              </a:solidFill>
              <a:latin typeface="Noto Sans KR"/>
              <a:ea typeface="Noto Sans KR"/>
              <a:cs typeface="Noto Sans KR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OWN</c:v>
          </c:tx>
          <c:spPr>
            <a:solidFill xmlns:a="http://schemas.openxmlformats.org/drawingml/2006/main">
              <a:srgbClr val="2E63D5"/>
            </a:solidFill>
          </c:spPr>
          <c:cat>
            <c:strLit>
              <c:ptCount val="4"/>
              <c:pt idx="0">
                <c:v>1</c:v>
              </c:pt>
              <c:pt idx="1">
                <c:v>2~4</c:v>
              </c:pt>
              <c:pt idx="2">
                <c:v>5~9</c:v>
              </c:pt>
              <c:pt idx="3">
                <c:v>10+</c:v>
              </c:pt>
            </c:strLit>
          </c:cat>
          <c:val>
            <c:numLit>
              <c:formatCode>0%</c:formatCode>
              <c:ptCount val="4"/>
              <c:pt idx="0">
                <c:v>0.5138</c:v>
              </c:pt>
              <c:pt idx="1">
                <c:v>0.5217</c:v>
              </c:pt>
              <c:pt idx="2">
                <c:v>0.4855</c:v>
              </c:pt>
              <c:pt idx="3">
                <c:v>0.5098</c:v>
              </c:pt>
            </c:numLit>
          </c:val>
        </c:ser>
        <c:ser>
          <c:idx val="1"/>
          <c:order val="1"/>
          <c:tx>
            <c:v>SHUFFLE</c:v>
          </c:tx>
          <c:spPr>
            <a:solidFill xmlns:a="http://schemas.openxmlformats.org/drawingml/2006/main">
              <a:srgbClr val="4B9690"/>
            </a:solidFill>
          </c:spPr>
          <c:cat>
            <c:strLit>
              <c:ptCount val="4"/>
              <c:pt idx="0">
                <c:v>1</c:v>
              </c:pt>
              <c:pt idx="1">
                <c:v>2~4</c:v>
              </c:pt>
              <c:pt idx="2">
                <c:v>5~9</c:v>
              </c:pt>
              <c:pt idx="3">
                <c:v>10+</c:v>
              </c:pt>
            </c:strLit>
          </c:cat>
          <c:val>
            <c:numLit>
              <c:formatCode>0%</c:formatCode>
              <c:ptCount val="4"/>
              <c:pt idx="0">
                <c:v>0.4349</c:v>
              </c:pt>
              <c:pt idx="1">
                <c:v>0.4533</c:v>
              </c:pt>
              <c:pt idx="2">
                <c:v>0.4514</c:v>
              </c:pt>
              <c:pt idx="3">
                <c:v>0.4619</c:v>
              </c:pt>
            </c:numLit>
          </c:val>
        </c:ser>
        <c:ser>
          <c:idx val="2"/>
          <c:order val="2"/>
          <c:tx>
            <c:v>RANDOM</c:v>
          </c:tx>
          <c:spPr>
            <a:solidFill xmlns:a="http://schemas.openxmlformats.org/drawingml/2006/main">
              <a:srgbClr val="BF9135"/>
            </a:solidFill>
          </c:spPr>
          <c:cat>
            <c:strLit>
              <c:ptCount val="4"/>
              <c:pt idx="0">
                <c:v>1</c:v>
              </c:pt>
              <c:pt idx="1">
                <c:v>2~4</c:v>
              </c:pt>
              <c:pt idx="2">
                <c:v>5~9</c:v>
              </c:pt>
              <c:pt idx="3">
                <c:v>10+</c:v>
              </c:pt>
            </c:strLit>
          </c:cat>
          <c:val>
            <c:numLit>
              <c:formatCode>0%</c:formatCode>
              <c:ptCount val="4"/>
              <c:pt idx="0">
                <c:v>0.4334</c:v>
              </c:pt>
              <c:pt idx="1">
                <c:v>0.4438</c:v>
              </c:pt>
              <c:pt idx="2">
                <c:v>0.4444</c:v>
              </c:pt>
              <c:pt idx="3">
                <c:v>0.4492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7D1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7B8388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OWN</c:v>
          </c:tx>
          <c:spPr>
            <a:solidFill xmlns:a="http://schemas.openxmlformats.org/drawingml/2006/main">
              <a:srgbClr val="2E63D5"/>
            </a:solidFill>
          </c:spPr>
          <c:cat>
            <c:strLit>
              <c:ptCount val="2"/>
              <c:pt idx="0">
                <c:v>KR</c:v>
              </c:pt>
              <c:pt idx="1">
                <c:v>RECENT</c:v>
              </c:pt>
            </c:strLit>
          </c:cat>
          <c:val>
            <c:numLit>
              <c:formatCode>0.0%</c:formatCode>
              <c:ptCount val="2"/>
              <c:pt idx="0">
                <c:v>0.251</c:v>
              </c:pt>
              <c:pt idx="1">
                <c:v>0.4319</c:v>
              </c:pt>
            </c:numLit>
          </c:val>
        </c:ser>
        <c:ser>
          <c:idx val="1"/>
          <c:order val="1"/>
          <c:tx>
            <c:v>SHUFFLE</c:v>
          </c:tx>
          <c:spPr>
            <a:solidFill xmlns:a="http://schemas.openxmlformats.org/drawingml/2006/main">
              <a:srgbClr val="4B9690"/>
            </a:solidFill>
          </c:spPr>
          <c:cat>
            <c:strLit>
              <c:ptCount val="2"/>
              <c:pt idx="0">
                <c:v>KR</c:v>
              </c:pt>
              <c:pt idx="1">
                <c:v>RECENT</c:v>
              </c:pt>
            </c:strLit>
          </c:cat>
          <c:val>
            <c:numLit>
              <c:formatCode>0.0%</c:formatCode>
              <c:ptCount val="2"/>
              <c:pt idx="0">
                <c:v>0.2227</c:v>
              </c:pt>
              <c:pt idx="1">
                <c:v>0.4791</c:v>
              </c:pt>
            </c:numLit>
          </c:val>
        </c:ser>
        <c:ser>
          <c:idx val="2"/>
          <c:order val="2"/>
          <c:tx>
            <c:v>RANDOM</c:v>
          </c:tx>
          <c:spPr>
            <a:solidFill xmlns:a="http://schemas.openxmlformats.org/drawingml/2006/main">
              <a:srgbClr val="BF9135"/>
            </a:solidFill>
          </c:spPr>
          <c:cat>
            <c:strLit>
              <c:ptCount val="2"/>
              <c:pt idx="0">
                <c:v>KR</c:v>
              </c:pt>
              <c:pt idx="1">
                <c:v>RECENT</c:v>
              </c:pt>
            </c:strLit>
          </c:cat>
          <c:val>
            <c:numLit>
              <c:formatCode>0.0%</c:formatCode>
              <c:ptCount val="2"/>
              <c:pt idx="0">
                <c:v>0.274</c:v>
              </c:pt>
              <c:pt idx="1">
                <c:v>0.4856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2F3438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7D1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7B8388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107A8-44D2-4786-8C77-7B64E0A4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MovieLens의 빈틈을</a:t>
            </a:r>
          </a:p>
          <a:p xmlns:a="http://schemas.openxmlformats.org/drawingml/2006/main">
            <a:pPr algn="l">
              <a:defRPr sz="36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콘텐츠로 검증한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45C5F-BE9A-4878-BFDC-F272B589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FEELM 추천 실험 REC-EV-027~030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D73ED-51A8-4249-AB94-94D0E7C5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사용자별 콘텐츠 신호의 귀속과 untouched 사용자 확증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5CD7B-E265-4180-99EA-CC4A0E41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MovieLens 대리 평가 · Locked Test 미개봉 · champion=null · 2026.09.06</a:t>
            </a:r>
          </a:p>
        </p:txBody>
      </p:sp>
    </p:spTree>
    <p:extLst>
      <p:ext uri="{BB962C8B-B14F-4D97-AF65-F5344CB8AC3E}">
        <p14:creationId xmlns:p14="http://schemas.microsoft.com/office/powerpoint/2010/main" val="1391120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1906D-4A39-44D1-9CA6-52D9681C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서비스 개발에서 만난 두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370EF-C2A2-4FF3-939C-39DFA437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281DB-4BE8-4C63-AD64-6DB57534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MovieLens의 목표 시장 불일치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4A684-2751-444C-BE57-A83C62FF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78.73%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4ED5D-9D3A-4053-8119-2D85D9B6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유명 외국 영화 proxy Rating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17B47-76FE-470C-B0E0-FC7EE0EE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0.33%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B8358-7EDF-4C14-A1F8-0164AA6D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한국 제작 영화 Rating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FCD3B-F7CA-4740-84C5-09DE5BB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MovieLens 수록 이후 영화에는</a:t>
            </a:r>
          </a:p>
          <a:p xmlns:a="http://schemas.openxmlformats.org/drawingml/2006/main">
            <a:pPr algn="l">
              <a:defRPr sz="17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사용자 상호작용이 없다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919BC-5BEC-4D29-907C-1B802B41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33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출시 전 피드백 부재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3B0EC-2CA4-4155-B67E-EFE42CAE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추천 뒤 시청과 평가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E6AD8-29E6-413D-9E81-9F875290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관측 불가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77474-0B91-42B8-871C-190E30F4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실제 FEELM 사용자의 만족도를</a:t>
            </a:r>
          </a:p>
          <a:p xmlns:a="http://schemas.openxmlformats.org/drawingml/2006/main">
            <a:pPr algn="l">
              <a:defRPr sz="17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오프라인 정답으로 삼을 수 없었다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5BC0A-D525-4C79-948D-E3B5D516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근거: REC-DATA-006 · MovieLens 사용자는 한국 사용자가 아님</a:t>
            </a:r>
          </a:p>
        </p:txBody>
      </p:sp>
    </p:spTree>
    <p:extLst>
      <p:ext uri="{BB962C8B-B14F-4D97-AF65-F5344CB8AC3E}">
        <p14:creationId xmlns:p14="http://schemas.microsoft.com/office/powerpoint/2010/main" val="1836952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58C2A-2549-4A9D-9E2A-541E77E1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데이터 역할과 주장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0C71A-5E12-4230-890C-4E6194C0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A685C-2065-4FE6-8F9B-7A16D54D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MovieLens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909BA-9B84-45E2-A6EA-FAAC4C66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사용자 평가 행동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D0BA2-1ADA-40D0-BAAF-3AB1FD2E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762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모델 학습</a:t>
            </a:r>
          </a:p>
          <a:p xmlns:a="http://schemas.openxmlformats.org/drawingml/2006/main">
            <a:pPr algn="l">
              <a:def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사용자별 별점 percentile</a:t>
            </a:r>
          </a:p>
          <a:p xmlns:a="http://schemas.openxmlformats.org/drawingml/2006/main">
            <a:pPr algn="l">
              <a:def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가린 관측 영화의 오프라인 정답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B4E94-E863-4658-A02C-10DAC2F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969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4B9690"/>
                </a:solidFill>
                <a:latin typeface="Noto Sans KR"/>
                <a:ea typeface="Noto Sans KR"/>
                <a:cs typeface="Noto Sans KR"/>
              </a:rPr>
              <a:t>TMDB + E5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D400D-BB78-4967-95F3-42080D0F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영화 콘텐츠 표현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48002-685B-465C-BDE3-760F058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857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장르, 국가, 인물, 키워드</a:t>
            </a:r>
          </a:p>
          <a:p xmlns:a="http://schemas.openxmlformats.org/drawingml/2006/main">
            <a:pPr algn="l">
              <a:def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384차원 다국어 텍스트</a:t>
            </a:r>
          </a:p>
          <a:p xmlns:a="http://schemas.openxmlformats.org/drawingml/2006/main">
            <a:pPr algn="l">
              <a:def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상호작용이 적은 영화의 후보화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C4E8A-F2F9-4AE4-9832-18E0FE32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가린 관측 영화에서 먼저 검증하고, 한국 사용자와 실제 신작 성능은 별도로 남겼다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53809-9BF4-487E-B8CA-6956F3FE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Rating timestamp는 시청 순서로 해석하지 않음</a:t>
            </a:r>
          </a:p>
        </p:txBody>
      </p:sp>
    </p:spTree>
    <p:extLst>
      <p:ext uri="{BB962C8B-B14F-4D97-AF65-F5344CB8AC3E}">
        <p14:creationId xmlns:p14="http://schemas.microsoft.com/office/powerpoint/2010/main" val="1368140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67FB1-6809-41A1-8B37-EEBEFFE1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입력 정책과 Top2 대리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073DC-A1E6-4EA3-A7C6-B3FA880E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954F5-EAEE-4CE8-A1B6-67031CDF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입력 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C4D56-C985-4F07-BCE7-B4B5A78A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K = 2, 4, …, 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DD7E4-994B-4506-A5D5-70D11E71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Binary와 사용자별 percentile 비교</a:t>
            </a:r>
          </a:p>
          <a:p xmlns:a="http://schemas.openxmlformats.org/drawingml/2006/main">
            <a:pPr algn="l">
              <a:defRPr sz="157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K=8을 정답으로 고정하지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72B10-D401-44BD-9422-3A737C43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969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B9690"/>
                </a:solidFill>
                <a:latin typeface="Noto Sans KR"/>
                <a:ea typeface="Noto Sans KR"/>
                <a:cs typeface="Noto Sans KR"/>
              </a:rPr>
              <a:t>별점 해석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71EC9-89BB-4D51-8294-CA739C0B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q = (낮은 평가 수 + 0.5 × 같은 평가 수) / 전체 평가 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4F8B5-E27D-4AAF-BFD3-5C31694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사용자마다 다른 별점 기준을 같은 척도로 변환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D74F0-C540-49A1-80BB-165D7E06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화면과 같은 두 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07D34-A310-45A5-8939-FDE2C27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HARM20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FB24A-E127-4AFB-AF41-232DAC8E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하위 20% 영화 포함 위험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358C9-3E59-427A-8D7B-740E2F7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TOP2 MIN_Q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46E70-69F2-4F43-A957-BB1AC035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두 편 중 낮은 선호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54C07-DBC7-4B54-AB28-3BE0EF0A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TOP2 MEAN_Q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18726-AB3C-463B-B9A0-621238BF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두 편의 평균 선호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8DD2A-F184-4ADC-B27C-3476548A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평가 단위: 사용자 동일가중 + 영화 동일가중</a:t>
            </a:r>
          </a:p>
        </p:txBody>
      </p:sp>
    </p:spTree>
    <p:extLst>
      <p:ext uri="{BB962C8B-B14F-4D97-AF65-F5344CB8AC3E}">
        <p14:creationId xmlns:p14="http://schemas.microsoft.com/office/powerpoint/2010/main" val="1940417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E1C69-9E6F-475E-B31A-C33E27D5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Selection은 구조 콘텐츠·Percentile·K30을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FF353-8615-4995-B106-9E0B5785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171d91017c437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7CC9A-4B8F-44F6-9783-92B44BA9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66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최종 후보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45295-B20E-4017-8FEC-DA9309F8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342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93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STRUCTURED</a:t>
            </a:r>
          </a:p>
          <a:p xmlns:a="http://schemas.openxmlformats.org/drawingml/2006/main">
            <a:pPr algn="l">
              <a:defRPr sz="28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DIRECT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8F0A7-C61F-4B10-8B3B-38878C19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Percentile magnitude</a:t>
            </a:r>
          </a:p>
          <a:p xmlns:a="http://schemas.openxmlformats.org/drawingml/2006/main">
            <a:pPr algn="l">
              <a:defRPr sz="18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K = 30</a:t>
            </a:r>
          </a:p>
          <a:p xmlns:a="http://schemas.openxmlformats.org/drawingml/2006/main">
            <a:pPr algn="l">
              <a:defRPr sz="18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출력 Top2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D0645-E82B-466F-9219-1D99DB85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탐색 상한의 winner</a:t>
            </a:r>
          </a:p>
          <a:p xmlns:a="http://schemas.openxmlformats.org/drawingml/2006/main">
            <a:pPr algn="l">
              <a:defRPr sz="14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제품 최적 K 결론은 아님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A8DFC-7507-4FD7-91C4-286554AB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REC-EV-029 selection · HARM20은 낮을수록 좋음</a:t>
            </a:r>
          </a:p>
        </p:txBody>
      </p:sp>
    </p:spTree>
    <p:extLst>
      <p:ext uri="{BB962C8B-B14F-4D97-AF65-F5344CB8AC3E}">
        <p14:creationId xmlns:p14="http://schemas.microsoft.com/office/powerpoint/2010/main" val="1951552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004B8-5824-419A-B087-70572E0B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Untouched 사용자에서도 OWN의 Top2 위험이 가장 낮았다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F192D-E79B-4677-BF75-053B983A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cd3be5e46c49a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AA5C2-0960-4EF7-B163-4D2D1070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3,345명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2E61F-0E9B-4D0C-956D-E955136A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R0~R4 primary 사용자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39D14-013F-4D65-B1B6-1091AF68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B969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4B9690"/>
                </a:solidFill>
                <a:latin typeface="Noto Sans KR"/>
                <a:ea typeface="Noto Sans KR"/>
                <a:cs typeface="Noto Sans KR"/>
              </a:rPr>
              <a:t>24,167편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23B55-05CE-4D00-AD3E-B716131C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영화 동일가중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C1A94-F9E3-4106-AD3E-7707D1DA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OWN 대 SHUFFLE</a:t>
            </a:r>
          </a:p>
          <a:p xmlns:a="http://schemas.openxmlformats.org/drawingml/2006/main">
            <a:pPr algn="l">
              <a:defRPr sz="18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HARM20 8.63%p 감소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0790C-6D01-4CCF-9276-86EEEC94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REC-EV-030 RANDOM_POOLED · 사용자-영화 후보 중복 0</a:t>
            </a:r>
          </a:p>
        </p:txBody>
      </p:sp>
    </p:spTree>
    <p:extLst>
      <p:ext uri="{BB962C8B-B14F-4D97-AF65-F5344CB8AC3E}">
        <p14:creationId xmlns:p14="http://schemas.microsoft.com/office/powerpoint/2010/main" val="950670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648CB-4D35-480E-A332-6DE797F0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10개 동시 신뢰구간 모두 통과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7F72B-13CD-4819-B4BD-1F3D8AFB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7524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2078d5fa8a47e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F86F3-7336-4796-AC62-165F1E8A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43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최소 동시 95% 하한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6A220-75D4-43F2-A584-FA61B5F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+5.07%p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98703-5340-40EE-92D1-4F0C2A9A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사용자 6개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CB325-C56C-4B93-8AB0-6D48AC0E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B969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4B9690"/>
                </a:solidFill>
                <a:latin typeface="Noto Sans KR"/>
                <a:ea typeface="Noto Sans KR"/>
                <a:cs typeface="Noto Sans KR"/>
              </a:rPr>
              <a:t>+2.17%p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09CDD-EB86-432E-88E6-F48697C9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33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영화 4개 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68CF4-97D1-4776-91D9-4DACC52B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5,000회 shared-multiplier max-t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F3050-DB3A-43FA-AD41-5B44F71D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HARM20·ITEM_LOW는 감소를 양의 개선으로 변환</a:t>
            </a:r>
          </a:p>
        </p:txBody>
      </p:sp>
    </p:spTree>
    <p:extLst>
      <p:ext uri="{BB962C8B-B14F-4D97-AF65-F5344CB8AC3E}">
        <p14:creationId xmlns:p14="http://schemas.microsoft.com/office/powerpoint/2010/main" val="2007368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6273B-EA9D-43FE-9E59-DD4A04C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사용자·영화 구간에서도 방향이 같았다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A38E9-1D41-41B1-9F2C-06A0D233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438150" y="1428750"/>
          <a:ext xmlns:a="http://schemas.openxmlformats.org/drawingml/2006/main" cx="5619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4f3439c24475b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0" y="1428750"/>
          <a:ext xmlns:a="http://schemas.openxmlformats.org/drawingml/2006/main" cx="5619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9d1659dc884b1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F4BD5-5C96-4D9F-B1CA-6E23B52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한 번만 등장한 영화 10,148편에서도 OWN이 두 대조군보다 높았다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DB2BD-49D1-4761-B300-A5167B6B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RANDOM_POOLED descriptive segments · 방향 일관성 확인</a:t>
            </a:r>
          </a:p>
        </p:txBody>
      </p:sp>
    </p:spTree>
    <p:extLst>
      <p:ext uri="{BB962C8B-B14F-4D97-AF65-F5344CB8AC3E}">
        <p14:creationId xmlns:p14="http://schemas.microsoft.com/office/powerpoint/2010/main" val="13603451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6A669-5091-4FBB-94D6-5B6BAD93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한국 영화와 최근 영화는 아직 설명값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FF00A-1AA5-4A48-88DF-110A86F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6953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6d7de4fa954ad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5EA67-939B-49E4-B0B8-C78913CC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KR 247명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C5F08-28DD-40DE-AE17-89A8AEAE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98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OWN은 RANDOM보다 낮지만</a:t>
            </a:r>
          </a:p>
          <a:p xmlns:a="http://schemas.openxmlformats.org/drawingml/2006/main">
            <a:pPr algn="l">
              <a:defRPr sz="15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SHUFFLE보다 harm이 높음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3710A-0075-49C2-AF3E-0EFA6DB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671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RECENT 382명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B5D0B-F38E-4756-A756-748DA986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OWN이 두 대조군보다 낮은 방향</a:t>
            </a:r>
          </a:p>
          <a:p xmlns:a="http://schemas.openxmlformats.org/drawingml/2006/main">
            <a:pPr algn="l">
              <a:defRPr sz="15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실제 신작 정답은 아님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0708-DBD5-4E53-92CF-44711ED7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HARM20 · descriptive-only · primary 판정을 바꾸지 않음</a:t>
            </a:r>
          </a:p>
        </p:txBody>
      </p:sp>
    </p:spTree>
    <p:extLst>
      <p:ext uri="{BB962C8B-B14F-4D97-AF65-F5344CB8AC3E}">
        <p14:creationId xmlns:p14="http://schemas.microsoft.com/office/powerpoint/2010/main" val="19056644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1176D-15C2-4A03-AFCC-9FDE9EB8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최종 판정과 남은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27405-B268-4CD9-80BA-D2634975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970D1-DD36-444B-8728-5A5E4128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확인한 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4860B-6A90-4FCC-A175-E68602F3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TMDB 구조 콘텐츠 profile은</a:t>
            </a:r>
          </a:p>
          <a:p xmlns:a="http://schemas.openxmlformats.org/drawingml/2006/main">
            <a:pPr algn="l">
              <a:def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가린 관측 영화에서 사용자별 신호를 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84285-FF49-41E2-A854-86D03D2B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OWN 대 SHUFFLE</a:t>
            </a:r>
          </a:p>
          <a:p xmlns:a="http://schemas.openxmlformats.org/drawingml/2006/main">
            <a:pPr algn="l">
              <a:defRPr sz="187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HARM20 8.63%p 감소</a:t>
            </a:r>
          </a:p>
          <a:p xmlns:a="http://schemas.openxmlformats.org/drawingml/2006/main">
            <a:pPr algn="l">
              <a:defRPr sz="187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E63D5"/>
                </a:solidFill>
                <a:latin typeface="Noto Sans KR"/>
                <a:ea typeface="Noto Sans KR"/>
                <a:cs typeface="Noto Sans KR"/>
              </a:rPr>
              <a:t>영화 utility 6.38%p 증가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2B41B-3E75-4C4A-8E02-C80F5B77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확인하지 못한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888F2-4C17-40BB-889C-8BB8B7E4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한국 사용자 만족도</a:t>
            </a:r>
          </a:p>
          <a:p xmlns:a="http://schemas.openxmlformats.org/drawingml/2006/main">
            <a:pPr algn="l">
              <a:def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MovieLens 수록 이후 신작 품질</a:t>
            </a:r>
          </a:p>
          <a:p xmlns:a="http://schemas.openxmlformats.org/drawingml/2006/main">
            <a:pPr algn="l">
              <a:def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F3438"/>
                </a:solidFill>
                <a:latin typeface="Noto Sans KR"/>
                <a:ea typeface="Noto Sans KR"/>
                <a:cs typeface="Noto Sans KR"/>
              </a:rPr>
              <a:t>제품 최적 K와 champion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C5463-5378-4DB3-8773-08C2F74D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B969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4B9690"/>
                </a:solidFill>
                <a:latin typeface="Noto Sans KR"/>
                <a:ea typeface="Noto Sans KR"/>
                <a:cs typeface="Noto Sans KR"/>
              </a:rPr>
              <a:t>다음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E5F80-DB12-4E4C-B944-B79317A6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B96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4B9690"/>
                </a:solidFill>
                <a:latin typeface="Noto Sans KR"/>
                <a:ea typeface="Noto Sans KR"/>
                <a:cs typeface="Noto Sans KR"/>
              </a:rPr>
              <a:t>한국 사용자에게 추천 두 편을 노출하고</a:t>
            </a:r>
          </a:p>
          <a:p xmlns:a="http://schemas.openxmlformats.org/drawingml/2006/main">
            <a:pPr algn="l">
              <a:defRPr sz="1875" b="1">
                <a:solidFill>
                  <a:srgbClr val="4B969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4B9690"/>
                </a:solidFill>
                <a:latin typeface="Noto Sans KR"/>
                <a:ea typeface="Noto Sans KR"/>
                <a:cs typeface="Noto Sans KR"/>
              </a:rPr>
              <a:t>시청·평가를 수집하는 독립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B2C4C-3CBA-4812-B83D-31D45ADD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A5F57"/>
                </a:solidFill>
                <a:latin typeface="Noto Sans KR"/>
                <a:ea typeface="Noto Sans KR"/>
                <a:cs typeface="Noto Sans KR"/>
              </a:rPr>
              <a:t>콘텐츠 후보화 근거와 목표 시장 성능을 분리했다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C8113-8236-4A3D-BDBF-1E85ABD6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388"/>
                </a:solidFill>
                <a:latin typeface="Noto Sans KR"/>
                <a:ea typeface="Noto Sans KR"/>
                <a:cs typeface="Noto Sans KR"/>
              </a:rPr>
              <a:t>Locked Test·final reserve 미개봉 · 제품 정책 미변경 · REC_EV_030_FINAL_RESULT_AUDIT_PASS</a:t>
            </a:r>
          </a:p>
        </p:txBody>
      </p:sp>
    </p:spTree>
    <p:extLst>
      <p:ext uri="{BB962C8B-B14F-4D97-AF65-F5344CB8AC3E}">
        <p14:creationId xmlns:p14="http://schemas.microsoft.com/office/powerpoint/2010/main" val="769908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2026-09-06T07:08:17.8370000Z</dcterms:created>
  <dcterms:modified xsi:type="dcterms:W3CDTF">2026-09-06T07:08:17.8370000Z</dcterms:modified>
</coreProperties>
</file>